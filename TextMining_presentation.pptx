
<file path=[Content_Types].xml><?xml version="1.0" encoding="utf-8"?>
<Types xmlns="http://schemas.openxmlformats.org/package/2006/content-types">
  <Default Extension="1" ContentType="image/png"/>
  <Default Extension="2" ContentType="image/png"/>
  <Default Extension="3" ContentType="image/png"/>
  <Default Extension="4" ContentType="image/pn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8" r:id="rId5"/>
    <p:sldId id="294" r:id="rId6"/>
    <p:sldId id="295" r:id="rId7"/>
    <p:sldId id="314" r:id="rId8"/>
    <p:sldId id="296" r:id="rId9"/>
    <p:sldId id="298" r:id="rId10"/>
    <p:sldId id="299" r:id="rId11"/>
    <p:sldId id="315" r:id="rId12"/>
    <p:sldId id="300" r:id="rId13"/>
    <p:sldId id="301" r:id="rId14"/>
    <p:sldId id="316" r:id="rId15"/>
    <p:sldId id="302" r:id="rId16"/>
    <p:sldId id="317" r:id="rId17"/>
    <p:sldId id="303" r:id="rId18"/>
    <p:sldId id="304" r:id="rId19"/>
    <p:sldId id="305" r:id="rId20"/>
    <p:sldId id="306" r:id="rId21"/>
    <p:sldId id="307" r:id="rId22"/>
    <p:sldId id="308" r:id="rId23"/>
    <p:sldId id="310" r:id="rId24"/>
    <p:sldId id="279" r:id="rId25"/>
  </p:sldIdLst>
  <p:sldSz cx="12192000" cy="6858000"/>
  <p:notesSz cx="6858000" cy="9144000"/>
  <p:defaultTextStyle>
    <a:defPPr>
      <a:defRPr lang="en-US"/>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7DC"/>
    <a:srgbClr val="F8F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CCD27D-DCFB-8CF8-5B1E-FA0F37E18470}" v="11" dt="2026-03-04T00:19:22.897"/>
    <p1510:client id="{5215A403-9BCE-9869-BCBF-7D08C970E59E}" v="5" dt="2026-03-04T11:16:20.078"/>
    <p1510:client id="{52B45B68-A2B1-0D7E-25FE-12666B7667FD}" v="8" dt="2026-03-04T12:43:11.857"/>
    <p1510:client id="{90DC4072-51CF-37A8-3055-D9455BF66AFF}" v="324" dt="2026-03-03T17:24:54.076"/>
    <p1510:client id="{9143B3BC-5B98-CF4D-90C5-C9CF5AFF284B}" v="128" dt="2026-03-04T13:40:46.692"/>
    <p1510:client id="{A9FE9BDE-87A9-192E-4E35-7548B1B5BD3B}" v="1" dt="2026-03-03T23:15:36.001"/>
    <p1510:client id="{BABBBCBC-5FCC-17D1-4451-E5DEB56F0104}" v="292" dt="2026-03-03T21:23:02.958"/>
    <p1510:client id="{E501F287-C90C-F077-9296-3E2A3FFAD007}" v="99" dt="2026-03-04T11:34:04.165"/>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86" autoAdjust="0"/>
    <p:restoredTop sz="94660"/>
  </p:normalViewPr>
  <p:slideViewPr>
    <p:cSldViewPr snapToGrid="0" showGuides="1">
      <p:cViewPr varScale="1">
        <p:scale>
          <a:sx n="152" d="100"/>
          <a:sy n="152" d="100"/>
        </p:scale>
        <p:origin x="352" y="168"/>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C5AB15-FAEF-4AA2-8A66-CB9ED52E33CF}" type="doc">
      <dgm:prSet loTypeId="urn:microsoft.com/office/officeart/2018/2/layout/IconVerticalSolidList" loCatId="icon" qsTypeId="urn:microsoft.com/office/officeart/2005/8/quickstyle/simple1" qsCatId="simple" csTypeId="urn:microsoft.com/office/officeart/2005/8/colors/accent1_3" csCatId="accent1" phldr="1"/>
      <dgm:spPr/>
      <dgm:t>
        <a:bodyPr/>
        <a:lstStyle/>
        <a:p>
          <a:endParaRPr lang="en-US"/>
        </a:p>
      </dgm:t>
    </dgm:pt>
    <dgm:pt modelId="{46673A87-687A-40BF-8704-933569AF6009}">
      <dgm:prSet/>
      <dgm:spPr/>
      <dgm:t>
        <a:bodyPr/>
        <a:lstStyle/>
        <a:p>
          <a:pPr>
            <a:lnSpc>
              <a:spcPct val="100000"/>
            </a:lnSpc>
          </a:pPr>
          <a:r>
            <a:rPr lang="en-GB"/>
            <a:t>Airbnb </a:t>
          </a:r>
          <a:r>
            <a:rPr lang="en-GB">
              <a:latin typeface="Arial"/>
            </a:rPr>
            <a:t>listing prices reflect observable housing characteristics captured by structured variables</a:t>
          </a:r>
          <a:endParaRPr lang="en-US"/>
        </a:p>
      </dgm:t>
    </dgm:pt>
    <dgm:pt modelId="{E17CD30D-642B-4F95-A597-EC7C020DC3AA}" type="parTrans" cxnId="{BEAA050F-38E7-426B-89A8-27B0920016AA}">
      <dgm:prSet/>
      <dgm:spPr/>
      <dgm:t>
        <a:bodyPr/>
        <a:lstStyle/>
        <a:p>
          <a:endParaRPr lang="en-US"/>
        </a:p>
      </dgm:t>
    </dgm:pt>
    <dgm:pt modelId="{A950D120-06EC-4D13-853B-4D5A3409635D}" type="sibTrans" cxnId="{BEAA050F-38E7-426B-89A8-27B0920016AA}">
      <dgm:prSet/>
      <dgm:spPr/>
      <dgm:t>
        <a:bodyPr/>
        <a:lstStyle/>
        <a:p>
          <a:endParaRPr lang="en-US"/>
        </a:p>
      </dgm:t>
    </dgm:pt>
    <dgm:pt modelId="{41863A7D-1915-4B20-A96E-68F95B236DCF}">
      <dgm:prSet phldr="0"/>
      <dgm:spPr/>
      <dgm:t>
        <a:bodyPr/>
        <a:lstStyle/>
        <a:p>
          <a:pPr>
            <a:lnSpc>
              <a:spcPct val="100000"/>
            </a:lnSpc>
          </a:pPr>
          <a:r>
            <a:rPr lang="en-GB">
              <a:latin typeface="Arial"/>
            </a:rPr>
            <a:t>Some quality signals may not be fully captured by structured variables</a:t>
          </a:r>
        </a:p>
      </dgm:t>
    </dgm:pt>
    <dgm:pt modelId="{A6EEF9F2-8DD3-447F-B267-2B693167F732}" type="parTrans" cxnId="{E29110FE-AB01-4C06-ACC1-BE14F9C9382F}">
      <dgm:prSet/>
      <dgm:spPr/>
      <dgm:t>
        <a:bodyPr/>
        <a:lstStyle/>
        <a:p>
          <a:endParaRPr lang="en-US"/>
        </a:p>
      </dgm:t>
    </dgm:pt>
    <dgm:pt modelId="{499C2886-E600-4E39-8F42-73F02A9E5098}" type="sibTrans" cxnId="{E29110FE-AB01-4C06-ACC1-BE14F9C9382F}">
      <dgm:prSet/>
      <dgm:spPr/>
      <dgm:t>
        <a:bodyPr/>
        <a:lstStyle/>
        <a:p>
          <a:endParaRPr lang="en-US"/>
        </a:p>
      </dgm:t>
    </dgm:pt>
    <dgm:pt modelId="{E8A891E7-D638-469F-8AB8-909F2A929DEE}">
      <dgm:prSet phldr="0"/>
      <dgm:spPr/>
      <dgm:t>
        <a:bodyPr/>
        <a:lstStyle/>
        <a:p>
          <a:pPr>
            <a:lnSpc>
              <a:spcPct val="100000"/>
            </a:lnSpc>
          </a:pPr>
          <a:r>
            <a:rPr lang="en-US">
              <a:latin typeface="Arial"/>
            </a:rPr>
            <a:t>Listing descriptions may contain additional information about these signals</a:t>
          </a:r>
          <a:endParaRPr lang="en-US"/>
        </a:p>
      </dgm:t>
    </dgm:pt>
    <dgm:pt modelId="{9585C02E-7866-427D-9000-7282F100A34E}" type="parTrans" cxnId="{F8835A59-5764-4C22-8A2D-5B31C36B053C}">
      <dgm:prSet/>
      <dgm:spPr/>
      <dgm:t>
        <a:bodyPr/>
        <a:lstStyle/>
        <a:p>
          <a:endParaRPr lang="en-US"/>
        </a:p>
      </dgm:t>
    </dgm:pt>
    <dgm:pt modelId="{7FDFD67A-A81B-465F-83F6-F8D3AAB5233E}" type="sibTrans" cxnId="{F8835A59-5764-4C22-8A2D-5B31C36B053C}">
      <dgm:prSet/>
      <dgm:spPr/>
      <dgm:t>
        <a:bodyPr/>
        <a:lstStyle/>
        <a:p>
          <a:endParaRPr lang="en-US"/>
        </a:p>
      </dgm:t>
    </dgm:pt>
    <dgm:pt modelId="{3F1746B6-88A0-456A-92F3-7AD568A15947}" type="pres">
      <dgm:prSet presAssocID="{8EC5AB15-FAEF-4AA2-8A66-CB9ED52E33CF}" presName="root" presStyleCnt="0">
        <dgm:presLayoutVars>
          <dgm:dir/>
          <dgm:resizeHandles val="exact"/>
        </dgm:presLayoutVars>
      </dgm:prSet>
      <dgm:spPr/>
    </dgm:pt>
    <dgm:pt modelId="{649674B1-6293-4C8B-BF8F-4DA77D17E39C}" type="pres">
      <dgm:prSet presAssocID="{46673A87-687A-40BF-8704-933569AF6009}" presName="compNode" presStyleCnt="0"/>
      <dgm:spPr/>
    </dgm:pt>
    <dgm:pt modelId="{65E17910-82A9-47AE-8928-01C88FBD6A25}" type="pres">
      <dgm:prSet presAssocID="{46673A87-687A-40BF-8704-933569AF6009}" presName="bgRect" presStyleLbl="bgShp" presStyleIdx="0" presStyleCnt="3"/>
      <dgm:spPr/>
    </dgm:pt>
    <dgm:pt modelId="{1EDCE81D-2914-4DAC-AC14-6A53BB4B7FD5}" type="pres">
      <dgm:prSet presAssocID="{46673A87-687A-40BF-8704-933569AF600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irplane"/>
        </a:ext>
      </dgm:extLst>
    </dgm:pt>
    <dgm:pt modelId="{51203B61-CB0C-4546-B354-15AA7140697A}" type="pres">
      <dgm:prSet presAssocID="{46673A87-687A-40BF-8704-933569AF6009}" presName="spaceRect" presStyleCnt="0"/>
      <dgm:spPr/>
    </dgm:pt>
    <dgm:pt modelId="{1E98AB19-3966-4AE4-A7E9-866C5F26C46A}" type="pres">
      <dgm:prSet presAssocID="{46673A87-687A-40BF-8704-933569AF6009}" presName="parTx" presStyleLbl="revTx" presStyleIdx="0" presStyleCnt="3">
        <dgm:presLayoutVars>
          <dgm:chMax val="0"/>
          <dgm:chPref val="0"/>
        </dgm:presLayoutVars>
      </dgm:prSet>
      <dgm:spPr/>
    </dgm:pt>
    <dgm:pt modelId="{BEAE1C04-90FB-4088-8749-90D12A6BC398}" type="pres">
      <dgm:prSet presAssocID="{A950D120-06EC-4D13-853B-4D5A3409635D}" presName="sibTrans" presStyleCnt="0"/>
      <dgm:spPr/>
    </dgm:pt>
    <dgm:pt modelId="{7DD2E4CE-A42B-40A0-AC0E-FBBF94F8EADD}" type="pres">
      <dgm:prSet presAssocID="{41863A7D-1915-4B20-A96E-68F95B236DCF}" presName="compNode" presStyleCnt="0"/>
      <dgm:spPr/>
    </dgm:pt>
    <dgm:pt modelId="{B7E3EAC7-BB17-4A49-8872-796862938C25}" type="pres">
      <dgm:prSet presAssocID="{41863A7D-1915-4B20-A96E-68F95B236DCF}" presName="bgRect" presStyleLbl="bgShp" presStyleIdx="1" presStyleCnt="3"/>
      <dgm:spPr/>
    </dgm:pt>
    <dgm:pt modelId="{148A6E39-A268-4634-9CC1-0A31EA55FA41}" type="pres">
      <dgm:prSet presAssocID="{41863A7D-1915-4B20-A96E-68F95B236DCF}"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Periodic Graph with solid fill"/>
        </a:ext>
      </dgm:extLst>
    </dgm:pt>
    <dgm:pt modelId="{B9685E6C-7195-4F5A-9C41-17ACB211D581}" type="pres">
      <dgm:prSet presAssocID="{41863A7D-1915-4B20-A96E-68F95B236DCF}" presName="spaceRect" presStyleCnt="0"/>
      <dgm:spPr/>
    </dgm:pt>
    <dgm:pt modelId="{A673C3C2-B1D8-4183-8A0E-57D4E78AC6C8}" type="pres">
      <dgm:prSet presAssocID="{41863A7D-1915-4B20-A96E-68F95B236DCF}" presName="parTx" presStyleLbl="revTx" presStyleIdx="1" presStyleCnt="3">
        <dgm:presLayoutVars>
          <dgm:chMax val="0"/>
          <dgm:chPref val="0"/>
        </dgm:presLayoutVars>
      </dgm:prSet>
      <dgm:spPr/>
    </dgm:pt>
    <dgm:pt modelId="{E5003421-7631-495D-BA20-DDF9141DA383}" type="pres">
      <dgm:prSet presAssocID="{499C2886-E600-4E39-8F42-73F02A9E5098}" presName="sibTrans" presStyleCnt="0"/>
      <dgm:spPr/>
    </dgm:pt>
    <dgm:pt modelId="{EAEEF569-6601-4756-8868-EF2BB3AA7E81}" type="pres">
      <dgm:prSet presAssocID="{E8A891E7-D638-469F-8AB8-909F2A929DEE}" presName="compNode" presStyleCnt="0"/>
      <dgm:spPr/>
    </dgm:pt>
    <dgm:pt modelId="{14CDD6C8-F596-46A1-BAAC-A2046548A735}" type="pres">
      <dgm:prSet presAssocID="{E8A891E7-D638-469F-8AB8-909F2A929DEE}" presName="bgRect" presStyleLbl="bgShp" presStyleIdx="2" presStyleCnt="3"/>
      <dgm:spPr/>
    </dgm:pt>
    <dgm:pt modelId="{C95BE253-4BE8-448A-8C3E-5DB025A4E33F}" type="pres">
      <dgm:prSet presAssocID="{E8A891E7-D638-469F-8AB8-909F2A929DEE}"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lipboard with solid fill"/>
        </a:ext>
      </dgm:extLst>
    </dgm:pt>
    <dgm:pt modelId="{FCEF34C7-B4A7-411C-B230-20311224A4B9}" type="pres">
      <dgm:prSet presAssocID="{E8A891E7-D638-469F-8AB8-909F2A929DEE}" presName="spaceRect" presStyleCnt="0"/>
      <dgm:spPr/>
    </dgm:pt>
    <dgm:pt modelId="{DDAC11FB-D188-4B9A-9190-93D19E7D0C75}" type="pres">
      <dgm:prSet presAssocID="{E8A891E7-D638-469F-8AB8-909F2A929DEE}" presName="parTx" presStyleLbl="revTx" presStyleIdx="2" presStyleCnt="3">
        <dgm:presLayoutVars>
          <dgm:chMax val="0"/>
          <dgm:chPref val="0"/>
        </dgm:presLayoutVars>
      </dgm:prSet>
      <dgm:spPr/>
    </dgm:pt>
  </dgm:ptLst>
  <dgm:cxnLst>
    <dgm:cxn modelId="{BEAA050F-38E7-426B-89A8-27B0920016AA}" srcId="{8EC5AB15-FAEF-4AA2-8A66-CB9ED52E33CF}" destId="{46673A87-687A-40BF-8704-933569AF6009}" srcOrd="0" destOrd="0" parTransId="{E17CD30D-642B-4F95-A597-EC7C020DC3AA}" sibTransId="{A950D120-06EC-4D13-853B-4D5A3409635D}"/>
    <dgm:cxn modelId="{F8835A59-5764-4C22-8A2D-5B31C36B053C}" srcId="{8EC5AB15-FAEF-4AA2-8A66-CB9ED52E33CF}" destId="{E8A891E7-D638-469F-8AB8-909F2A929DEE}" srcOrd="2" destOrd="0" parTransId="{9585C02E-7866-427D-9000-7282F100A34E}" sibTransId="{7FDFD67A-A81B-465F-83F6-F8D3AAB5233E}"/>
    <dgm:cxn modelId="{2ED2CF67-E082-4711-8005-38DB2575D6C7}" type="presOf" srcId="{E8A891E7-D638-469F-8AB8-909F2A929DEE}" destId="{DDAC11FB-D188-4B9A-9190-93D19E7D0C75}" srcOrd="0" destOrd="0" presId="urn:microsoft.com/office/officeart/2018/2/layout/IconVerticalSolidList"/>
    <dgm:cxn modelId="{DC7CFDB7-8956-46CA-9B8F-C3541E67E251}" type="presOf" srcId="{46673A87-687A-40BF-8704-933569AF6009}" destId="{1E98AB19-3966-4AE4-A7E9-866C5F26C46A}" srcOrd="0" destOrd="0" presId="urn:microsoft.com/office/officeart/2018/2/layout/IconVerticalSolidList"/>
    <dgm:cxn modelId="{384046D2-DA3E-4FF6-BA6F-C44635BEEB97}" type="presOf" srcId="{41863A7D-1915-4B20-A96E-68F95B236DCF}" destId="{A673C3C2-B1D8-4183-8A0E-57D4E78AC6C8}" srcOrd="0" destOrd="0" presId="urn:microsoft.com/office/officeart/2018/2/layout/IconVerticalSolidList"/>
    <dgm:cxn modelId="{81B51AEF-DCB1-4DE6-B815-B93914695E8B}" type="presOf" srcId="{8EC5AB15-FAEF-4AA2-8A66-CB9ED52E33CF}" destId="{3F1746B6-88A0-456A-92F3-7AD568A15947}" srcOrd="0" destOrd="0" presId="urn:microsoft.com/office/officeart/2018/2/layout/IconVerticalSolidList"/>
    <dgm:cxn modelId="{E29110FE-AB01-4C06-ACC1-BE14F9C9382F}" srcId="{8EC5AB15-FAEF-4AA2-8A66-CB9ED52E33CF}" destId="{41863A7D-1915-4B20-A96E-68F95B236DCF}" srcOrd="1" destOrd="0" parTransId="{A6EEF9F2-8DD3-447F-B267-2B693167F732}" sibTransId="{499C2886-E600-4E39-8F42-73F02A9E5098}"/>
    <dgm:cxn modelId="{30AE3DB2-663A-4026-BE77-4D3D61137184}" type="presParOf" srcId="{3F1746B6-88A0-456A-92F3-7AD568A15947}" destId="{649674B1-6293-4C8B-BF8F-4DA77D17E39C}" srcOrd="0" destOrd="0" presId="urn:microsoft.com/office/officeart/2018/2/layout/IconVerticalSolidList"/>
    <dgm:cxn modelId="{713FD47F-FEC7-400C-A6CD-29F986623940}" type="presParOf" srcId="{649674B1-6293-4C8B-BF8F-4DA77D17E39C}" destId="{65E17910-82A9-47AE-8928-01C88FBD6A25}" srcOrd="0" destOrd="0" presId="urn:microsoft.com/office/officeart/2018/2/layout/IconVerticalSolidList"/>
    <dgm:cxn modelId="{84C59AD7-EAEB-4BAD-8407-F6E1DDFC7948}" type="presParOf" srcId="{649674B1-6293-4C8B-BF8F-4DA77D17E39C}" destId="{1EDCE81D-2914-4DAC-AC14-6A53BB4B7FD5}" srcOrd="1" destOrd="0" presId="urn:microsoft.com/office/officeart/2018/2/layout/IconVerticalSolidList"/>
    <dgm:cxn modelId="{F3EC7B6F-7F9A-45A9-9133-FC2870A84428}" type="presParOf" srcId="{649674B1-6293-4C8B-BF8F-4DA77D17E39C}" destId="{51203B61-CB0C-4546-B354-15AA7140697A}" srcOrd="2" destOrd="0" presId="urn:microsoft.com/office/officeart/2018/2/layout/IconVerticalSolidList"/>
    <dgm:cxn modelId="{F5C30F15-1494-47D1-9AE7-BD7B63F63BDD}" type="presParOf" srcId="{649674B1-6293-4C8B-BF8F-4DA77D17E39C}" destId="{1E98AB19-3966-4AE4-A7E9-866C5F26C46A}" srcOrd="3" destOrd="0" presId="urn:microsoft.com/office/officeart/2018/2/layout/IconVerticalSolidList"/>
    <dgm:cxn modelId="{29E4C593-2305-4261-AA3A-95AA84BA9DE0}" type="presParOf" srcId="{3F1746B6-88A0-456A-92F3-7AD568A15947}" destId="{BEAE1C04-90FB-4088-8749-90D12A6BC398}" srcOrd="1" destOrd="0" presId="urn:microsoft.com/office/officeart/2018/2/layout/IconVerticalSolidList"/>
    <dgm:cxn modelId="{BE5F806B-6E27-481A-AC87-832F061695AC}" type="presParOf" srcId="{3F1746B6-88A0-456A-92F3-7AD568A15947}" destId="{7DD2E4CE-A42B-40A0-AC0E-FBBF94F8EADD}" srcOrd="2" destOrd="0" presId="urn:microsoft.com/office/officeart/2018/2/layout/IconVerticalSolidList"/>
    <dgm:cxn modelId="{44550155-67EE-47E7-94D5-1EE8B2D89C4B}" type="presParOf" srcId="{7DD2E4CE-A42B-40A0-AC0E-FBBF94F8EADD}" destId="{B7E3EAC7-BB17-4A49-8872-796862938C25}" srcOrd="0" destOrd="0" presId="urn:microsoft.com/office/officeart/2018/2/layout/IconVerticalSolidList"/>
    <dgm:cxn modelId="{3E14C7FD-FF58-4E0C-8F43-875A9983321B}" type="presParOf" srcId="{7DD2E4CE-A42B-40A0-AC0E-FBBF94F8EADD}" destId="{148A6E39-A268-4634-9CC1-0A31EA55FA41}" srcOrd="1" destOrd="0" presId="urn:microsoft.com/office/officeart/2018/2/layout/IconVerticalSolidList"/>
    <dgm:cxn modelId="{F853ABD7-89C7-450B-BCF1-0F345A39022A}" type="presParOf" srcId="{7DD2E4CE-A42B-40A0-AC0E-FBBF94F8EADD}" destId="{B9685E6C-7195-4F5A-9C41-17ACB211D581}" srcOrd="2" destOrd="0" presId="urn:microsoft.com/office/officeart/2018/2/layout/IconVerticalSolidList"/>
    <dgm:cxn modelId="{13EFC0B5-0354-482E-89BE-542A780369D5}" type="presParOf" srcId="{7DD2E4CE-A42B-40A0-AC0E-FBBF94F8EADD}" destId="{A673C3C2-B1D8-4183-8A0E-57D4E78AC6C8}" srcOrd="3" destOrd="0" presId="urn:microsoft.com/office/officeart/2018/2/layout/IconVerticalSolidList"/>
    <dgm:cxn modelId="{EA269F91-3A94-4FB3-98E2-D3C49BF68049}" type="presParOf" srcId="{3F1746B6-88A0-456A-92F3-7AD568A15947}" destId="{E5003421-7631-495D-BA20-DDF9141DA383}" srcOrd="3" destOrd="0" presId="urn:microsoft.com/office/officeart/2018/2/layout/IconVerticalSolidList"/>
    <dgm:cxn modelId="{D20684EC-9C6D-4F49-A52A-5C2118FD4016}" type="presParOf" srcId="{3F1746B6-88A0-456A-92F3-7AD568A15947}" destId="{EAEEF569-6601-4756-8868-EF2BB3AA7E81}" srcOrd="4" destOrd="0" presId="urn:microsoft.com/office/officeart/2018/2/layout/IconVerticalSolidList"/>
    <dgm:cxn modelId="{7A5A7368-0FD7-4120-BC95-A8AC72067B23}" type="presParOf" srcId="{EAEEF569-6601-4756-8868-EF2BB3AA7E81}" destId="{14CDD6C8-F596-46A1-BAAC-A2046548A735}" srcOrd="0" destOrd="0" presId="urn:microsoft.com/office/officeart/2018/2/layout/IconVerticalSolidList"/>
    <dgm:cxn modelId="{40918AB7-D060-4249-A18D-89E962D1A65C}" type="presParOf" srcId="{EAEEF569-6601-4756-8868-EF2BB3AA7E81}" destId="{C95BE253-4BE8-448A-8C3E-5DB025A4E33F}" srcOrd="1" destOrd="0" presId="urn:microsoft.com/office/officeart/2018/2/layout/IconVerticalSolidList"/>
    <dgm:cxn modelId="{958B5C3F-A7B5-4082-B8C4-D77D64B584DA}" type="presParOf" srcId="{EAEEF569-6601-4756-8868-EF2BB3AA7E81}" destId="{FCEF34C7-B4A7-411C-B230-20311224A4B9}" srcOrd="2" destOrd="0" presId="urn:microsoft.com/office/officeart/2018/2/layout/IconVerticalSolidList"/>
    <dgm:cxn modelId="{A1B6B1EF-8F84-4D44-A27D-7AD2D2DA8435}" type="presParOf" srcId="{EAEEF569-6601-4756-8868-EF2BB3AA7E81}" destId="{DDAC11FB-D188-4B9A-9190-93D19E7D0C7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26518E-8833-40AF-9D7E-B713CF3A74F6}" type="doc">
      <dgm:prSet loTypeId="urn:microsoft.com/office/officeart/2005/8/layout/vList5" loCatId="list" qsTypeId="urn:microsoft.com/office/officeart/2005/8/quickstyle/simple4" qsCatId="simple" csTypeId="urn:microsoft.com/office/officeart/2005/8/colors/accent0_3" csCatId="mainScheme"/>
      <dgm:spPr/>
      <dgm:t>
        <a:bodyPr/>
        <a:lstStyle/>
        <a:p>
          <a:endParaRPr lang="en-US"/>
        </a:p>
      </dgm:t>
    </dgm:pt>
    <dgm:pt modelId="{01D19B41-B543-47FE-8E62-77FED3F0E2F3}">
      <dgm:prSet/>
      <dgm:spPr/>
      <dgm:t>
        <a:bodyPr/>
        <a:lstStyle/>
        <a:p>
          <a:r>
            <a:rPr lang="en-US"/>
            <a:t>Methods:</a:t>
          </a:r>
        </a:p>
      </dgm:t>
    </dgm:pt>
    <dgm:pt modelId="{CA5A713C-79CF-41FA-A26E-6F04848AB3E0}" type="parTrans" cxnId="{46E2F732-F435-489D-878C-40030998EC15}">
      <dgm:prSet/>
      <dgm:spPr/>
      <dgm:t>
        <a:bodyPr/>
        <a:lstStyle/>
        <a:p>
          <a:endParaRPr lang="en-US"/>
        </a:p>
      </dgm:t>
    </dgm:pt>
    <dgm:pt modelId="{4CF487DF-8651-4515-BC5F-3D8911174513}" type="sibTrans" cxnId="{46E2F732-F435-489D-878C-40030998EC15}">
      <dgm:prSet/>
      <dgm:spPr/>
      <dgm:t>
        <a:bodyPr/>
        <a:lstStyle/>
        <a:p>
          <a:endParaRPr lang="en-US"/>
        </a:p>
      </dgm:t>
    </dgm:pt>
    <dgm:pt modelId="{A02CAD55-E471-478A-85AE-6ABAB4AE2EFF}">
      <dgm:prSet/>
      <dgm:spPr/>
      <dgm:t>
        <a:bodyPr/>
        <a:lstStyle/>
        <a:p>
          <a:r>
            <a:rPr lang="en-US"/>
            <a:t>N-grams (Bag-of-Words)</a:t>
          </a:r>
        </a:p>
      </dgm:t>
    </dgm:pt>
    <dgm:pt modelId="{04725BD9-2905-4F6F-92E0-4803FA5152F4}" type="parTrans" cxnId="{B88F129A-1CEF-4A64-8792-8C884E56EB7D}">
      <dgm:prSet/>
      <dgm:spPr/>
      <dgm:t>
        <a:bodyPr/>
        <a:lstStyle/>
        <a:p>
          <a:endParaRPr lang="en-US"/>
        </a:p>
      </dgm:t>
    </dgm:pt>
    <dgm:pt modelId="{58956AD6-6DC9-4A0E-800D-0A06E9D59378}" type="sibTrans" cxnId="{B88F129A-1CEF-4A64-8792-8C884E56EB7D}">
      <dgm:prSet/>
      <dgm:spPr/>
      <dgm:t>
        <a:bodyPr/>
        <a:lstStyle/>
        <a:p>
          <a:endParaRPr lang="en-US"/>
        </a:p>
      </dgm:t>
    </dgm:pt>
    <dgm:pt modelId="{162BC739-2205-40B7-BB55-FF9D836CE1E9}">
      <dgm:prSet/>
      <dgm:spPr/>
      <dgm:t>
        <a:bodyPr/>
        <a:lstStyle/>
        <a:p>
          <a:r>
            <a:rPr lang="en-US"/>
            <a:t>Regularization</a:t>
          </a:r>
        </a:p>
      </dgm:t>
    </dgm:pt>
    <dgm:pt modelId="{25A87FD5-5F98-447C-B49B-0B681F00F806}" type="parTrans" cxnId="{AAF9A5F7-54AA-43DA-A71A-2ED4A07B97AC}">
      <dgm:prSet/>
      <dgm:spPr/>
      <dgm:t>
        <a:bodyPr/>
        <a:lstStyle/>
        <a:p>
          <a:endParaRPr lang="en-US"/>
        </a:p>
      </dgm:t>
    </dgm:pt>
    <dgm:pt modelId="{F50650D6-5F1E-45B7-A787-20082A863875}" type="sibTrans" cxnId="{AAF9A5F7-54AA-43DA-A71A-2ED4A07B97AC}">
      <dgm:prSet/>
      <dgm:spPr/>
      <dgm:t>
        <a:bodyPr/>
        <a:lstStyle/>
        <a:p>
          <a:endParaRPr lang="en-US"/>
        </a:p>
      </dgm:t>
    </dgm:pt>
    <dgm:pt modelId="{402EA201-DB74-4EEB-A910-99C49BCE8618}">
      <dgm:prSet/>
      <dgm:spPr/>
      <dgm:t>
        <a:bodyPr/>
        <a:lstStyle/>
        <a:p>
          <a:r>
            <a:rPr lang="en-US"/>
            <a:t>Word Embeddings</a:t>
          </a:r>
        </a:p>
      </dgm:t>
    </dgm:pt>
    <dgm:pt modelId="{26EF80EA-AF65-49BA-957D-91864A46DE15}" type="parTrans" cxnId="{01540819-E49F-4E4A-A31D-9EF202E87D12}">
      <dgm:prSet/>
      <dgm:spPr/>
      <dgm:t>
        <a:bodyPr/>
        <a:lstStyle/>
        <a:p>
          <a:endParaRPr lang="en-US"/>
        </a:p>
      </dgm:t>
    </dgm:pt>
    <dgm:pt modelId="{EB3FDA2E-0763-4864-915D-E68E92384E80}" type="sibTrans" cxnId="{01540819-E49F-4E4A-A31D-9EF202E87D12}">
      <dgm:prSet/>
      <dgm:spPr/>
      <dgm:t>
        <a:bodyPr/>
        <a:lstStyle/>
        <a:p>
          <a:endParaRPr lang="en-US"/>
        </a:p>
      </dgm:t>
    </dgm:pt>
    <dgm:pt modelId="{460EFC23-54D5-48FE-BF0F-119E24C9E031}">
      <dgm:prSet/>
      <dgm:spPr/>
      <dgm:t>
        <a:bodyPr/>
        <a:lstStyle/>
        <a:p>
          <a:r>
            <a:rPr lang="en-US"/>
            <a:t>Transfer Learning</a:t>
          </a:r>
        </a:p>
      </dgm:t>
    </dgm:pt>
    <dgm:pt modelId="{7FB0F0EC-BE5E-4638-A3F2-9CAB96262902}" type="parTrans" cxnId="{DD602A25-E804-4E83-ACFE-1B0CCCD27463}">
      <dgm:prSet/>
      <dgm:spPr/>
      <dgm:t>
        <a:bodyPr/>
        <a:lstStyle/>
        <a:p>
          <a:endParaRPr lang="en-US"/>
        </a:p>
      </dgm:t>
    </dgm:pt>
    <dgm:pt modelId="{BA324AD6-E4C1-4077-8DB6-5C02E0A138D1}" type="sibTrans" cxnId="{DD602A25-E804-4E83-ACFE-1B0CCCD27463}">
      <dgm:prSet/>
      <dgm:spPr/>
      <dgm:t>
        <a:bodyPr/>
        <a:lstStyle/>
        <a:p>
          <a:endParaRPr lang="en-US"/>
        </a:p>
      </dgm:t>
    </dgm:pt>
    <dgm:pt modelId="{B7BC6CF3-02D2-4862-B015-551C4011CEA2}">
      <dgm:prSet/>
      <dgm:spPr/>
      <dgm:t>
        <a:bodyPr/>
        <a:lstStyle/>
        <a:p>
          <a:r>
            <a:rPr lang="en-US"/>
            <a:t>Benchmark Comparisons </a:t>
          </a:r>
        </a:p>
      </dgm:t>
    </dgm:pt>
    <dgm:pt modelId="{BFB5514A-57F9-45B3-BDA8-B73363378F28}" type="parTrans" cxnId="{0D1A26E7-4620-4C6A-9287-92AABFA57912}">
      <dgm:prSet/>
      <dgm:spPr/>
      <dgm:t>
        <a:bodyPr/>
        <a:lstStyle/>
        <a:p>
          <a:endParaRPr lang="en-US"/>
        </a:p>
      </dgm:t>
    </dgm:pt>
    <dgm:pt modelId="{8169A736-C839-473A-BDFF-E25C58A1861D}" type="sibTrans" cxnId="{0D1A26E7-4620-4C6A-9287-92AABFA57912}">
      <dgm:prSet/>
      <dgm:spPr/>
      <dgm:t>
        <a:bodyPr/>
        <a:lstStyle/>
        <a:p>
          <a:endParaRPr lang="en-US"/>
        </a:p>
      </dgm:t>
    </dgm:pt>
    <dgm:pt modelId="{B75CFAE6-C6D7-4802-BA51-8EA8B81DAF37}" type="pres">
      <dgm:prSet presAssocID="{BA26518E-8833-40AF-9D7E-B713CF3A74F6}" presName="Name0" presStyleCnt="0">
        <dgm:presLayoutVars>
          <dgm:dir/>
          <dgm:animLvl val="lvl"/>
          <dgm:resizeHandles val="exact"/>
        </dgm:presLayoutVars>
      </dgm:prSet>
      <dgm:spPr/>
    </dgm:pt>
    <dgm:pt modelId="{F68F3FA9-B805-454D-B495-F5CD58BDFC24}" type="pres">
      <dgm:prSet presAssocID="{01D19B41-B543-47FE-8E62-77FED3F0E2F3}" presName="linNode" presStyleCnt="0"/>
      <dgm:spPr/>
    </dgm:pt>
    <dgm:pt modelId="{F6B083D7-1B93-4260-9CCA-DBE1C200C08C}" type="pres">
      <dgm:prSet presAssocID="{01D19B41-B543-47FE-8E62-77FED3F0E2F3}" presName="parentText" presStyleLbl="node1" presStyleIdx="0" presStyleCnt="1">
        <dgm:presLayoutVars>
          <dgm:chMax val="1"/>
          <dgm:bulletEnabled val="1"/>
        </dgm:presLayoutVars>
      </dgm:prSet>
      <dgm:spPr/>
    </dgm:pt>
    <dgm:pt modelId="{37430008-51D3-498A-8B0F-E9CDF4A4CDB3}" type="pres">
      <dgm:prSet presAssocID="{01D19B41-B543-47FE-8E62-77FED3F0E2F3}" presName="descendantText" presStyleLbl="alignAccFollowNode1" presStyleIdx="0" presStyleCnt="1">
        <dgm:presLayoutVars>
          <dgm:bulletEnabled val="1"/>
        </dgm:presLayoutVars>
      </dgm:prSet>
      <dgm:spPr/>
    </dgm:pt>
  </dgm:ptLst>
  <dgm:cxnLst>
    <dgm:cxn modelId="{01540819-E49F-4E4A-A31D-9EF202E87D12}" srcId="{01D19B41-B543-47FE-8E62-77FED3F0E2F3}" destId="{402EA201-DB74-4EEB-A910-99C49BCE8618}" srcOrd="2" destOrd="0" parTransId="{26EF80EA-AF65-49BA-957D-91864A46DE15}" sibTransId="{EB3FDA2E-0763-4864-915D-E68E92384E80}"/>
    <dgm:cxn modelId="{DD602A25-E804-4E83-ACFE-1B0CCCD27463}" srcId="{01D19B41-B543-47FE-8E62-77FED3F0E2F3}" destId="{460EFC23-54D5-48FE-BF0F-119E24C9E031}" srcOrd="3" destOrd="0" parTransId="{7FB0F0EC-BE5E-4638-A3F2-9CAB96262902}" sibTransId="{BA324AD6-E4C1-4077-8DB6-5C02E0A138D1}"/>
    <dgm:cxn modelId="{46E2F732-F435-489D-878C-40030998EC15}" srcId="{BA26518E-8833-40AF-9D7E-B713CF3A74F6}" destId="{01D19B41-B543-47FE-8E62-77FED3F0E2F3}" srcOrd="0" destOrd="0" parTransId="{CA5A713C-79CF-41FA-A26E-6F04848AB3E0}" sibTransId="{4CF487DF-8651-4515-BC5F-3D8911174513}"/>
    <dgm:cxn modelId="{35462648-42BE-4F97-8AF2-24B2095FA54D}" type="presOf" srcId="{460EFC23-54D5-48FE-BF0F-119E24C9E031}" destId="{37430008-51D3-498A-8B0F-E9CDF4A4CDB3}" srcOrd="0" destOrd="3" presId="urn:microsoft.com/office/officeart/2005/8/layout/vList5"/>
    <dgm:cxn modelId="{F18AA64A-52AB-43AE-932F-06BC051003E5}" type="presOf" srcId="{B7BC6CF3-02D2-4862-B015-551C4011CEA2}" destId="{37430008-51D3-498A-8B0F-E9CDF4A4CDB3}" srcOrd="0" destOrd="4" presId="urn:microsoft.com/office/officeart/2005/8/layout/vList5"/>
    <dgm:cxn modelId="{DCE5BA50-B399-4B51-8D36-A10DCCE25A7D}" type="presOf" srcId="{162BC739-2205-40B7-BB55-FF9D836CE1E9}" destId="{37430008-51D3-498A-8B0F-E9CDF4A4CDB3}" srcOrd="0" destOrd="1" presId="urn:microsoft.com/office/officeart/2005/8/layout/vList5"/>
    <dgm:cxn modelId="{F064A65D-4DBE-4FDF-A0F1-E89A48BC0DEC}" type="presOf" srcId="{01D19B41-B543-47FE-8E62-77FED3F0E2F3}" destId="{F6B083D7-1B93-4260-9CCA-DBE1C200C08C}" srcOrd="0" destOrd="0" presId="urn:microsoft.com/office/officeart/2005/8/layout/vList5"/>
    <dgm:cxn modelId="{16ABD35D-CA5A-4C46-BAF8-25E418C31D9C}" type="presOf" srcId="{402EA201-DB74-4EEB-A910-99C49BCE8618}" destId="{37430008-51D3-498A-8B0F-E9CDF4A4CDB3}" srcOrd="0" destOrd="2" presId="urn:microsoft.com/office/officeart/2005/8/layout/vList5"/>
    <dgm:cxn modelId="{5995CD97-61C9-4F7D-B924-ED8D226D65B7}" type="presOf" srcId="{BA26518E-8833-40AF-9D7E-B713CF3A74F6}" destId="{B75CFAE6-C6D7-4802-BA51-8EA8B81DAF37}" srcOrd="0" destOrd="0" presId="urn:microsoft.com/office/officeart/2005/8/layout/vList5"/>
    <dgm:cxn modelId="{B88F129A-1CEF-4A64-8792-8C884E56EB7D}" srcId="{01D19B41-B543-47FE-8E62-77FED3F0E2F3}" destId="{A02CAD55-E471-478A-85AE-6ABAB4AE2EFF}" srcOrd="0" destOrd="0" parTransId="{04725BD9-2905-4F6F-92E0-4803FA5152F4}" sibTransId="{58956AD6-6DC9-4A0E-800D-0A06E9D59378}"/>
    <dgm:cxn modelId="{FBF080AB-6F6E-4D16-A4C0-623CA5DC3A81}" type="presOf" srcId="{A02CAD55-E471-478A-85AE-6ABAB4AE2EFF}" destId="{37430008-51D3-498A-8B0F-E9CDF4A4CDB3}" srcOrd="0" destOrd="0" presId="urn:microsoft.com/office/officeart/2005/8/layout/vList5"/>
    <dgm:cxn modelId="{0D1A26E7-4620-4C6A-9287-92AABFA57912}" srcId="{01D19B41-B543-47FE-8E62-77FED3F0E2F3}" destId="{B7BC6CF3-02D2-4862-B015-551C4011CEA2}" srcOrd="4" destOrd="0" parTransId="{BFB5514A-57F9-45B3-BDA8-B73363378F28}" sibTransId="{8169A736-C839-473A-BDFF-E25C58A1861D}"/>
    <dgm:cxn modelId="{AAF9A5F7-54AA-43DA-A71A-2ED4A07B97AC}" srcId="{01D19B41-B543-47FE-8E62-77FED3F0E2F3}" destId="{162BC739-2205-40B7-BB55-FF9D836CE1E9}" srcOrd="1" destOrd="0" parTransId="{25A87FD5-5F98-447C-B49B-0B681F00F806}" sibTransId="{F50650D6-5F1E-45B7-A787-20082A863875}"/>
    <dgm:cxn modelId="{7D09452B-C8DC-47D0-85EA-08723771BA7B}" type="presParOf" srcId="{B75CFAE6-C6D7-4802-BA51-8EA8B81DAF37}" destId="{F68F3FA9-B805-454D-B495-F5CD58BDFC24}" srcOrd="0" destOrd="0" presId="urn:microsoft.com/office/officeart/2005/8/layout/vList5"/>
    <dgm:cxn modelId="{871BD5E7-8285-4B51-96A1-5AAA896F3676}" type="presParOf" srcId="{F68F3FA9-B805-454D-B495-F5CD58BDFC24}" destId="{F6B083D7-1B93-4260-9CCA-DBE1C200C08C}" srcOrd="0" destOrd="0" presId="urn:microsoft.com/office/officeart/2005/8/layout/vList5"/>
    <dgm:cxn modelId="{E0C9B76C-D3B6-47C5-8DDA-7FB842F98241}" type="presParOf" srcId="{F68F3FA9-B805-454D-B495-F5CD58BDFC24}" destId="{37430008-51D3-498A-8B0F-E9CDF4A4CDB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1A49FF-2468-4223-ABE6-D9444EF7B1C3}" type="doc">
      <dgm:prSet loTypeId="urn:microsoft.com/office/officeart/2005/8/layout/default" loCatId="list" qsTypeId="urn:microsoft.com/office/officeart/2005/8/quickstyle/simple2" qsCatId="simple" csTypeId="urn:microsoft.com/office/officeart/2005/8/colors/accent0_3" csCatId="mainScheme"/>
      <dgm:spPr/>
      <dgm:t>
        <a:bodyPr/>
        <a:lstStyle/>
        <a:p>
          <a:endParaRPr lang="en-US"/>
        </a:p>
      </dgm:t>
    </dgm:pt>
    <dgm:pt modelId="{0C4FCFCB-2D89-4721-AB5C-63B94A0A380C}">
      <dgm:prSet/>
      <dgm:spPr/>
      <dgm:t>
        <a:bodyPr/>
        <a:lstStyle/>
        <a:p>
          <a:r>
            <a:rPr lang="en-US"/>
            <a:t>We must compare against simple baselines.</a:t>
          </a:r>
        </a:p>
      </dgm:t>
    </dgm:pt>
    <dgm:pt modelId="{D63D5E7A-0D8E-4FF3-96CA-1F09943B543F}" type="parTrans" cxnId="{CECB3811-9A47-46CB-B702-B351B306B95B}">
      <dgm:prSet/>
      <dgm:spPr/>
      <dgm:t>
        <a:bodyPr/>
        <a:lstStyle/>
        <a:p>
          <a:endParaRPr lang="en-US"/>
        </a:p>
      </dgm:t>
    </dgm:pt>
    <dgm:pt modelId="{E412E1E8-6E96-42FA-AD9F-7D8A52DD7571}" type="sibTrans" cxnId="{CECB3811-9A47-46CB-B702-B351B306B95B}">
      <dgm:prSet/>
      <dgm:spPr/>
      <dgm:t>
        <a:bodyPr/>
        <a:lstStyle/>
        <a:p>
          <a:endParaRPr lang="en-US"/>
        </a:p>
      </dgm:t>
    </dgm:pt>
    <dgm:pt modelId="{F7AD7A26-2117-4A18-91E1-D3AD7DC8B6E8}">
      <dgm:prSet/>
      <dgm:spPr/>
      <dgm:t>
        <a:bodyPr/>
        <a:lstStyle/>
        <a:p>
          <a:r>
            <a:rPr lang="en-US" b="1"/>
            <a:t>Benchmarks:</a:t>
          </a:r>
          <a:endParaRPr lang="en-US"/>
        </a:p>
      </dgm:t>
    </dgm:pt>
    <dgm:pt modelId="{DA33BCB0-88D0-443F-BC34-195D20A276C0}" type="parTrans" cxnId="{2F9F9CD4-B6D1-456B-A52D-E011CFEE2A17}">
      <dgm:prSet/>
      <dgm:spPr/>
      <dgm:t>
        <a:bodyPr/>
        <a:lstStyle/>
        <a:p>
          <a:endParaRPr lang="en-US"/>
        </a:p>
      </dgm:t>
    </dgm:pt>
    <dgm:pt modelId="{84A93D1B-F962-42EF-8676-26AADFB29744}" type="sibTrans" cxnId="{2F9F9CD4-B6D1-456B-A52D-E011CFEE2A17}">
      <dgm:prSet/>
      <dgm:spPr/>
      <dgm:t>
        <a:bodyPr/>
        <a:lstStyle/>
        <a:p>
          <a:endParaRPr lang="en-US"/>
        </a:p>
      </dgm:t>
    </dgm:pt>
    <dgm:pt modelId="{96BB13C9-6213-475B-BB61-900B7A5862FF}">
      <dgm:prSet/>
      <dgm:spPr/>
      <dgm:t>
        <a:bodyPr/>
        <a:lstStyle/>
        <a:p>
          <a:r>
            <a:rPr lang="en-US"/>
            <a:t>Structured-only LASSO</a:t>
          </a:r>
        </a:p>
      </dgm:t>
    </dgm:pt>
    <dgm:pt modelId="{5AE9E198-7FB5-455D-8178-BD397F5DE3D0}" type="parTrans" cxnId="{047EA014-8F1E-45D4-9BB6-6979D823383E}">
      <dgm:prSet/>
      <dgm:spPr/>
      <dgm:t>
        <a:bodyPr/>
        <a:lstStyle/>
        <a:p>
          <a:endParaRPr lang="en-US"/>
        </a:p>
      </dgm:t>
    </dgm:pt>
    <dgm:pt modelId="{85EE502F-8F10-4094-AC45-B065F07506CA}" type="sibTrans" cxnId="{047EA014-8F1E-45D4-9BB6-6979D823383E}">
      <dgm:prSet/>
      <dgm:spPr/>
      <dgm:t>
        <a:bodyPr/>
        <a:lstStyle/>
        <a:p>
          <a:endParaRPr lang="en-US"/>
        </a:p>
      </dgm:t>
    </dgm:pt>
    <dgm:pt modelId="{12F4C71D-465F-4D17-9CC2-8D778EB01F7D}">
      <dgm:prSet/>
      <dgm:spPr/>
      <dgm:t>
        <a:bodyPr/>
        <a:lstStyle/>
        <a:p>
          <a:r>
            <a:rPr lang="en-US"/>
            <a:t>Description n-grams</a:t>
          </a:r>
        </a:p>
      </dgm:t>
    </dgm:pt>
    <dgm:pt modelId="{8D32A4EB-EF20-4E10-BEAB-1D012E999C69}" type="parTrans" cxnId="{C9E28E26-442C-4433-885C-975B1878B756}">
      <dgm:prSet/>
      <dgm:spPr/>
      <dgm:t>
        <a:bodyPr/>
        <a:lstStyle/>
        <a:p>
          <a:endParaRPr lang="en-US"/>
        </a:p>
      </dgm:t>
    </dgm:pt>
    <dgm:pt modelId="{DB99372E-31F7-4B5D-A6D3-6D8354BB5679}" type="sibTrans" cxnId="{C9E28E26-442C-4433-885C-975B1878B756}">
      <dgm:prSet/>
      <dgm:spPr/>
      <dgm:t>
        <a:bodyPr/>
        <a:lstStyle/>
        <a:p>
          <a:endParaRPr lang="en-US"/>
        </a:p>
      </dgm:t>
    </dgm:pt>
    <dgm:pt modelId="{BD0320CC-A7D5-4FAB-9B99-5A6AD8CAA9C4}">
      <dgm:prSet/>
      <dgm:spPr/>
      <dgm:t>
        <a:bodyPr/>
        <a:lstStyle/>
        <a:p>
          <a:r>
            <a:rPr lang="en-US"/>
            <a:t>Embeddings-only</a:t>
          </a:r>
        </a:p>
      </dgm:t>
    </dgm:pt>
    <dgm:pt modelId="{4335F1BE-1A8E-42E6-A2A1-633F8F8FBD57}" type="parTrans" cxnId="{95FF4946-4956-4F75-A0B7-F9FDF32D2DD2}">
      <dgm:prSet/>
      <dgm:spPr/>
      <dgm:t>
        <a:bodyPr/>
        <a:lstStyle/>
        <a:p>
          <a:endParaRPr lang="en-US"/>
        </a:p>
      </dgm:t>
    </dgm:pt>
    <dgm:pt modelId="{AC58D4CE-60A6-424A-9B95-E0848F5D844C}" type="sibTrans" cxnId="{95FF4946-4956-4F75-A0B7-F9FDF32D2DD2}">
      <dgm:prSet/>
      <dgm:spPr/>
      <dgm:t>
        <a:bodyPr/>
        <a:lstStyle/>
        <a:p>
          <a:endParaRPr lang="en-US"/>
        </a:p>
      </dgm:t>
    </dgm:pt>
    <dgm:pt modelId="{43444C7F-B0CC-41ED-B6D6-0621903A778C}">
      <dgm:prSet/>
      <dgm:spPr/>
      <dgm:t>
        <a:bodyPr/>
        <a:lstStyle/>
        <a:p>
          <a:r>
            <a:rPr lang="en-US"/>
            <a:t>This shows whether complex NLP adds value.</a:t>
          </a:r>
        </a:p>
      </dgm:t>
    </dgm:pt>
    <dgm:pt modelId="{207ABAD2-02E7-4D03-B25C-7902C9679856}" type="parTrans" cxnId="{1B434B50-26B4-4DBE-8766-FEAF56C11772}">
      <dgm:prSet/>
      <dgm:spPr/>
      <dgm:t>
        <a:bodyPr/>
        <a:lstStyle/>
        <a:p>
          <a:endParaRPr lang="en-US"/>
        </a:p>
      </dgm:t>
    </dgm:pt>
    <dgm:pt modelId="{00D03D10-D420-43ED-9C46-BBDA8FF7A2C5}" type="sibTrans" cxnId="{1B434B50-26B4-4DBE-8766-FEAF56C11772}">
      <dgm:prSet/>
      <dgm:spPr/>
      <dgm:t>
        <a:bodyPr/>
        <a:lstStyle/>
        <a:p>
          <a:endParaRPr lang="en-US"/>
        </a:p>
      </dgm:t>
    </dgm:pt>
    <dgm:pt modelId="{F6339BE1-4FE5-48B2-B785-60B303B89151}" type="pres">
      <dgm:prSet presAssocID="{A81A49FF-2468-4223-ABE6-D9444EF7B1C3}" presName="diagram" presStyleCnt="0">
        <dgm:presLayoutVars>
          <dgm:dir/>
          <dgm:resizeHandles val="exact"/>
        </dgm:presLayoutVars>
      </dgm:prSet>
      <dgm:spPr/>
    </dgm:pt>
    <dgm:pt modelId="{5E3E26F5-C3EA-4088-B497-2CB28B5BDE59}" type="pres">
      <dgm:prSet presAssocID="{0C4FCFCB-2D89-4721-AB5C-63B94A0A380C}" presName="node" presStyleLbl="node1" presStyleIdx="0" presStyleCnt="3">
        <dgm:presLayoutVars>
          <dgm:bulletEnabled val="1"/>
        </dgm:presLayoutVars>
      </dgm:prSet>
      <dgm:spPr/>
    </dgm:pt>
    <dgm:pt modelId="{92ECCD72-0276-492B-AEDA-FCB869305507}" type="pres">
      <dgm:prSet presAssocID="{E412E1E8-6E96-42FA-AD9F-7D8A52DD7571}" presName="sibTrans" presStyleCnt="0"/>
      <dgm:spPr/>
    </dgm:pt>
    <dgm:pt modelId="{5A193EE4-A624-4D74-A044-301C03CB517C}" type="pres">
      <dgm:prSet presAssocID="{F7AD7A26-2117-4A18-91E1-D3AD7DC8B6E8}" presName="node" presStyleLbl="node1" presStyleIdx="1" presStyleCnt="3">
        <dgm:presLayoutVars>
          <dgm:bulletEnabled val="1"/>
        </dgm:presLayoutVars>
      </dgm:prSet>
      <dgm:spPr/>
    </dgm:pt>
    <dgm:pt modelId="{0AF7F769-A219-491A-AB61-81D3B6F4B5E3}" type="pres">
      <dgm:prSet presAssocID="{84A93D1B-F962-42EF-8676-26AADFB29744}" presName="sibTrans" presStyleCnt="0"/>
      <dgm:spPr/>
    </dgm:pt>
    <dgm:pt modelId="{8405044B-FF4B-492B-8EB9-B50ED75419A6}" type="pres">
      <dgm:prSet presAssocID="{43444C7F-B0CC-41ED-B6D6-0621903A778C}" presName="node" presStyleLbl="node1" presStyleIdx="2" presStyleCnt="3">
        <dgm:presLayoutVars>
          <dgm:bulletEnabled val="1"/>
        </dgm:presLayoutVars>
      </dgm:prSet>
      <dgm:spPr/>
    </dgm:pt>
  </dgm:ptLst>
  <dgm:cxnLst>
    <dgm:cxn modelId="{A29F9B04-4C01-4432-BFED-E03ED09ABA1A}" type="presOf" srcId="{43444C7F-B0CC-41ED-B6D6-0621903A778C}" destId="{8405044B-FF4B-492B-8EB9-B50ED75419A6}" srcOrd="0" destOrd="0" presId="urn:microsoft.com/office/officeart/2005/8/layout/default"/>
    <dgm:cxn modelId="{CECB3811-9A47-46CB-B702-B351B306B95B}" srcId="{A81A49FF-2468-4223-ABE6-D9444EF7B1C3}" destId="{0C4FCFCB-2D89-4721-AB5C-63B94A0A380C}" srcOrd="0" destOrd="0" parTransId="{D63D5E7A-0D8E-4FF3-96CA-1F09943B543F}" sibTransId="{E412E1E8-6E96-42FA-AD9F-7D8A52DD7571}"/>
    <dgm:cxn modelId="{047EA014-8F1E-45D4-9BB6-6979D823383E}" srcId="{F7AD7A26-2117-4A18-91E1-D3AD7DC8B6E8}" destId="{96BB13C9-6213-475B-BB61-900B7A5862FF}" srcOrd="0" destOrd="0" parTransId="{5AE9E198-7FB5-455D-8178-BD397F5DE3D0}" sibTransId="{85EE502F-8F10-4094-AC45-B065F07506CA}"/>
    <dgm:cxn modelId="{380B0E18-7CEB-44C9-9210-F867160E8D86}" type="presOf" srcId="{96BB13C9-6213-475B-BB61-900B7A5862FF}" destId="{5A193EE4-A624-4D74-A044-301C03CB517C}" srcOrd="0" destOrd="1" presId="urn:microsoft.com/office/officeart/2005/8/layout/default"/>
    <dgm:cxn modelId="{83BD851B-3E5F-4A21-8AA3-A121D0AFF4CB}" type="presOf" srcId="{F7AD7A26-2117-4A18-91E1-D3AD7DC8B6E8}" destId="{5A193EE4-A624-4D74-A044-301C03CB517C}" srcOrd="0" destOrd="0" presId="urn:microsoft.com/office/officeart/2005/8/layout/default"/>
    <dgm:cxn modelId="{1A7F7C21-5391-4ABE-822A-1E52DA7F0FE3}" type="presOf" srcId="{BD0320CC-A7D5-4FAB-9B99-5A6AD8CAA9C4}" destId="{5A193EE4-A624-4D74-A044-301C03CB517C}" srcOrd="0" destOrd="3" presId="urn:microsoft.com/office/officeart/2005/8/layout/default"/>
    <dgm:cxn modelId="{C9E28E26-442C-4433-885C-975B1878B756}" srcId="{F7AD7A26-2117-4A18-91E1-D3AD7DC8B6E8}" destId="{12F4C71D-465F-4D17-9CC2-8D778EB01F7D}" srcOrd="1" destOrd="0" parTransId="{8D32A4EB-EF20-4E10-BEAB-1D012E999C69}" sibTransId="{DB99372E-31F7-4B5D-A6D3-6D8354BB5679}"/>
    <dgm:cxn modelId="{95FF4946-4956-4F75-A0B7-F9FDF32D2DD2}" srcId="{F7AD7A26-2117-4A18-91E1-D3AD7DC8B6E8}" destId="{BD0320CC-A7D5-4FAB-9B99-5A6AD8CAA9C4}" srcOrd="2" destOrd="0" parTransId="{4335F1BE-1A8E-42E6-A2A1-633F8F8FBD57}" sibTransId="{AC58D4CE-60A6-424A-9B95-E0848F5D844C}"/>
    <dgm:cxn modelId="{1B434B50-26B4-4DBE-8766-FEAF56C11772}" srcId="{A81A49FF-2468-4223-ABE6-D9444EF7B1C3}" destId="{43444C7F-B0CC-41ED-B6D6-0621903A778C}" srcOrd="2" destOrd="0" parTransId="{207ABAD2-02E7-4D03-B25C-7902C9679856}" sibTransId="{00D03D10-D420-43ED-9C46-BBDA8FF7A2C5}"/>
    <dgm:cxn modelId="{0BD260B8-A30F-467C-89EB-7504D3136ACA}" type="presOf" srcId="{A81A49FF-2468-4223-ABE6-D9444EF7B1C3}" destId="{F6339BE1-4FE5-48B2-B785-60B303B89151}" srcOrd="0" destOrd="0" presId="urn:microsoft.com/office/officeart/2005/8/layout/default"/>
    <dgm:cxn modelId="{71ABC1C3-B37A-430E-88E2-37A8F3724608}" type="presOf" srcId="{12F4C71D-465F-4D17-9CC2-8D778EB01F7D}" destId="{5A193EE4-A624-4D74-A044-301C03CB517C}" srcOrd="0" destOrd="2" presId="urn:microsoft.com/office/officeart/2005/8/layout/default"/>
    <dgm:cxn modelId="{181908D4-1C12-4661-9B9C-4FB866B29C2F}" type="presOf" srcId="{0C4FCFCB-2D89-4721-AB5C-63B94A0A380C}" destId="{5E3E26F5-C3EA-4088-B497-2CB28B5BDE59}" srcOrd="0" destOrd="0" presId="urn:microsoft.com/office/officeart/2005/8/layout/default"/>
    <dgm:cxn modelId="{2F9F9CD4-B6D1-456B-A52D-E011CFEE2A17}" srcId="{A81A49FF-2468-4223-ABE6-D9444EF7B1C3}" destId="{F7AD7A26-2117-4A18-91E1-D3AD7DC8B6E8}" srcOrd="1" destOrd="0" parTransId="{DA33BCB0-88D0-443F-BC34-195D20A276C0}" sibTransId="{84A93D1B-F962-42EF-8676-26AADFB29744}"/>
    <dgm:cxn modelId="{441BF033-B131-459E-9B6E-63B0E42BBD13}" type="presParOf" srcId="{F6339BE1-4FE5-48B2-B785-60B303B89151}" destId="{5E3E26F5-C3EA-4088-B497-2CB28B5BDE59}" srcOrd="0" destOrd="0" presId="urn:microsoft.com/office/officeart/2005/8/layout/default"/>
    <dgm:cxn modelId="{90535F28-7506-4AB9-91E3-41EEFD84FF15}" type="presParOf" srcId="{F6339BE1-4FE5-48B2-B785-60B303B89151}" destId="{92ECCD72-0276-492B-AEDA-FCB869305507}" srcOrd="1" destOrd="0" presId="urn:microsoft.com/office/officeart/2005/8/layout/default"/>
    <dgm:cxn modelId="{92ED8975-226D-4A70-A081-C55A68F96D53}" type="presParOf" srcId="{F6339BE1-4FE5-48B2-B785-60B303B89151}" destId="{5A193EE4-A624-4D74-A044-301C03CB517C}" srcOrd="2" destOrd="0" presId="urn:microsoft.com/office/officeart/2005/8/layout/default"/>
    <dgm:cxn modelId="{4980ECA4-C010-4B39-A5E6-203BA07950CE}" type="presParOf" srcId="{F6339BE1-4FE5-48B2-B785-60B303B89151}" destId="{0AF7F769-A219-491A-AB61-81D3B6F4B5E3}" srcOrd="3" destOrd="0" presId="urn:microsoft.com/office/officeart/2005/8/layout/default"/>
    <dgm:cxn modelId="{0DF0ACBB-9A27-426B-84EC-D5BC8F1157F3}" type="presParOf" srcId="{F6339BE1-4FE5-48B2-B785-60B303B89151}" destId="{8405044B-FF4B-492B-8EB9-B50ED75419A6}"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C61F5B-F2D9-46D7-AB5E-47B03005101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75C3ED5-1391-49E9-96B3-40B3EEA57E13}">
      <dgm:prSet/>
      <dgm:spPr/>
      <dgm:t>
        <a:bodyPr/>
        <a:lstStyle/>
        <a:p>
          <a:r>
            <a:rPr lang="en-US"/>
            <a:t>We use:</a:t>
          </a:r>
        </a:p>
      </dgm:t>
    </dgm:pt>
    <dgm:pt modelId="{F9253702-60F4-464F-BDAE-E8848C4BAB63}" type="parTrans" cxnId="{1477F33C-BE4E-4D03-A3C2-FBE462F0507D}">
      <dgm:prSet/>
      <dgm:spPr/>
      <dgm:t>
        <a:bodyPr/>
        <a:lstStyle/>
        <a:p>
          <a:endParaRPr lang="en-US"/>
        </a:p>
      </dgm:t>
    </dgm:pt>
    <dgm:pt modelId="{5F292890-1541-4BF0-A8F6-00A6649E3C78}" type="sibTrans" cxnId="{1477F33C-BE4E-4D03-A3C2-FBE462F0507D}">
      <dgm:prSet/>
      <dgm:spPr/>
      <dgm:t>
        <a:bodyPr/>
        <a:lstStyle/>
        <a:p>
          <a:endParaRPr lang="en-US"/>
        </a:p>
      </dgm:t>
    </dgm:pt>
    <dgm:pt modelId="{178B5203-EA3A-44C7-B430-31060658FAFC}">
      <dgm:prSet/>
      <dgm:spPr/>
      <dgm:t>
        <a:bodyPr/>
        <a:lstStyle/>
        <a:p>
          <a:r>
            <a:rPr lang="en-US"/>
            <a:t>Train/Test split</a:t>
          </a:r>
        </a:p>
      </dgm:t>
    </dgm:pt>
    <dgm:pt modelId="{DDB26AF7-3511-4955-9945-C117DF8A6353}" type="parTrans" cxnId="{4176BECB-C688-4138-B566-87A396E4A3AA}">
      <dgm:prSet/>
      <dgm:spPr/>
      <dgm:t>
        <a:bodyPr/>
        <a:lstStyle/>
        <a:p>
          <a:endParaRPr lang="en-US"/>
        </a:p>
      </dgm:t>
    </dgm:pt>
    <dgm:pt modelId="{30FBCCE9-8709-4708-9994-D9E6190F25D1}" type="sibTrans" cxnId="{4176BECB-C688-4138-B566-87A396E4A3AA}">
      <dgm:prSet/>
      <dgm:spPr/>
      <dgm:t>
        <a:bodyPr/>
        <a:lstStyle/>
        <a:p>
          <a:endParaRPr lang="en-US"/>
        </a:p>
      </dgm:t>
    </dgm:pt>
    <dgm:pt modelId="{56AD9CB4-B7C9-472A-AF78-C8C8EE013BDC}">
      <dgm:prSet/>
      <dgm:spPr/>
      <dgm:t>
        <a:bodyPr/>
        <a:lstStyle/>
        <a:p>
          <a:r>
            <a:rPr lang="en-US"/>
            <a:t>Stratification on log price</a:t>
          </a:r>
        </a:p>
      </dgm:t>
    </dgm:pt>
    <dgm:pt modelId="{F48025D9-B499-4AD5-B6FA-D59107621585}" type="parTrans" cxnId="{F3DCBC50-7451-47AF-9839-7F2D26C26C96}">
      <dgm:prSet/>
      <dgm:spPr/>
      <dgm:t>
        <a:bodyPr/>
        <a:lstStyle/>
        <a:p>
          <a:endParaRPr lang="en-US"/>
        </a:p>
      </dgm:t>
    </dgm:pt>
    <dgm:pt modelId="{C3CF1E8E-D9AC-4D76-97C2-E29211BC2AB9}" type="sibTrans" cxnId="{F3DCBC50-7451-47AF-9839-7F2D26C26C96}">
      <dgm:prSet/>
      <dgm:spPr/>
      <dgm:t>
        <a:bodyPr/>
        <a:lstStyle/>
        <a:p>
          <a:endParaRPr lang="en-US"/>
        </a:p>
      </dgm:t>
    </dgm:pt>
    <dgm:pt modelId="{CFDF3166-607B-43A2-A5F2-95B0B27F7A8E}">
      <dgm:prSet/>
      <dgm:spPr/>
      <dgm:t>
        <a:bodyPr/>
        <a:lstStyle/>
        <a:p>
          <a:r>
            <a:rPr lang="en-US"/>
            <a:t>Cross-validated LASSO</a:t>
          </a:r>
        </a:p>
      </dgm:t>
    </dgm:pt>
    <dgm:pt modelId="{F5C86C7C-7808-400D-8FD4-76797299E080}" type="parTrans" cxnId="{81348BDF-7BF2-4AAB-A91F-1F75AADD22A9}">
      <dgm:prSet/>
      <dgm:spPr/>
      <dgm:t>
        <a:bodyPr/>
        <a:lstStyle/>
        <a:p>
          <a:endParaRPr lang="en-US"/>
        </a:p>
      </dgm:t>
    </dgm:pt>
    <dgm:pt modelId="{7F31BC77-0235-412E-9EC6-41880132F083}" type="sibTrans" cxnId="{81348BDF-7BF2-4AAB-A91F-1F75AADD22A9}">
      <dgm:prSet/>
      <dgm:spPr/>
      <dgm:t>
        <a:bodyPr/>
        <a:lstStyle/>
        <a:p>
          <a:endParaRPr lang="en-US"/>
        </a:p>
      </dgm:t>
    </dgm:pt>
    <dgm:pt modelId="{CAFC0A4B-D424-4972-91DA-AD205C53E9FD}">
      <dgm:prSet/>
      <dgm:spPr/>
      <dgm:t>
        <a:bodyPr/>
        <a:lstStyle/>
        <a:p>
          <a:r>
            <a:rPr lang="en-US"/>
            <a:t>RMSE &amp; MAE</a:t>
          </a:r>
        </a:p>
      </dgm:t>
    </dgm:pt>
    <dgm:pt modelId="{F26FCD60-CF70-4EB6-A052-C0B00CBECEC1}" type="parTrans" cxnId="{B8CED8FE-81B4-4411-AAA0-CCF0B1FBD62A}">
      <dgm:prSet/>
      <dgm:spPr/>
      <dgm:t>
        <a:bodyPr/>
        <a:lstStyle/>
        <a:p>
          <a:endParaRPr lang="en-US"/>
        </a:p>
      </dgm:t>
    </dgm:pt>
    <dgm:pt modelId="{13E0480E-CF61-4E62-852B-2202F3DFBFE9}" type="sibTrans" cxnId="{B8CED8FE-81B4-4411-AAA0-CCF0B1FBD62A}">
      <dgm:prSet/>
      <dgm:spPr/>
      <dgm:t>
        <a:bodyPr/>
        <a:lstStyle/>
        <a:p>
          <a:endParaRPr lang="en-US"/>
        </a:p>
      </dgm:t>
    </dgm:pt>
    <dgm:pt modelId="{13E5CF4D-6690-4800-A02C-DC07A771CE02}">
      <dgm:prSet/>
      <dgm:spPr/>
      <dgm:t>
        <a:bodyPr/>
        <a:lstStyle/>
        <a:p>
          <a:r>
            <a:rPr lang="en-US"/>
            <a:t>We compare to benchmarks to measure incremental value</a:t>
          </a:r>
        </a:p>
      </dgm:t>
    </dgm:pt>
    <dgm:pt modelId="{4475DA71-7711-46A9-8AF7-7943EFBA947E}" type="parTrans" cxnId="{DD492608-F286-4188-81D5-67644D17A65D}">
      <dgm:prSet/>
      <dgm:spPr/>
      <dgm:t>
        <a:bodyPr/>
        <a:lstStyle/>
        <a:p>
          <a:endParaRPr lang="en-US"/>
        </a:p>
      </dgm:t>
    </dgm:pt>
    <dgm:pt modelId="{F7E3C637-CD1C-4FD6-99B8-3151B03BEED3}" type="sibTrans" cxnId="{DD492608-F286-4188-81D5-67644D17A65D}">
      <dgm:prSet/>
      <dgm:spPr/>
      <dgm:t>
        <a:bodyPr/>
        <a:lstStyle/>
        <a:p>
          <a:endParaRPr lang="en-US"/>
        </a:p>
      </dgm:t>
    </dgm:pt>
    <dgm:pt modelId="{E660DAAA-6A0E-4F3E-B1BA-36CD2CE0FD02}">
      <dgm:prSet/>
      <dgm:spPr/>
      <dgm:t>
        <a:bodyPr/>
        <a:lstStyle/>
        <a:p>
          <a:r>
            <a:rPr lang="en-US"/>
            <a:t>This follows best practices from class.</a:t>
          </a:r>
        </a:p>
      </dgm:t>
    </dgm:pt>
    <dgm:pt modelId="{19DCC7A9-2FC0-484A-BA17-E0F2713DAF57}" type="parTrans" cxnId="{C98BEBD2-E41E-4C43-AF71-75AC9AE78FB1}">
      <dgm:prSet/>
      <dgm:spPr/>
      <dgm:t>
        <a:bodyPr/>
        <a:lstStyle/>
        <a:p>
          <a:endParaRPr lang="en-US"/>
        </a:p>
      </dgm:t>
    </dgm:pt>
    <dgm:pt modelId="{E8099924-B54E-459A-80A7-2A32DE92C34F}" type="sibTrans" cxnId="{C98BEBD2-E41E-4C43-AF71-75AC9AE78FB1}">
      <dgm:prSet/>
      <dgm:spPr/>
      <dgm:t>
        <a:bodyPr/>
        <a:lstStyle/>
        <a:p>
          <a:endParaRPr lang="en-US"/>
        </a:p>
      </dgm:t>
    </dgm:pt>
    <dgm:pt modelId="{C316FA19-B544-409E-B3BA-B17CDBAB61EF}" type="pres">
      <dgm:prSet presAssocID="{04C61F5B-F2D9-46D7-AB5E-47B03005101A}" presName="vert0" presStyleCnt="0">
        <dgm:presLayoutVars>
          <dgm:dir/>
          <dgm:animOne val="branch"/>
          <dgm:animLvl val="lvl"/>
        </dgm:presLayoutVars>
      </dgm:prSet>
      <dgm:spPr/>
    </dgm:pt>
    <dgm:pt modelId="{51DEF7C8-B99F-4D27-85D2-017E722F403B}" type="pres">
      <dgm:prSet presAssocID="{475C3ED5-1391-49E9-96B3-40B3EEA57E13}" presName="thickLine" presStyleLbl="alignNode1" presStyleIdx="0" presStyleCnt="3"/>
      <dgm:spPr/>
    </dgm:pt>
    <dgm:pt modelId="{3EA8426C-45B9-4E9A-8918-81F250E2181A}" type="pres">
      <dgm:prSet presAssocID="{475C3ED5-1391-49E9-96B3-40B3EEA57E13}" presName="horz1" presStyleCnt="0"/>
      <dgm:spPr/>
    </dgm:pt>
    <dgm:pt modelId="{B9F3AE2E-F846-463E-9B6A-751CDEC27D9C}" type="pres">
      <dgm:prSet presAssocID="{475C3ED5-1391-49E9-96B3-40B3EEA57E13}" presName="tx1" presStyleLbl="revTx" presStyleIdx="0" presStyleCnt="7"/>
      <dgm:spPr/>
    </dgm:pt>
    <dgm:pt modelId="{FE731D88-F7E7-448E-A684-5E17F8D9A8F1}" type="pres">
      <dgm:prSet presAssocID="{475C3ED5-1391-49E9-96B3-40B3EEA57E13}" presName="vert1" presStyleCnt="0"/>
      <dgm:spPr/>
    </dgm:pt>
    <dgm:pt modelId="{07E4D908-36D0-4D08-A090-1600DE846A5F}" type="pres">
      <dgm:prSet presAssocID="{178B5203-EA3A-44C7-B430-31060658FAFC}" presName="vertSpace2a" presStyleCnt="0"/>
      <dgm:spPr/>
    </dgm:pt>
    <dgm:pt modelId="{716FB4BF-0810-4528-AF3B-FCCBFFA9253B}" type="pres">
      <dgm:prSet presAssocID="{178B5203-EA3A-44C7-B430-31060658FAFC}" presName="horz2" presStyleCnt="0"/>
      <dgm:spPr/>
    </dgm:pt>
    <dgm:pt modelId="{D0497DFC-3E89-471E-A26E-55B3D0E19431}" type="pres">
      <dgm:prSet presAssocID="{178B5203-EA3A-44C7-B430-31060658FAFC}" presName="horzSpace2" presStyleCnt="0"/>
      <dgm:spPr/>
    </dgm:pt>
    <dgm:pt modelId="{FC060EDE-B47E-48BB-9EFA-DF3CE8B6C2EE}" type="pres">
      <dgm:prSet presAssocID="{178B5203-EA3A-44C7-B430-31060658FAFC}" presName="tx2" presStyleLbl="revTx" presStyleIdx="1" presStyleCnt="7"/>
      <dgm:spPr/>
    </dgm:pt>
    <dgm:pt modelId="{34E9F828-E331-4771-9857-D7ECB6D4BE23}" type="pres">
      <dgm:prSet presAssocID="{178B5203-EA3A-44C7-B430-31060658FAFC}" presName="vert2" presStyleCnt="0"/>
      <dgm:spPr/>
    </dgm:pt>
    <dgm:pt modelId="{35ED0155-BDBA-4AB2-B269-ACBEF0B7059F}" type="pres">
      <dgm:prSet presAssocID="{178B5203-EA3A-44C7-B430-31060658FAFC}" presName="thinLine2b" presStyleLbl="callout" presStyleIdx="0" presStyleCnt="4"/>
      <dgm:spPr/>
    </dgm:pt>
    <dgm:pt modelId="{85FC8A9E-CF38-4ED1-A1C5-04E076378C48}" type="pres">
      <dgm:prSet presAssocID="{178B5203-EA3A-44C7-B430-31060658FAFC}" presName="vertSpace2b" presStyleCnt="0"/>
      <dgm:spPr/>
    </dgm:pt>
    <dgm:pt modelId="{8A00EA24-E5EE-45E0-B9B0-A77FC07B03DF}" type="pres">
      <dgm:prSet presAssocID="{56AD9CB4-B7C9-472A-AF78-C8C8EE013BDC}" presName="horz2" presStyleCnt="0"/>
      <dgm:spPr/>
    </dgm:pt>
    <dgm:pt modelId="{436B2288-12D0-409B-9506-03330FB35016}" type="pres">
      <dgm:prSet presAssocID="{56AD9CB4-B7C9-472A-AF78-C8C8EE013BDC}" presName="horzSpace2" presStyleCnt="0"/>
      <dgm:spPr/>
    </dgm:pt>
    <dgm:pt modelId="{E99925C6-34E1-479F-8E9C-FDC8012A8642}" type="pres">
      <dgm:prSet presAssocID="{56AD9CB4-B7C9-472A-AF78-C8C8EE013BDC}" presName="tx2" presStyleLbl="revTx" presStyleIdx="2" presStyleCnt="7"/>
      <dgm:spPr/>
    </dgm:pt>
    <dgm:pt modelId="{D5741FF8-FC64-473D-8CD5-F2C41278E563}" type="pres">
      <dgm:prSet presAssocID="{56AD9CB4-B7C9-472A-AF78-C8C8EE013BDC}" presName="vert2" presStyleCnt="0"/>
      <dgm:spPr/>
    </dgm:pt>
    <dgm:pt modelId="{2BD7916D-36DE-45CF-93BB-FEE04E3E7AC2}" type="pres">
      <dgm:prSet presAssocID="{56AD9CB4-B7C9-472A-AF78-C8C8EE013BDC}" presName="thinLine2b" presStyleLbl="callout" presStyleIdx="1" presStyleCnt="4"/>
      <dgm:spPr/>
    </dgm:pt>
    <dgm:pt modelId="{E8EF094C-8A49-4145-B2FC-BF827CD90854}" type="pres">
      <dgm:prSet presAssocID="{56AD9CB4-B7C9-472A-AF78-C8C8EE013BDC}" presName="vertSpace2b" presStyleCnt="0"/>
      <dgm:spPr/>
    </dgm:pt>
    <dgm:pt modelId="{CF0C59ED-D53F-4513-AAF0-F44EED55C060}" type="pres">
      <dgm:prSet presAssocID="{CFDF3166-607B-43A2-A5F2-95B0B27F7A8E}" presName="horz2" presStyleCnt="0"/>
      <dgm:spPr/>
    </dgm:pt>
    <dgm:pt modelId="{1FFC5FE0-E176-4342-B3D2-E7D24C0B3DFC}" type="pres">
      <dgm:prSet presAssocID="{CFDF3166-607B-43A2-A5F2-95B0B27F7A8E}" presName="horzSpace2" presStyleCnt="0"/>
      <dgm:spPr/>
    </dgm:pt>
    <dgm:pt modelId="{415F04FB-F745-4915-9B92-A84E41F1320E}" type="pres">
      <dgm:prSet presAssocID="{CFDF3166-607B-43A2-A5F2-95B0B27F7A8E}" presName="tx2" presStyleLbl="revTx" presStyleIdx="3" presStyleCnt="7"/>
      <dgm:spPr/>
    </dgm:pt>
    <dgm:pt modelId="{59FCA0E7-E103-4AD7-A1C0-65F74FBFAE4C}" type="pres">
      <dgm:prSet presAssocID="{CFDF3166-607B-43A2-A5F2-95B0B27F7A8E}" presName="vert2" presStyleCnt="0"/>
      <dgm:spPr/>
    </dgm:pt>
    <dgm:pt modelId="{4035B314-CB33-4873-8F76-95596F4D1B0B}" type="pres">
      <dgm:prSet presAssocID="{CFDF3166-607B-43A2-A5F2-95B0B27F7A8E}" presName="thinLine2b" presStyleLbl="callout" presStyleIdx="2" presStyleCnt="4"/>
      <dgm:spPr/>
    </dgm:pt>
    <dgm:pt modelId="{FCAEFD21-ABBB-4F7C-9913-3C5E7851C18E}" type="pres">
      <dgm:prSet presAssocID="{CFDF3166-607B-43A2-A5F2-95B0B27F7A8E}" presName="vertSpace2b" presStyleCnt="0"/>
      <dgm:spPr/>
    </dgm:pt>
    <dgm:pt modelId="{A7C6104D-5B45-4A4C-824F-6738D58E3875}" type="pres">
      <dgm:prSet presAssocID="{CAFC0A4B-D424-4972-91DA-AD205C53E9FD}" presName="horz2" presStyleCnt="0"/>
      <dgm:spPr/>
    </dgm:pt>
    <dgm:pt modelId="{8824358E-2CE0-46F2-B2D0-5641CDEF43C1}" type="pres">
      <dgm:prSet presAssocID="{CAFC0A4B-D424-4972-91DA-AD205C53E9FD}" presName="horzSpace2" presStyleCnt="0"/>
      <dgm:spPr/>
    </dgm:pt>
    <dgm:pt modelId="{ED717AA7-812E-482C-82E6-DD8BD982E162}" type="pres">
      <dgm:prSet presAssocID="{CAFC0A4B-D424-4972-91DA-AD205C53E9FD}" presName="tx2" presStyleLbl="revTx" presStyleIdx="4" presStyleCnt="7"/>
      <dgm:spPr/>
    </dgm:pt>
    <dgm:pt modelId="{8924AB8A-0B54-4C44-ABC3-090690B070EB}" type="pres">
      <dgm:prSet presAssocID="{CAFC0A4B-D424-4972-91DA-AD205C53E9FD}" presName="vert2" presStyleCnt="0"/>
      <dgm:spPr/>
    </dgm:pt>
    <dgm:pt modelId="{17138AFC-BB6A-4B50-83CB-7F158AC1C3C0}" type="pres">
      <dgm:prSet presAssocID="{CAFC0A4B-D424-4972-91DA-AD205C53E9FD}" presName="thinLine2b" presStyleLbl="callout" presStyleIdx="3" presStyleCnt="4"/>
      <dgm:spPr/>
    </dgm:pt>
    <dgm:pt modelId="{9B4F7597-8B42-4BD7-86FC-629C8F557648}" type="pres">
      <dgm:prSet presAssocID="{CAFC0A4B-D424-4972-91DA-AD205C53E9FD}" presName="vertSpace2b" presStyleCnt="0"/>
      <dgm:spPr/>
    </dgm:pt>
    <dgm:pt modelId="{005AED7A-35C0-499D-936C-52746BC6433F}" type="pres">
      <dgm:prSet presAssocID="{13E5CF4D-6690-4800-A02C-DC07A771CE02}" presName="thickLine" presStyleLbl="alignNode1" presStyleIdx="1" presStyleCnt="3"/>
      <dgm:spPr/>
    </dgm:pt>
    <dgm:pt modelId="{4D8246CB-2832-4D4C-B664-4A839297325B}" type="pres">
      <dgm:prSet presAssocID="{13E5CF4D-6690-4800-A02C-DC07A771CE02}" presName="horz1" presStyleCnt="0"/>
      <dgm:spPr/>
    </dgm:pt>
    <dgm:pt modelId="{05411F0D-F595-47B4-9513-9F93F964E8EA}" type="pres">
      <dgm:prSet presAssocID="{13E5CF4D-6690-4800-A02C-DC07A771CE02}" presName="tx1" presStyleLbl="revTx" presStyleIdx="5" presStyleCnt="7"/>
      <dgm:spPr/>
    </dgm:pt>
    <dgm:pt modelId="{BD783EE9-1990-402C-B4DE-3CFE81F5BBBC}" type="pres">
      <dgm:prSet presAssocID="{13E5CF4D-6690-4800-A02C-DC07A771CE02}" presName="vert1" presStyleCnt="0"/>
      <dgm:spPr/>
    </dgm:pt>
    <dgm:pt modelId="{2E2BF405-7671-4A4B-AB9D-23A41A200989}" type="pres">
      <dgm:prSet presAssocID="{E660DAAA-6A0E-4F3E-B1BA-36CD2CE0FD02}" presName="thickLine" presStyleLbl="alignNode1" presStyleIdx="2" presStyleCnt="3"/>
      <dgm:spPr/>
    </dgm:pt>
    <dgm:pt modelId="{EAACFAFF-7C1C-458F-8DF4-64F81D0E8315}" type="pres">
      <dgm:prSet presAssocID="{E660DAAA-6A0E-4F3E-B1BA-36CD2CE0FD02}" presName="horz1" presStyleCnt="0"/>
      <dgm:spPr/>
    </dgm:pt>
    <dgm:pt modelId="{A89E1196-CB64-4520-B62C-924F01882DA9}" type="pres">
      <dgm:prSet presAssocID="{E660DAAA-6A0E-4F3E-B1BA-36CD2CE0FD02}" presName="tx1" presStyleLbl="revTx" presStyleIdx="6" presStyleCnt="7"/>
      <dgm:spPr/>
    </dgm:pt>
    <dgm:pt modelId="{B34A4295-D395-4F89-BF6C-0AB72090AD8D}" type="pres">
      <dgm:prSet presAssocID="{E660DAAA-6A0E-4F3E-B1BA-36CD2CE0FD02}" presName="vert1" presStyleCnt="0"/>
      <dgm:spPr/>
    </dgm:pt>
  </dgm:ptLst>
  <dgm:cxnLst>
    <dgm:cxn modelId="{DD492608-F286-4188-81D5-67644D17A65D}" srcId="{04C61F5B-F2D9-46D7-AB5E-47B03005101A}" destId="{13E5CF4D-6690-4800-A02C-DC07A771CE02}" srcOrd="1" destOrd="0" parTransId="{4475DA71-7711-46A9-8AF7-7943EFBA947E}" sibTransId="{F7E3C637-CD1C-4FD6-99B8-3151B03BEED3}"/>
    <dgm:cxn modelId="{1043540A-7A88-422D-B2AA-BC8C5C5DD022}" type="presOf" srcId="{CAFC0A4B-D424-4972-91DA-AD205C53E9FD}" destId="{ED717AA7-812E-482C-82E6-DD8BD982E162}" srcOrd="0" destOrd="0" presId="urn:microsoft.com/office/officeart/2008/layout/LinedList"/>
    <dgm:cxn modelId="{B1F1E526-C7A7-45BD-A61D-A51055622C49}" type="presOf" srcId="{475C3ED5-1391-49E9-96B3-40B3EEA57E13}" destId="{B9F3AE2E-F846-463E-9B6A-751CDEC27D9C}" srcOrd="0" destOrd="0" presId="urn:microsoft.com/office/officeart/2008/layout/LinedList"/>
    <dgm:cxn modelId="{1477F33C-BE4E-4D03-A3C2-FBE462F0507D}" srcId="{04C61F5B-F2D9-46D7-AB5E-47B03005101A}" destId="{475C3ED5-1391-49E9-96B3-40B3EEA57E13}" srcOrd="0" destOrd="0" parTransId="{F9253702-60F4-464F-BDAE-E8848C4BAB63}" sibTransId="{5F292890-1541-4BF0-A8F6-00A6649E3C78}"/>
    <dgm:cxn modelId="{8AAA583E-D16B-4CA9-AAFD-857194EE319F}" type="presOf" srcId="{CFDF3166-607B-43A2-A5F2-95B0B27F7A8E}" destId="{415F04FB-F745-4915-9B92-A84E41F1320E}" srcOrd="0" destOrd="0" presId="urn:microsoft.com/office/officeart/2008/layout/LinedList"/>
    <dgm:cxn modelId="{5FED6E4F-68C4-4924-BAD6-1245E85FBDD4}" type="presOf" srcId="{56AD9CB4-B7C9-472A-AF78-C8C8EE013BDC}" destId="{E99925C6-34E1-479F-8E9C-FDC8012A8642}" srcOrd="0" destOrd="0" presId="urn:microsoft.com/office/officeart/2008/layout/LinedList"/>
    <dgm:cxn modelId="{F3DCBC50-7451-47AF-9839-7F2D26C26C96}" srcId="{475C3ED5-1391-49E9-96B3-40B3EEA57E13}" destId="{56AD9CB4-B7C9-472A-AF78-C8C8EE013BDC}" srcOrd="1" destOrd="0" parTransId="{F48025D9-B499-4AD5-B6FA-D59107621585}" sibTransId="{C3CF1E8E-D9AC-4D76-97C2-E29211BC2AB9}"/>
    <dgm:cxn modelId="{951B4B8C-C376-49A7-8E14-A757CC286687}" type="presOf" srcId="{E660DAAA-6A0E-4F3E-B1BA-36CD2CE0FD02}" destId="{A89E1196-CB64-4520-B62C-924F01882DA9}" srcOrd="0" destOrd="0" presId="urn:microsoft.com/office/officeart/2008/layout/LinedList"/>
    <dgm:cxn modelId="{C416A8A1-96BD-4E90-B00B-AFDDEBB1A081}" type="presOf" srcId="{13E5CF4D-6690-4800-A02C-DC07A771CE02}" destId="{05411F0D-F595-47B4-9513-9F93F964E8EA}" srcOrd="0" destOrd="0" presId="urn:microsoft.com/office/officeart/2008/layout/LinedList"/>
    <dgm:cxn modelId="{64DEC0B1-4751-4135-9F03-DAF94EAADD73}" type="presOf" srcId="{04C61F5B-F2D9-46D7-AB5E-47B03005101A}" destId="{C316FA19-B544-409E-B3BA-B17CDBAB61EF}" srcOrd="0" destOrd="0" presId="urn:microsoft.com/office/officeart/2008/layout/LinedList"/>
    <dgm:cxn modelId="{16E5FDBC-3261-45CB-8E44-AD03F7CCD9AD}" type="presOf" srcId="{178B5203-EA3A-44C7-B430-31060658FAFC}" destId="{FC060EDE-B47E-48BB-9EFA-DF3CE8B6C2EE}" srcOrd="0" destOrd="0" presId="urn:microsoft.com/office/officeart/2008/layout/LinedList"/>
    <dgm:cxn modelId="{4176BECB-C688-4138-B566-87A396E4A3AA}" srcId="{475C3ED5-1391-49E9-96B3-40B3EEA57E13}" destId="{178B5203-EA3A-44C7-B430-31060658FAFC}" srcOrd="0" destOrd="0" parTransId="{DDB26AF7-3511-4955-9945-C117DF8A6353}" sibTransId="{30FBCCE9-8709-4708-9994-D9E6190F25D1}"/>
    <dgm:cxn modelId="{C98BEBD2-E41E-4C43-AF71-75AC9AE78FB1}" srcId="{04C61F5B-F2D9-46D7-AB5E-47B03005101A}" destId="{E660DAAA-6A0E-4F3E-B1BA-36CD2CE0FD02}" srcOrd="2" destOrd="0" parTransId="{19DCC7A9-2FC0-484A-BA17-E0F2713DAF57}" sibTransId="{E8099924-B54E-459A-80A7-2A32DE92C34F}"/>
    <dgm:cxn modelId="{81348BDF-7BF2-4AAB-A91F-1F75AADD22A9}" srcId="{475C3ED5-1391-49E9-96B3-40B3EEA57E13}" destId="{CFDF3166-607B-43A2-A5F2-95B0B27F7A8E}" srcOrd="2" destOrd="0" parTransId="{F5C86C7C-7808-400D-8FD4-76797299E080}" sibTransId="{7F31BC77-0235-412E-9EC6-41880132F083}"/>
    <dgm:cxn modelId="{B8CED8FE-81B4-4411-AAA0-CCF0B1FBD62A}" srcId="{475C3ED5-1391-49E9-96B3-40B3EEA57E13}" destId="{CAFC0A4B-D424-4972-91DA-AD205C53E9FD}" srcOrd="3" destOrd="0" parTransId="{F26FCD60-CF70-4EB6-A052-C0B00CBECEC1}" sibTransId="{13E0480E-CF61-4E62-852B-2202F3DFBFE9}"/>
    <dgm:cxn modelId="{662FD479-E4CC-40D1-8722-61BDF4820A25}" type="presParOf" srcId="{C316FA19-B544-409E-B3BA-B17CDBAB61EF}" destId="{51DEF7C8-B99F-4D27-85D2-017E722F403B}" srcOrd="0" destOrd="0" presId="urn:microsoft.com/office/officeart/2008/layout/LinedList"/>
    <dgm:cxn modelId="{F993D935-165E-47B0-BB8D-8EC586CA7BF1}" type="presParOf" srcId="{C316FA19-B544-409E-B3BA-B17CDBAB61EF}" destId="{3EA8426C-45B9-4E9A-8918-81F250E2181A}" srcOrd="1" destOrd="0" presId="urn:microsoft.com/office/officeart/2008/layout/LinedList"/>
    <dgm:cxn modelId="{1698FC47-0409-4CB9-8BFA-59FDA96AAF1F}" type="presParOf" srcId="{3EA8426C-45B9-4E9A-8918-81F250E2181A}" destId="{B9F3AE2E-F846-463E-9B6A-751CDEC27D9C}" srcOrd="0" destOrd="0" presId="urn:microsoft.com/office/officeart/2008/layout/LinedList"/>
    <dgm:cxn modelId="{BE4C62FA-A89C-4A1D-B43B-6E5514318E81}" type="presParOf" srcId="{3EA8426C-45B9-4E9A-8918-81F250E2181A}" destId="{FE731D88-F7E7-448E-A684-5E17F8D9A8F1}" srcOrd="1" destOrd="0" presId="urn:microsoft.com/office/officeart/2008/layout/LinedList"/>
    <dgm:cxn modelId="{FE1FB2D7-2212-4D39-A9B8-89D4FA2B064B}" type="presParOf" srcId="{FE731D88-F7E7-448E-A684-5E17F8D9A8F1}" destId="{07E4D908-36D0-4D08-A090-1600DE846A5F}" srcOrd="0" destOrd="0" presId="urn:microsoft.com/office/officeart/2008/layout/LinedList"/>
    <dgm:cxn modelId="{F7C93F82-BD97-4368-B2CD-F6C17F6B4EEC}" type="presParOf" srcId="{FE731D88-F7E7-448E-A684-5E17F8D9A8F1}" destId="{716FB4BF-0810-4528-AF3B-FCCBFFA9253B}" srcOrd="1" destOrd="0" presId="urn:microsoft.com/office/officeart/2008/layout/LinedList"/>
    <dgm:cxn modelId="{E3A3E229-7438-45EC-8FBE-567CEC1B678B}" type="presParOf" srcId="{716FB4BF-0810-4528-AF3B-FCCBFFA9253B}" destId="{D0497DFC-3E89-471E-A26E-55B3D0E19431}" srcOrd="0" destOrd="0" presId="urn:microsoft.com/office/officeart/2008/layout/LinedList"/>
    <dgm:cxn modelId="{70FA16F9-ED87-48C7-90B6-1B73E2A00970}" type="presParOf" srcId="{716FB4BF-0810-4528-AF3B-FCCBFFA9253B}" destId="{FC060EDE-B47E-48BB-9EFA-DF3CE8B6C2EE}" srcOrd="1" destOrd="0" presId="urn:microsoft.com/office/officeart/2008/layout/LinedList"/>
    <dgm:cxn modelId="{C4AD034B-9D33-457E-885C-76E2B43320BA}" type="presParOf" srcId="{716FB4BF-0810-4528-AF3B-FCCBFFA9253B}" destId="{34E9F828-E331-4771-9857-D7ECB6D4BE23}" srcOrd="2" destOrd="0" presId="urn:microsoft.com/office/officeart/2008/layout/LinedList"/>
    <dgm:cxn modelId="{3A24C7BC-ED03-4457-877A-C17D3945D4B7}" type="presParOf" srcId="{FE731D88-F7E7-448E-A684-5E17F8D9A8F1}" destId="{35ED0155-BDBA-4AB2-B269-ACBEF0B7059F}" srcOrd="2" destOrd="0" presId="urn:microsoft.com/office/officeart/2008/layout/LinedList"/>
    <dgm:cxn modelId="{684509E1-48B0-4CC2-A536-44C6B76980FF}" type="presParOf" srcId="{FE731D88-F7E7-448E-A684-5E17F8D9A8F1}" destId="{85FC8A9E-CF38-4ED1-A1C5-04E076378C48}" srcOrd="3" destOrd="0" presId="urn:microsoft.com/office/officeart/2008/layout/LinedList"/>
    <dgm:cxn modelId="{4D94A701-9354-4071-86D0-F6564500A034}" type="presParOf" srcId="{FE731D88-F7E7-448E-A684-5E17F8D9A8F1}" destId="{8A00EA24-E5EE-45E0-B9B0-A77FC07B03DF}" srcOrd="4" destOrd="0" presId="urn:microsoft.com/office/officeart/2008/layout/LinedList"/>
    <dgm:cxn modelId="{1EF1593B-B2E7-4068-9664-D1B5BF860305}" type="presParOf" srcId="{8A00EA24-E5EE-45E0-B9B0-A77FC07B03DF}" destId="{436B2288-12D0-409B-9506-03330FB35016}" srcOrd="0" destOrd="0" presId="urn:microsoft.com/office/officeart/2008/layout/LinedList"/>
    <dgm:cxn modelId="{0B1AA367-6209-454D-AE14-8660EF4614A0}" type="presParOf" srcId="{8A00EA24-E5EE-45E0-B9B0-A77FC07B03DF}" destId="{E99925C6-34E1-479F-8E9C-FDC8012A8642}" srcOrd="1" destOrd="0" presId="urn:microsoft.com/office/officeart/2008/layout/LinedList"/>
    <dgm:cxn modelId="{342BF404-DA18-43F1-B4D8-34CF8EEF2B74}" type="presParOf" srcId="{8A00EA24-E5EE-45E0-B9B0-A77FC07B03DF}" destId="{D5741FF8-FC64-473D-8CD5-F2C41278E563}" srcOrd="2" destOrd="0" presId="urn:microsoft.com/office/officeart/2008/layout/LinedList"/>
    <dgm:cxn modelId="{634E6875-6B24-4F37-B954-C14D6FD57795}" type="presParOf" srcId="{FE731D88-F7E7-448E-A684-5E17F8D9A8F1}" destId="{2BD7916D-36DE-45CF-93BB-FEE04E3E7AC2}" srcOrd="5" destOrd="0" presId="urn:microsoft.com/office/officeart/2008/layout/LinedList"/>
    <dgm:cxn modelId="{1A276715-18BD-496C-9443-644C421046C8}" type="presParOf" srcId="{FE731D88-F7E7-448E-A684-5E17F8D9A8F1}" destId="{E8EF094C-8A49-4145-B2FC-BF827CD90854}" srcOrd="6" destOrd="0" presId="urn:microsoft.com/office/officeart/2008/layout/LinedList"/>
    <dgm:cxn modelId="{2955CAA2-001A-4032-B14F-830AB6C53769}" type="presParOf" srcId="{FE731D88-F7E7-448E-A684-5E17F8D9A8F1}" destId="{CF0C59ED-D53F-4513-AAF0-F44EED55C060}" srcOrd="7" destOrd="0" presId="urn:microsoft.com/office/officeart/2008/layout/LinedList"/>
    <dgm:cxn modelId="{86FD54A2-35DC-46E5-BAF2-200F17EA6689}" type="presParOf" srcId="{CF0C59ED-D53F-4513-AAF0-F44EED55C060}" destId="{1FFC5FE0-E176-4342-B3D2-E7D24C0B3DFC}" srcOrd="0" destOrd="0" presId="urn:microsoft.com/office/officeart/2008/layout/LinedList"/>
    <dgm:cxn modelId="{3A15ADA5-6097-4CA4-B421-01CCDBC04B2D}" type="presParOf" srcId="{CF0C59ED-D53F-4513-AAF0-F44EED55C060}" destId="{415F04FB-F745-4915-9B92-A84E41F1320E}" srcOrd="1" destOrd="0" presId="urn:microsoft.com/office/officeart/2008/layout/LinedList"/>
    <dgm:cxn modelId="{11DF65F0-8934-4253-BF01-1A0E1257F1A3}" type="presParOf" srcId="{CF0C59ED-D53F-4513-AAF0-F44EED55C060}" destId="{59FCA0E7-E103-4AD7-A1C0-65F74FBFAE4C}" srcOrd="2" destOrd="0" presId="urn:microsoft.com/office/officeart/2008/layout/LinedList"/>
    <dgm:cxn modelId="{5825406E-847D-4629-90C5-1714A6D9FAEE}" type="presParOf" srcId="{FE731D88-F7E7-448E-A684-5E17F8D9A8F1}" destId="{4035B314-CB33-4873-8F76-95596F4D1B0B}" srcOrd="8" destOrd="0" presId="urn:microsoft.com/office/officeart/2008/layout/LinedList"/>
    <dgm:cxn modelId="{F7FED7D7-1768-4135-96B7-4F292A74C08B}" type="presParOf" srcId="{FE731D88-F7E7-448E-A684-5E17F8D9A8F1}" destId="{FCAEFD21-ABBB-4F7C-9913-3C5E7851C18E}" srcOrd="9" destOrd="0" presId="urn:microsoft.com/office/officeart/2008/layout/LinedList"/>
    <dgm:cxn modelId="{375C146D-5B28-4191-89C0-6DB52C53EAAD}" type="presParOf" srcId="{FE731D88-F7E7-448E-A684-5E17F8D9A8F1}" destId="{A7C6104D-5B45-4A4C-824F-6738D58E3875}" srcOrd="10" destOrd="0" presId="urn:microsoft.com/office/officeart/2008/layout/LinedList"/>
    <dgm:cxn modelId="{EE0A9458-76B9-4BB0-9F7E-126D1076E8FD}" type="presParOf" srcId="{A7C6104D-5B45-4A4C-824F-6738D58E3875}" destId="{8824358E-2CE0-46F2-B2D0-5641CDEF43C1}" srcOrd="0" destOrd="0" presId="urn:microsoft.com/office/officeart/2008/layout/LinedList"/>
    <dgm:cxn modelId="{B3D30564-4CD4-4F99-BD87-26F793E488C8}" type="presParOf" srcId="{A7C6104D-5B45-4A4C-824F-6738D58E3875}" destId="{ED717AA7-812E-482C-82E6-DD8BD982E162}" srcOrd="1" destOrd="0" presId="urn:microsoft.com/office/officeart/2008/layout/LinedList"/>
    <dgm:cxn modelId="{91398122-C0FB-4AF6-B22C-5DC770167AC5}" type="presParOf" srcId="{A7C6104D-5B45-4A4C-824F-6738D58E3875}" destId="{8924AB8A-0B54-4C44-ABC3-090690B070EB}" srcOrd="2" destOrd="0" presId="urn:microsoft.com/office/officeart/2008/layout/LinedList"/>
    <dgm:cxn modelId="{C25C0ACA-5479-4DFE-BA91-C5723C3092DC}" type="presParOf" srcId="{FE731D88-F7E7-448E-A684-5E17F8D9A8F1}" destId="{17138AFC-BB6A-4B50-83CB-7F158AC1C3C0}" srcOrd="11" destOrd="0" presId="urn:microsoft.com/office/officeart/2008/layout/LinedList"/>
    <dgm:cxn modelId="{92BB82D2-E8CD-4234-BAEE-F4D50104377A}" type="presParOf" srcId="{FE731D88-F7E7-448E-A684-5E17F8D9A8F1}" destId="{9B4F7597-8B42-4BD7-86FC-629C8F557648}" srcOrd="12" destOrd="0" presId="urn:microsoft.com/office/officeart/2008/layout/LinedList"/>
    <dgm:cxn modelId="{3BB702D1-2431-4104-B377-70215FE32DCD}" type="presParOf" srcId="{C316FA19-B544-409E-B3BA-B17CDBAB61EF}" destId="{005AED7A-35C0-499D-936C-52746BC6433F}" srcOrd="2" destOrd="0" presId="urn:microsoft.com/office/officeart/2008/layout/LinedList"/>
    <dgm:cxn modelId="{4DD11936-4E02-4D2F-947B-2BBEF168CA30}" type="presParOf" srcId="{C316FA19-B544-409E-B3BA-B17CDBAB61EF}" destId="{4D8246CB-2832-4D4C-B664-4A839297325B}" srcOrd="3" destOrd="0" presId="urn:microsoft.com/office/officeart/2008/layout/LinedList"/>
    <dgm:cxn modelId="{B425EBD9-5D1F-431E-B172-1EF5C389C62B}" type="presParOf" srcId="{4D8246CB-2832-4D4C-B664-4A839297325B}" destId="{05411F0D-F595-47B4-9513-9F93F964E8EA}" srcOrd="0" destOrd="0" presId="urn:microsoft.com/office/officeart/2008/layout/LinedList"/>
    <dgm:cxn modelId="{EC93A646-ECE5-4C90-957F-595B9D59B400}" type="presParOf" srcId="{4D8246CB-2832-4D4C-B664-4A839297325B}" destId="{BD783EE9-1990-402C-B4DE-3CFE81F5BBBC}" srcOrd="1" destOrd="0" presId="urn:microsoft.com/office/officeart/2008/layout/LinedList"/>
    <dgm:cxn modelId="{CFDF29B4-6677-4FBE-B49B-479E403AB815}" type="presParOf" srcId="{C316FA19-B544-409E-B3BA-B17CDBAB61EF}" destId="{2E2BF405-7671-4A4B-AB9D-23A41A200989}" srcOrd="4" destOrd="0" presId="urn:microsoft.com/office/officeart/2008/layout/LinedList"/>
    <dgm:cxn modelId="{906621EF-3C35-47BC-A39C-AD379369D7FC}" type="presParOf" srcId="{C316FA19-B544-409E-B3BA-B17CDBAB61EF}" destId="{EAACFAFF-7C1C-458F-8DF4-64F81D0E8315}" srcOrd="5" destOrd="0" presId="urn:microsoft.com/office/officeart/2008/layout/LinedList"/>
    <dgm:cxn modelId="{F4C65172-96F0-4493-96EE-09C6EAE42704}" type="presParOf" srcId="{EAACFAFF-7C1C-458F-8DF4-64F81D0E8315}" destId="{A89E1196-CB64-4520-B62C-924F01882DA9}" srcOrd="0" destOrd="0" presId="urn:microsoft.com/office/officeart/2008/layout/LinedList"/>
    <dgm:cxn modelId="{A44FB9AC-C539-43B4-86A0-D558F88E18B8}" type="presParOf" srcId="{EAACFAFF-7C1C-458F-8DF4-64F81D0E8315}" destId="{B34A4295-D395-4F89-BF6C-0AB72090AD8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53B91A-4C1D-4060-AF04-72AA0042D9EF}"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811E63E6-35D0-4DA2-881B-1ACC7FFC702D}">
      <dgm:prSet/>
      <dgm:spPr/>
      <dgm:t>
        <a:bodyPr/>
        <a:lstStyle/>
        <a:p>
          <a:r>
            <a:rPr lang="en-US" dirty="0"/>
            <a:t>When might this fail?</a:t>
          </a:r>
        </a:p>
      </dgm:t>
    </dgm:pt>
    <dgm:pt modelId="{8899E3B6-D91F-44B0-9B2C-0CAA1A48CF90}" type="parTrans" cxnId="{8BF9D3E5-388D-4DEC-95C5-F49D93E759F6}">
      <dgm:prSet/>
      <dgm:spPr/>
      <dgm:t>
        <a:bodyPr/>
        <a:lstStyle/>
        <a:p>
          <a:endParaRPr lang="en-US"/>
        </a:p>
      </dgm:t>
    </dgm:pt>
    <dgm:pt modelId="{BA5651CB-21B0-4018-B227-D38B77734B84}" type="sibTrans" cxnId="{8BF9D3E5-388D-4DEC-95C5-F49D93E759F6}">
      <dgm:prSet/>
      <dgm:spPr/>
      <dgm:t>
        <a:bodyPr/>
        <a:lstStyle/>
        <a:p>
          <a:endParaRPr lang="en-US"/>
        </a:p>
      </dgm:t>
    </dgm:pt>
    <dgm:pt modelId="{6F0A8F64-E692-417E-A2F6-7DA8968E6EBC}">
      <dgm:prSet/>
      <dgm:spPr/>
      <dgm:t>
        <a:bodyPr/>
        <a:lstStyle/>
        <a:p>
          <a:r>
            <a:rPr lang="en-US" dirty="0"/>
            <a:t>Extreme luxury listings</a:t>
          </a:r>
        </a:p>
      </dgm:t>
    </dgm:pt>
    <dgm:pt modelId="{C59B91B1-0D75-462F-A125-15B0906A5FCF}" type="parTrans" cxnId="{46FDD3EA-C285-478A-A20B-824D979E67EC}">
      <dgm:prSet/>
      <dgm:spPr/>
      <dgm:t>
        <a:bodyPr/>
        <a:lstStyle/>
        <a:p>
          <a:endParaRPr lang="en-US"/>
        </a:p>
      </dgm:t>
    </dgm:pt>
    <dgm:pt modelId="{6882B54A-71ED-420B-AFD6-A249F54E9D27}" type="sibTrans" cxnId="{46FDD3EA-C285-478A-A20B-824D979E67EC}">
      <dgm:prSet/>
      <dgm:spPr/>
      <dgm:t>
        <a:bodyPr/>
        <a:lstStyle/>
        <a:p>
          <a:endParaRPr lang="en-US"/>
        </a:p>
      </dgm:t>
    </dgm:pt>
    <dgm:pt modelId="{4B097ED4-0F44-4BC9-AB10-E89CEE290215}">
      <dgm:prSet/>
      <dgm:spPr/>
      <dgm:t>
        <a:bodyPr/>
        <a:lstStyle/>
        <a:p>
          <a:r>
            <a:rPr lang="en-US" dirty="0"/>
            <a:t>Time-varying demand shocks</a:t>
          </a:r>
        </a:p>
      </dgm:t>
    </dgm:pt>
    <dgm:pt modelId="{AE906108-902A-4FF7-B450-1ED9E010489C}" type="parTrans" cxnId="{F39C3819-FCE6-4396-A99C-AF77A543A6D9}">
      <dgm:prSet/>
      <dgm:spPr/>
      <dgm:t>
        <a:bodyPr/>
        <a:lstStyle/>
        <a:p>
          <a:endParaRPr lang="en-US"/>
        </a:p>
      </dgm:t>
    </dgm:pt>
    <dgm:pt modelId="{0B8E95D3-DA00-4FE2-A327-75A1788D08FB}" type="sibTrans" cxnId="{F39C3819-FCE6-4396-A99C-AF77A543A6D9}">
      <dgm:prSet/>
      <dgm:spPr/>
      <dgm:t>
        <a:bodyPr/>
        <a:lstStyle/>
        <a:p>
          <a:endParaRPr lang="en-US"/>
        </a:p>
      </dgm:t>
    </dgm:pt>
    <dgm:pt modelId="{D68BDDAD-9D76-4ACF-9D2A-EF23853B69FF}">
      <dgm:prSet/>
      <dgm:spPr/>
      <dgm:t>
        <a:bodyPr/>
        <a:lstStyle/>
        <a:p>
          <a:r>
            <a:rPr lang="en-US" dirty="0"/>
            <a:t>Missing neighborhood income</a:t>
          </a:r>
        </a:p>
      </dgm:t>
    </dgm:pt>
    <dgm:pt modelId="{5FD74CB4-68C3-423D-8C21-068022A5A5F9}" type="parTrans" cxnId="{ABA739AD-C9D1-4F64-ABD3-7DDCDA21DB81}">
      <dgm:prSet/>
      <dgm:spPr/>
      <dgm:t>
        <a:bodyPr/>
        <a:lstStyle/>
        <a:p>
          <a:endParaRPr lang="en-US"/>
        </a:p>
      </dgm:t>
    </dgm:pt>
    <dgm:pt modelId="{FA026904-B03A-4E3E-9847-911DE580441A}" type="sibTrans" cxnId="{ABA739AD-C9D1-4F64-ABD3-7DDCDA21DB81}">
      <dgm:prSet/>
      <dgm:spPr/>
      <dgm:t>
        <a:bodyPr/>
        <a:lstStyle/>
        <a:p>
          <a:endParaRPr lang="en-US"/>
        </a:p>
      </dgm:t>
    </dgm:pt>
    <dgm:pt modelId="{16B6D8C6-60C9-49BE-91F9-3D89A6DABCF5}">
      <dgm:prSet/>
      <dgm:spPr/>
      <dgm:t>
        <a:bodyPr/>
        <a:lstStyle/>
        <a:p>
          <a:r>
            <a:rPr lang="en-US" dirty="0"/>
            <a:t>Nonlinear pricing mechanisms</a:t>
          </a:r>
        </a:p>
      </dgm:t>
    </dgm:pt>
    <dgm:pt modelId="{5B8AA7EC-F12E-42AE-B556-EFD50F34E55C}" type="parTrans" cxnId="{DBF6BFF1-9A5A-4687-BCC6-97D189EA0941}">
      <dgm:prSet/>
      <dgm:spPr/>
      <dgm:t>
        <a:bodyPr/>
        <a:lstStyle/>
        <a:p>
          <a:endParaRPr lang="en-US"/>
        </a:p>
      </dgm:t>
    </dgm:pt>
    <dgm:pt modelId="{B73A06C5-01FE-48F2-B097-5290CE9C7199}" type="sibTrans" cxnId="{DBF6BFF1-9A5A-4687-BCC6-97D189EA0941}">
      <dgm:prSet/>
      <dgm:spPr/>
      <dgm:t>
        <a:bodyPr/>
        <a:lstStyle/>
        <a:p>
          <a:endParaRPr lang="en-US"/>
        </a:p>
      </dgm:t>
    </dgm:pt>
    <dgm:pt modelId="{16784ED1-45D9-4C30-BFB3-815C0667F403}">
      <dgm:prSet/>
      <dgm:spPr/>
      <dgm:t>
        <a:bodyPr/>
        <a:lstStyle/>
        <a:p>
          <a:r>
            <a:rPr lang="en-US" dirty="0"/>
            <a:t>LASSO assumes linear effects.</a:t>
          </a:r>
        </a:p>
      </dgm:t>
    </dgm:pt>
    <dgm:pt modelId="{A6AC69D0-574C-488D-872A-22EE8B101D03}" type="parTrans" cxnId="{5B28A586-CEE5-4D72-B2FB-C8C983F66956}">
      <dgm:prSet/>
      <dgm:spPr/>
      <dgm:t>
        <a:bodyPr/>
        <a:lstStyle/>
        <a:p>
          <a:endParaRPr lang="en-US"/>
        </a:p>
      </dgm:t>
    </dgm:pt>
    <dgm:pt modelId="{B322D6CF-5E39-438C-BCED-73F14F1210ED}" type="sibTrans" cxnId="{5B28A586-CEE5-4D72-B2FB-C8C983F66956}">
      <dgm:prSet/>
      <dgm:spPr/>
      <dgm:t>
        <a:bodyPr/>
        <a:lstStyle/>
        <a:p>
          <a:endParaRPr lang="en-US"/>
        </a:p>
      </dgm:t>
    </dgm:pt>
    <dgm:pt modelId="{9BBE0213-EC8E-4892-8B1D-B39D972D978A}" type="pres">
      <dgm:prSet presAssocID="{8253B91A-4C1D-4060-AF04-72AA0042D9EF}" presName="linear" presStyleCnt="0">
        <dgm:presLayoutVars>
          <dgm:animLvl val="lvl"/>
          <dgm:resizeHandles val="exact"/>
        </dgm:presLayoutVars>
      </dgm:prSet>
      <dgm:spPr/>
    </dgm:pt>
    <dgm:pt modelId="{E7715805-245E-4829-BDA4-00328C636B24}" type="pres">
      <dgm:prSet presAssocID="{811E63E6-35D0-4DA2-881B-1ACC7FFC702D}" presName="parentText" presStyleLbl="node1" presStyleIdx="0" presStyleCnt="1" custLinFactNeighborY="-148">
        <dgm:presLayoutVars>
          <dgm:chMax val="0"/>
          <dgm:bulletEnabled val="1"/>
        </dgm:presLayoutVars>
      </dgm:prSet>
      <dgm:spPr/>
    </dgm:pt>
    <dgm:pt modelId="{EA23338E-B2E4-4B22-9D5C-8F7F26B96B7A}" type="pres">
      <dgm:prSet presAssocID="{811E63E6-35D0-4DA2-881B-1ACC7FFC702D}" presName="childText" presStyleLbl="revTx" presStyleIdx="0" presStyleCnt="1">
        <dgm:presLayoutVars>
          <dgm:bulletEnabled val="1"/>
        </dgm:presLayoutVars>
      </dgm:prSet>
      <dgm:spPr/>
    </dgm:pt>
  </dgm:ptLst>
  <dgm:cxnLst>
    <dgm:cxn modelId="{8054A603-AB83-CA43-BEAC-F36682153B38}" type="presOf" srcId="{811E63E6-35D0-4DA2-881B-1ACC7FFC702D}" destId="{E7715805-245E-4829-BDA4-00328C636B24}" srcOrd="0" destOrd="0" presId="urn:microsoft.com/office/officeart/2005/8/layout/vList2"/>
    <dgm:cxn modelId="{F39C3819-FCE6-4396-A99C-AF77A543A6D9}" srcId="{811E63E6-35D0-4DA2-881B-1ACC7FFC702D}" destId="{4B097ED4-0F44-4BC9-AB10-E89CEE290215}" srcOrd="1" destOrd="0" parTransId="{AE906108-902A-4FF7-B450-1ED9E010489C}" sibTransId="{0B8E95D3-DA00-4FE2-A327-75A1788D08FB}"/>
    <dgm:cxn modelId="{82F33919-FC56-4D4E-8425-8E190F660C90}" type="presOf" srcId="{4B097ED4-0F44-4BC9-AB10-E89CEE290215}" destId="{EA23338E-B2E4-4B22-9D5C-8F7F26B96B7A}" srcOrd="0" destOrd="1" presId="urn:microsoft.com/office/officeart/2005/8/layout/vList2"/>
    <dgm:cxn modelId="{94A27A4E-55E4-4EA1-928A-DB45AB2181B7}" type="presOf" srcId="{8253B91A-4C1D-4060-AF04-72AA0042D9EF}" destId="{9BBE0213-EC8E-4892-8B1D-B39D972D978A}" srcOrd="0" destOrd="0" presId="urn:microsoft.com/office/officeart/2005/8/layout/vList2"/>
    <dgm:cxn modelId="{19B8D35E-2711-D846-832E-D886DAC2CA04}" type="presOf" srcId="{16B6D8C6-60C9-49BE-91F9-3D89A6DABCF5}" destId="{EA23338E-B2E4-4B22-9D5C-8F7F26B96B7A}" srcOrd="0" destOrd="3" presId="urn:microsoft.com/office/officeart/2005/8/layout/vList2"/>
    <dgm:cxn modelId="{5B28A586-CEE5-4D72-B2FB-C8C983F66956}" srcId="{811E63E6-35D0-4DA2-881B-1ACC7FFC702D}" destId="{16784ED1-45D9-4C30-BFB3-815C0667F403}" srcOrd="4" destOrd="0" parTransId="{A6AC69D0-574C-488D-872A-22EE8B101D03}" sibTransId="{B322D6CF-5E39-438C-BCED-73F14F1210ED}"/>
    <dgm:cxn modelId="{ABA739AD-C9D1-4F64-ABD3-7DDCDA21DB81}" srcId="{811E63E6-35D0-4DA2-881B-1ACC7FFC702D}" destId="{D68BDDAD-9D76-4ACF-9D2A-EF23853B69FF}" srcOrd="2" destOrd="0" parTransId="{5FD74CB4-68C3-423D-8C21-068022A5A5F9}" sibTransId="{FA026904-B03A-4E3E-9847-911DE580441A}"/>
    <dgm:cxn modelId="{FB3BC6DE-85C5-F640-8190-377D0AB3C2A6}" type="presOf" srcId="{6F0A8F64-E692-417E-A2F6-7DA8968E6EBC}" destId="{EA23338E-B2E4-4B22-9D5C-8F7F26B96B7A}" srcOrd="0" destOrd="0" presId="urn:microsoft.com/office/officeart/2005/8/layout/vList2"/>
    <dgm:cxn modelId="{8BF9D3E5-388D-4DEC-95C5-F49D93E759F6}" srcId="{8253B91A-4C1D-4060-AF04-72AA0042D9EF}" destId="{811E63E6-35D0-4DA2-881B-1ACC7FFC702D}" srcOrd="0" destOrd="0" parTransId="{8899E3B6-D91F-44B0-9B2C-0CAA1A48CF90}" sibTransId="{BA5651CB-21B0-4018-B227-D38B77734B84}"/>
    <dgm:cxn modelId="{46FDD3EA-C285-478A-A20B-824D979E67EC}" srcId="{811E63E6-35D0-4DA2-881B-1ACC7FFC702D}" destId="{6F0A8F64-E692-417E-A2F6-7DA8968E6EBC}" srcOrd="0" destOrd="0" parTransId="{C59B91B1-0D75-462F-A125-15B0906A5FCF}" sibTransId="{6882B54A-71ED-420B-AFD6-A249F54E9D27}"/>
    <dgm:cxn modelId="{DBF6BFF1-9A5A-4687-BCC6-97D189EA0941}" srcId="{811E63E6-35D0-4DA2-881B-1ACC7FFC702D}" destId="{16B6D8C6-60C9-49BE-91F9-3D89A6DABCF5}" srcOrd="3" destOrd="0" parTransId="{5B8AA7EC-F12E-42AE-B556-EFD50F34E55C}" sibTransId="{B73A06C5-01FE-48F2-B097-5290CE9C7199}"/>
    <dgm:cxn modelId="{125EA5F6-E6B1-AC44-A72C-E1CB6955128C}" type="presOf" srcId="{D68BDDAD-9D76-4ACF-9D2A-EF23853B69FF}" destId="{EA23338E-B2E4-4B22-9D5C-8F7F26B96B7A}" srcOrd="0" destOrd="2" presId="urn:microsoft.com/office/officeart/2005/8/layout/vList2"/>
    <dgm:cxn modelId="{416B07FA-BD01-964F-A1D0-EDE0C5DE3FC0}" type="presOf" srcId="{16784ED1-45D9-4C30-BFB3-815C0667F403}" destId="{EA23338E-B2E4-4B22-9D5C-8F7F26B96B7A}" srcOrd="0" destOrd="4" presId="urn:microsoft.com/office/officeart/2005/8/layout/vList2"/>
    <dgm:cxn modelId="{0325F64A-C946-A244-844D-47BC769579CC}" type="presParOf" srcId="{9BBE0213-EC8E-4892-8B1D-B39D972D978A}" destId="{E7715805-245E-4829-BDA4-00328C636B24}" srcOrd="0" destOrd="0" presId="urn:microsoft.com/office/officeart/2005/8/layout/vList2"/>
    <dgm:cxn modelId="{BE443138-6473-6D41-A55C-C1410D647619}" type="presParOf" srcId="{9BBE0213-EC8E-4892-8B1D-B39D972D978A}" destId="{EA23338E-B2E4-4B22-9D5C-8F7F26B96B7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BFBE680-0B74-4F15-B725-B020FB131521}" type="doc">
      <dgm:prSet loTypeId="urn:microsoft.com/office/officeart/2005/8/layout/list1" loCatId="list" qsTypeId="urn:microsoft.com/office/officeart/2005/8/quickstyle/simple4" qsCatId="simple" csTypeId="urn:microsoft.com/office/officeart/2005/8/colors/accent0_3" csCatId="mainScheme" phldr="1"/>
      <dgm:spPr/>
      <dgm:t>
        <a:bodyPr/>
        <a:lstStyle/>
        <a:p>
          <a:endParaRPr lang="en-US"/>
        </a:p>
      </dgm:t>
    </dgm:pt>
    <dgm:pt modelId="{4140F8FB-970E-4F13-8A11-F2C5E56C3E49}">
      <dgm:prSet/>
      <dgm:spPr/>
      <dgm:t>
        <a:bodyPr/>
        <a:lstStyle/>
        <a:p>
          <a:r>
            <a:rPr lang="en-US" dirty="0"/>
            <a:t>Future improvements:</a:t>
          </a:r>
        </a:p>
      </dgm:t>
    </dgm:pt>
    <dgm:pt modelId="{1CFD1AEA-1821-4319-8974-62204BABF4C1}" type="parTrans" cxnId="{6DE2F2CF-FA17-41B3-A24A-1FDBA5F8D7B6}">
      <dgm:prSet/>
      <dgm:spPr/>
      <dgm:t>
        <a:bodyPr/>
        <a:lstStyle/>
        <a:p>
          <a:endParaRPr lang="en-US"/>
        </a:p>
      </dgm:t>
    </dgm:pt>
    <dgm:pt modelId="{ECA1C74C-9053-4B87-87AE-82E062E21E8C}" type="sibTrans" cxnId="{6DE2F2CF-FA17-41B3-A24A-1FDBA5F8D7B6}">
      <dgm:prSet/>
      <dgm:spPr/>
      <dgm:t>
        <a:bodyPr/>
        <a:lstStyle/>
        <a:p>
          <a:endParaRPr lang="en-US"/>
        </a:p>
      </dgm:t>
    </dgm:pt>
    <dgm:pt modelId="{002C17F7-3B32-4663-BE67-99EDD91CBC34}">
      <dgm:prSet/>
      <dgm:spPr/>
      <dgm:t>
        <a:bodyPr/>
        <a:lstStyle/>
        <a:p>
          <a:r>
            <a:rPr lang="en-US" dirty="0"/>
            <a:t>Borough-level income merge</a:t>
          </a:r>
        </a:p>
      </dgm:t>
    </dgm:pt>
    <dgm:pt modelId="{DF3CA6DA-C53E-4854-AE26-649316DFE7E2}" type="parTrans" cxnId="{CB351D4E-5E9F-45A7-A699-B0A642206B15}">
      <dgm:prSet/>
      <dgm:spPr/>
      <dgm:t>
        <a:bodyPr/>
        <a:lstStyle/>
        <a:p>
          <a:endParaRPr lang="en-US"/>
        </a:p>
      </dgm:t>
    </dgm:pt>
    <dgm:pt modelId="{8E4E97A6-9600-4644-85F5-C35C570DE331}" type="sibTrans" cxnId="{CB351D4E-5E9F-45A7-A699-B0A642206B15}">
      <dgm:prSet/>
      <dgm:spPr/>
      <dgm:t>
        <a:bodyPr/>
        <a:lstStyle/>
        <a:p>
          <a:endParaRPr lang="en-US"/>
        </a:p>
      </dgm:t>
    </dgm:pt>
    <dgm:pt modelId="{942A8420-C691-487F-99FC-3F0CDC1C75E7}">
      <dgm:prSet/>
      <dgm:spPr/>
      <dgm:t>
        <a:bodyPr/>
        <a:lstStyle/>
        <a:p>
          <a:r>
            <a:rPr lang="en-US" dirty="0"/>
            <a:t>Review sentiment</a:t>
          </a:r>
        </a:p>
      </dgm:t>
    </dgm:pt>
    <dgm:pt modelId="{9EB276EE-048D-4399-AA29-EF6282C0284D}" type="parTrans" cxnId="{31CEB9F0-5D9A-4B3F-A3D6-8BB9FCFA0BAF}">
      <dgm:prSet/>
      <dgm:spPr/>
      <dgm:t>
        <a:bodyPr/>
        <a:lstStyle/>
        <a:p>
          <a:endParaRPr lang="en-US"/>
        </a:p>
      </dgm:t>
    </dgm:pt>
    <dgm:pt modelId="{CCF2BC54-B505-45F2-AD9E-9851A20FB3A2}" type="sibTrans" cxnId="{31CEB9F0-5D9A-4B3F-A3D6-8BB9FCFA0BAF}">
      <dgm:prSet/>
      <dgm:spPr/>
      <dgm:t>
        <a:bodyPr/>
        <a:lstStyle/>
        <a:p>
          <a:endParaRPr lang="en-US"/>
        </a:p>
      </dgm:t>
    </dgm:pt>
    <dgm:pt modelId="{7AA29E16-A5FB-4BD7-B822-CB143246BEB9}">
      <dgm:prSet/>
      <dgm:spPr/>
      <dgm:t>
        <a:bodyPr/>
        <a:lstStyle/>
        <a:p>
          <a:r>
            <a:rPr lang="en-US"/>
            <a:t>Central vs Outer London subsample</a:t>
          </a:r>
        </a:p>
      </dgm:t>
    </dgm:pt>
    <dgm:pt modelId="{D81E8696-AC9F-4085-922A-7939E626A13C}" type="parTrans" cxnId="{20B0F31E-9482-414F-A834-AAEF95A7ACCC}">
      <dgm:prSet/>
      <dgm:spPr/>
      <dgm:t>
        <a:bodyPr/>
        <a:lstStyle/>
        <a:p>
          <a:endParaRPr lang="en-US"/>
        </a:p>
      </dgm:t>
    </dgm:pt>
    <dgm:pt modelId="{1D1834BF-0750-47AF-AC23-70E7392D9931}" type="sibTrans" cxnId="{20B0F31E-9482-414F-A834-AAEF95A7ACCC}">
      <dgm:prSet/>
      <dgm:spPr/>
      <dgm:t>
        <a:bodyPr/>
        <a:lstStyle/>
        <a:p>
          <a:endParaRPr lang="en-US"/>
        </a:p>
      </dgm:t>
    </dgm:pt>
    <dgm:pt modelId="{62735815-322A-41FA-8AAF-60D7DFF125E9}">
      <dgm:prSet/>
      <dgm:spPr/>
      <dgm:t>
        <a:bodyPr/>
        <a:lstStyle/>
        <a:p>
          <a:r>
            <a:rPr lang="en-US" dirty="0"/>
            <a:t>Nonlinear models (tree-based)</a:t>
          </a:r>
        </a:p>
      </dgm:t>
    </dgm:pt>
    <dgm:pt modelId="{21AFBEC6-5511-460F-87AF-09DE47B97EDB}" type="parTrans" cxnId="{88E3DE6C-679E-430E-9E57-D107A87DC135}">
      <dgm:prSet/>
      <dgm:spPr/>
      <dgm:t>
        <a:bodyPr/>
        <a:lstStyle/>
        <a:p>
          <a:endParaRPr lang="en-US"/>
        </a:p>
      </dgm:t>
    </dgm:pt>
    <dgm:pt modelId="{6A4A41A2-5024-4A47-8D01-7243E7A9E0DB}" type="sibTrans" cxnId="{88E3DE6C-679E-430E-9E57-D107A87DC135}">
      <dgm:prSet/>
      <dgm:spPr/>
      <dgm:t>
        <a:bodyPr/>
        <a:lstStyle/>
        <a:p>
          <a:endParaRPr lang="en-US"/>
        </a:p>
      </dgm:t>
    </dgm:pt>
    <dgm:pt modelId="{8BDFFA70-4F3E-40C2-ADC4-5E8C794F5981}">
      <dgm:prSet/>
      <dgm:spPr/>
      <dgm:t>
        <a:bodyPr/>
        <a:lstStyle/>
        <a:p>
          <a:r>
            <a:rPr lang="en-US" dirty="0"/>
            <a:t>Dynamic pricing effects</a:t>
          </a:r>
        </a:p>
      </dgm:t>
    </dgm:pt>
    <dgm:pt modelId="{77E81FCB-9064-452D-A12E-C8EA01138A33}" type="parTrans" cxnId="{10E24D94-1BE0-4CAA-83BD-2E03A1124BF4}">
      <dgm:prSet/>
      <dgm:spPr/>
      <dgm:t>
        <a:bodyPr/>
        <a:lstStyle/>
        <a:p>
          <a:endParaRPr lang="en-US"/>
        </a:p>
      </dgm:t>
    </dgm:pt>
    <dgm:pt modelId="{9B8467B5-EF45-4B42-A307-87DCB0D61636}" type="sibTrans" cxnId="{10E24D94-1BE0-4CAA-83BD-2E03A1124BF4}">
      <dgm:prSet/>
      <dgm:spPr/>
      <dgm:t>
        <a:bodyPr/>
        <a:lstStyle/>
        <a:p>
          <a:endParaRPr lang="en-US"/>
        </a:p>
      </dgm:t>
    </dgm:pt>
    <dgm:pt modelId="{168AAC76-FEEB-4EE0-AE29-080F825A2F15}" type="pres">
      <dgm:prSet presAssocID="{5BFBE680-0B74-4F15-B725-B020FB131521}" presName="linear" presStyleCnt="0">
        <dgm:presLayoutVars>
          <dgm:dir/>
          <dgm:animLvl val="lvl"/>
          <dgm:resizeHandles val="exact"/>
        </dgm:presLayoutVars>
      </dgm:prSet>
      <dgm:spPr/>
    </dgm:pt>
    <dgm:pt modelId="{3092103A-EF67-4ECB-A02C-5DBDB1E9B5A6}" type="pres">
      <dgm:prSet presAssocID="{4140F8FB-970E-4F13-8A11-F2C5E56C3E49}" presName="parentLin" presStyleCnt="0"/>
      <dgm:spPr/>
    </dgm:pt>
    <dgm:pt modelId="{9BF0C836-9A09-4D44-9E3D-C5CC4F794793}" type="pres">
      <dgm:prSet presAssocID="{4140F8FB-970E-4F13-8A11-F2C5E56C3E49}" presName="parentLeftMargin" presStyleLbl="node1" presStyleIdx="0" presStyleCnt="1"/>
      <dgm:spPr/>
    </dgm:pt>
    <dgm:pt modelId="{5856B978-6A39-4C5F-823F-4C5B6CAA50ED}" type="pres">
      <dgm:prSet presAssocID="{4140F8FB-970E-4F13-8A11-F2C5E56C3E49}" presName="parentText" presStyleLbl="node1" presStyleIdx="0" presStyleCnt="1">
        <dgm:presLayoutVars>
          <dgm:chMax val="0"/>
          <dgm:bulletEnabled val="1"/>
        </dgm:presLayoutVars>
      </dgm:prSet>
      <dgm:spPr/>
    </dgm:pt>
    <dgm:pt modelId="{F2685044-E0DA-4A6E-97CF-1C31C7AB225D}" type="pres">
      <dgm:prSet presAssocID="{4140F8FB-970E-4F13-8A11-F2C5E56C3E49}" presName="negativeSpace" presStyleCnt="0"/>
      <dgm:spPr/>
    </dgm:pt>
    <dgm:pt modelId="{87C5C540-F3FB-4CF8-8FC7-40E1E299700A}" type="pres">
      <dgm:prSet presAssocID="{4140F8FB-970E-4F13-8A11-F2C5E56C3E49}" presName="childText" presStyleLbl="conFgAcc1" presStyleIdx="0" presStyleCnt="1">
        <dgm:presLayoutVars>
          <dgm:bulletEnabled val="1"/>
        </dgm:presLayoutVars>
      </dgm:prSet>
      <dgm:spPr/>
    </dgm:pt>
  </dgm:ptLst>
  <dgm:cxnLst>
    <dgm:cxn modelId="{20B0F31E-9482-414F-A834-AAEF95A7ACCC}" srcId="{4140F8FB-970E-4F13-8A11-F2C5E56C3E49}" destId="{7AA29E16-A5FB-4BD7-B822-CB143246BEB9}" srcOrd="4" destOrd="0" parTransId="{D81E8696-AC9F-4085-922A-7939E626A13C}" sibTransId="{1D1834BF-0750-47AF-AC23-70E7392D9931}"/>
    <dgm:cxn modelId="{7CFA5B25-2B61-7847-A906-969B57E42067}" type="presOf" srcId="{002C17F7-3B32-4663-BE67-99EDD91CBC34}" destId="{87C5C540-F3FB-4CF8-8FC7-40E1E299700A}" srcOrd="0" destOrd="1" presId="urn:microsoft.com/office/officeart/2005/8/layout/list1"/>
    <dgm:cxn modelId="{7C23BC2C-A691-3E4C-B795-7CC08C3781B1}" type="presOf" srcId="{8BDFFA70-4F3E-40C2-ADC4-5E8C794F5981}" destId="{87C5C540-F3FB-4CF8-8FC7-40E1E299700A}" srcOrd="0" destOrd="0" presId="urn:microsoft.com/office/officeart/2005/8/layout/list1"/>
    <dgm:cxn modelId="{6F067B42-2029-9442-B91B-FFCBCC4528C6}" type="presOf" srcId="{4140F8FB-970E-4F13-8A11-F2C5E56C3E49}" destId="{5856B978-6A39-4C5F-823F-4C5B6CAA50ED}" srcOrd="1" destOrd="0" presId="urn:microsoft.com/office/officeart/2005/8/layout/list1"/>
    <dgm:cxn modelId="{CB351D4E-5E9F-45A7-A699-B0A642206B15}" srcId="{4140F8FB-970E-4F13-8A11-F2C5E56C3E49}" destId="{002C17F7-3B32-4663-BE67-99EDD91CBC34}" srcOrd="1" destOrd="0" parTransId="{DF3CA6DA-C53E-4854-AE26-649316DFE7E2}" sibTransId="{8E4E97A6-9600-4644-85F5-C35C570DE331}"/>
    <dgm:cxn modelId="{88E3DE6C-679E-430E-9E57-D107A87DC135}" srcId="{4140F8FB-970E-4F13-8A11-F2C5E56C3E49}" destId="{62735815-322A-41FA-8AAF-60D7DFF125E9}" srcOrd="2" destOrd="0" parTransId="{21AFBEC6-5511-460F-87AF-09DE47B97EDB}" sibTransId="{6A4A41A2-5024-4A47-8D01-7243E7A9E0DB}"/>
    <dgm:cxn modelId="{5AA0596F-D5F3-0E4E-8FE9-F732602BB6D8}" type="presOf" srcId="{5BFBE680-0B74-4F15-B725-B020FB131521}" destId="{168AAC76-FEEB-4EE0-AE29-080F825A2F15}" srcOrd="0" destOrd="0" presId="urn:microsoft.com/office/officeart/2005/8/layout/list1"/>
    <dgm:cxn modelId="{10E24D94-1BE0-4CAA-83BD-2E03A1124BF4}" srcId="{4140F8FB-970E-4F13-8A11-F2C5E56C3E49}" destId="{8BDFFA70-4F3E-40C2-ADC4-5E8C794F5981}" srcOrd="0" destOrd="0" parTransId="{77E81FCB-9064-452D-A12E-C8EA01138A33}" sibTransId="{9B8467B5-EF45-4B42-A307-87DCB0D61636}"/>
    <dgm:cxn modelId="{59A38ABB-528A-5244-A9AE-F05AC9F2B0FE}" type="presOf" srcId="{942A8420-C691-487F-99FC-3F0CDC1C75E7}" destId="{87C5C540-F3FB-4CF8-8FC7-40E1E299700A}" srcOrd="0" destOrd="3" presId="urn:microsoft.com/office/officeart/2005/8/layout/list1"/>
    <dgm:cxn modelId="{CE3037CD-109D-DD49-AD0C-FC08F81C3229}" type="presOf" srcId="{62735815-322A-41FA-8AAF-60D7DFF125E9}" destId="{87C5C540-F3FB-4CF8-8FC7-40E1E299700A}" srcOrd="0" destOrd="2" presId="urn:microsoft.com/office/officeart/2005/8/layout/list1"/>
    <dgm:cxn modelId="{6DE2F2CF-FA17-41B3-A24A-1FDBA5F8D7B6}" srcId="{5BFBE680-0B74-4F15-B725-B020FB131521}" destId="{4140F8FB-970E-4F13-8A11-F2C5E56C3E49}" srcOrd="0" destOrd="0" parTransId="{1CFD1AEA-1821-4319-8974-62204BABF4C1}" sibTransId="{ECA1C74C-9053-4B87-87AE-82E062E21E8C}"/>
    <dgm:cxn modelId="{12882DEB-2304-7F44-AE54-07875C2964FE}" type="presOf" srcId="{4140F8FB-970E-4F13-8A11-F2C5E56C3E49}" destId="{9BF0C836-9A09-4D44-9E3D-C5CC4F794793}" srcOrd="0" destOrd="0" presId="urn:microsoft.com/office/officeart/2005/8/layout/list1"/>
    <dgm:cxn modelId="{31CEB9F0-5D9A-4B3F-A3D6-8BB9FCFA0BAF}" srcId="{4140F8FB-970E-4F13-8A11-F2C5E56C3E49}" destId="{942A8420-C691-487F-99FC-3F0CDC1C75E7}" srcOrd="3" destOrd="0" parTransId="{9EB276EE-048D-4399-AA29-EF6282C0284D}" sibTransId="{CCF2BC54-B505-45F2-AD9E-9851A20FB3A2}"/>
    <dgm:cxn modelId="{320A62FF-5043-5548-A5A3-6BE17C4D3F4E}" type="presOf" srcId="{7AA29E16-A5FB-4BD7-B822-CB143246BEB9}" destId="{87C5C540-F3FB-4CF8-8FC7-40E1E299700A}" srcOrd="0" destOrd="4" presId="urn:microsoft.com/office/officeart/2005/8/layout/list1"/>
    <dgm:cxn modelId="{E47A4127-3D6E-D348-A644-D2D7225DEACE}" type="presParOf" srcId="{168AAC76-FEEB-4EE0-AE29-080F825A2F15}" destId="{3092103A-EF67-4ECB-A02C-5DBDB1E9B5A6}" srcOrd="0" destOrd="0" presId="urn:microsoft.com/office/officeart/2005/8/layout/list1"/>
    <dgm:cxn modelId="{2715B7B4-970B-E94E-A180-04A259F68CAB}" type="presParOf" srcId="{3092103A-EF67-4ECB-A02C-5DBDB1E9B5A6}" destId="{9BF0C836-9A09-4D44-9E3D-C5CC4F794793}" srcOrd="0" destOrd="0" presId="urn:microsoft.com/office/officeart/2005/8/layout/list1"/>
    <dgm:cxn modelId="{70B3C343-2DBD-2E40-B90C-5FE92A6699E3}" type="presParOf" srcId="{3092103A-EF67-4ECB-A02C-5DBDB1E9B5A6}" destId="{5856B978-6A39-4C5F-823F-4C5B6CAA50ED}" srcOrd="1" destOrd="0" presId="urn:microsoft.com/office/officeart/2005/8/layout/list1"/>
    <dgm:cxn modelId="{C59C3005-9338-C042-B568-AB55026B7017}" type="presParOf" srcId="{168AAC76-FEEB-4EE0-AE29-080F825A2F15}" destId="{F2685044-E0DA-4A6E-97CF-1C31C7AB225D}" srcOrd="1" destOrd="0" presId="urn:microsoft.com/office/officeart/2005/8/layout/list1"/>
    <dgm:cxn modelId="{F65B2A89-7638-2F41-966D-65B334887E99}" type="presParOf" srcId="{168AAC76-FEEB-4EE0-AE29-080F825A2F15}" destId="{87C5C540-F3FB-4CF8-8FC7-40E1E299700A}"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22C241E-235F-4E82-ABB0-14C861BB447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A53E76B-8BC4-47AA-98E4-2974AA285D1B}">
      <dgm:prSet/>
      <dgm:spPr/>
      <dgm:t>
        <a:bodyPr/>
        <a:lstStyle/>
        <a:p>
          <a:pPr>
            <a:lnSpc>
              <a:spcPct val="100000"/>
            </a:lnSpc>
          </a:pPr>
          <a:r>
            <a:rPr lang="en-US" b="1"/>
            <a:t>Titles contain limited signal</a:t>
          </a:r>
          <a:endParaRPr lang="en-US"/>
        </a:p>
      </dgm:t>
    </dgm:pt>
    <dgm:pt modelId="{6967FD0B-4129-4BD8-9F70-44B884E9058E}" type="parTrans" cxnId="{E1042F9F-2D8D-4F40-8809-81703FE98B56}">
      <dgm:prSet/>
      <dgm:spPr/>
      <dgm:t>
        <a:bodyPr/>
        <a:lstStyle/>
        <a:p>
          <a:endParaRPr lang="en-US"/>
        </a:p>
      </dgm:t>
    </dgm:pt>
    <dgm:pt modelId="{3C927348-BA47-4795-B090-10614E5FFA63}" type="sibTrans" cxnId="{E1042F9F-2D8D-4F40-8809-81703FE98B56}">
      <dgm:prSet/>
      <dgm:spPr/>
      <dgm:t>
        <a:bodyPr/>
        <a:lstStyle/>
        <a:p>
          <a:endParaRPr lang="en-US"/>
        </a:p>
      </dgm:t>
    </dgm:pt>
    <dgm:pt modelId="{4689B1B0-51EF-4E3E-B801-643CC0A732A9}">
      <dgm:prSet/>
      <dgm:spPr/>
      <dgm:t>
        <a:bodyPr/>
        <a:lstStyle/>
        <a:p>
          <a:pPr>
            <a:lnSpc>
              <a:spcPct val="100000"/>
            </a:lnSpc>
          </a:pPr>
          <a:r>
            <a:rPr lang="en-US"/>
            <a:t>Descriptions contain meaningful economic information</a:t>
          </a:r>
        </a:p>
      </dgm:t>
    </dgm:pt>
    <dgm:pt modelId="{F6C31988-BFBB-41EA-A65E-96179CAAF5D4}" type="parTrans" cxnId="{1C167BEC-9426-4FF4-9F39-2439727A4493}">
      <dgm:prSet/>
      <dgm:spPr/>
      <dgm:t>
        <a:bodyPr/>
        <a:lstStyle/>
        <a:p>
          <a:endParaRPr lang="en-US"/>
        </a:p>
      </dgm:t>
    </dgm:pt>
    <dgm:pt modelId="{E6E62D57-5A20-4CDA-B967-C85F1ECE749E}" type="sibTrans" cxnId="{1C167BEC-9426-4FF4-9F39-2439727A4493}">
      <dgm:prSet/>
      <dgm:spPr/>
      <dgm:t>
        <a:bodyPr/>
        <a:lstStyle/>
        <a:p>
          <a:endParaRPr lang="en-US"/>
        </a:p>
      </dgm:t>
    </dgm:pt>
    <dgm:pt modelId="{CB91B461-FF95-48D7-8F52-47C7A96C7CB7}">
      <dgm:prSet/>
      <dgm:spPr/>
      <dgm:t>
        <a:bodyPr/>
        <a:lstStyle/>
        <a:p>
          <a:pPr>
            <a:lnSpc>
              <a:spcPct val="100000"/>
            </a:lnSpc>
          </a:pPr>
          <a:r>
            <a:rPr lang="en-US"/>
            <a:t>Structured housing features dominate price</a:t>
          </a:r>
        </a:p>
      </dgm:t>
    </dgm:pt>
    <dgm:pt modelId="{48EAA3C8-F5F4-4420-9FC7-175830625092}" type="parTrans" cxnId="{87945A1E-947D-44AB-849F-26BF61F0C1BE}">
      <dgm:prSet/>
      <dgm:spPr/>
      <dgm:t>
        <a:bodyPr/>
        <a:lstStyle/>
        <a:p>
          <a:endParaRPr lang="en-US"/>
        </a:p>
      </dgm:t>
    </dgm:pt>
    <dgm:pt modelId="{D2BABB0F-DEDA-4DAB-A338-7A8C8A092B3B}" type="sibTrans" cxnId="{87945A1E-947D-44AB-849F-26BF61F0C1BE}">
      <dgm:prSet/>
      <dgm:spPr/>
      <dgm:t>
        <a:bodyPr/>
        <a:lstStyle/>
        <a:p>
          <a:endParaRPr lang="en-US"/>
        </a:p>
      </dgm:t>
    </dgm:pt>
    <dgm:pt modelId="{3E524D7A-55EA-4B83-8E0E-264BD8F90D68}">
      <dgm:prSet/>
      <dgm:spPr/>
      <dgm:t>
        <a:bodyPr/>
        <a:lstStyle/>
        <a:p>
          <a:pPr>
            <a:lnSpc>
              <a:spcPct val="100000"/>
            </a:lnSpc>
          </a:pPr>
          <a:r>
            <a:rPr lang="en-US"/>
            <a:t>Text provides incremental predictive power</a:t>
          </a:r>
        </a:p>
      </dgm:t>
    </dgm:pt>
    <dgm:pt modelId="{71873F43-3877-47C8-9D9E-93ABF894879A}" type="parTrans" cxnId="{BCC85018-0242-4C0E-959A-1BE7EC4E7D0F}">
      <dgm:prSet/>
      <dgm:spPr/>
      <dgm:t>
        <a:bodyPr/>
        <a:lstStyle/>
        <a:p>
          <a:endParaRPr lang="en-US"/>
        </a:p>
      </dgm:t>
    </dgm:pt>
    <dgm:pt modelId="{DE7C3C6A-C81F-4AB2-A500-06B39693DEA7}" type="sibTrans" cxnId="{BCC85018-0242-4C0E-959A-1BE7EC4E7D0F}">
      <dgm:prSet/>
      <dgm:spPr/>
      <dgm:t>
        <a:bodyPr/>
        <a:lstStyle/>
        <a:p>
          <a:endParaRPr lang="en-US"/>
        </a:p>
      </dgm:t>
    </dgm:pt>
    <dgm:pt modelId="{D5950577-4102-47A5-97B8-99ED2CD4A62D}">
      <dgm:prSet/>
      <dgm:spPr/>
      <dgm:t>
        <a:bodyPr/>
        <a:lstStyle/>
        <a:p>
          <a:pPr>
            <a:lnSpc>
              <a:spcPct val="100000"/>
            </a:lnSpc>
          </a:pPr>
          <a:r>
            <a:rPr lang="en-US"/>
            <a:t>Transfer learning adds semantic richness</a:t>
          </a:r>
        </a:p>
      </dgm:t>
    </dgm:pt>
    <dgm:pt modelId="{737E401A-FB7F-441E-BFDA-66C4824CF1D4}" type="parTrans" cxnId="{D79E45BB-D485-4744-BFBE-92695A8493F3}">
      <dgm:prSet/>
      <dgm:spPr/>
      <dgm:t>
        <a:bodyPr/>
        <a:lstStyle/>
        <a:p>
          <a:endParaRPr lang="en-US"/>
        </a:p>
      </dgm:t>
    </dgm:pt>
    <dgm:pt modelId="{F4881540-4D2A-4FD2-A0CD-7BF6F7DDDB28}" type="sibTrans" cxnId="{D79E45BB-D485-4744-BFBE-92695A8493F3}">
      <dgm:prSet/>
      <dgm:spPr/>
      <dgm:t>
        <a:bodyPr/>
        <a:lstStyle/>
        <a:p>
          <a:endParaRPr lang="en-US"/>
        </a:p>
      </dgm:t>
    </dgm:pt>
    <dgm:pt modelId="{ABDE0E64-F549-4CA5-8ACE-F0FC65B705DD}">
      <dgm:prSet/>
      <dgm:spPr/>
      <dgm:t>
        <a:bodyPr/>
        <a:lstStyle/>
        <a:p>
          <a:pPr>
            <a:lnSpc>
              <a:spcPct val="100000"/>
            </a:lnSpc>
          </a:pPr>
          <a:r>
            <a:rPr lang="en-US" b="1"/>
            <a:t>Final Takeaway:</a:t>
          </a:r>
          <a:endParaRPr lang="en-US"/>
        </a:p>
      </dgm:t>
    </dgm:pt>
    <dgm:pt modelId="{F129C75B-047D-44AE-8709-A3862BEBC8A9}" type="parTrans" cxnId="{F679164C-AC2F-477C-BD05-CC63378E02BC}">
      <dgm:prSet/>
      <dgm:spPr/>
      <dgm:t>
        <a:bodyPr/>
        <a:lstStyle/>
        <a:p>
          <a:endParaRPr lang="en-US"/>
        </a:p>
      </dgm:t>
    </dgm:pt>
    <dgm:pt modelId="{25F885FE-8DF9-4BB1-A1CF-AFF5DFDE1715}" type="sibTrans" cxnId="{F679164C-AC2F-477C-BD05-CC63378E02BC}">
      <dgm:prSet/>
      <dgm:spPr/>
      <dgm:t>
        <a:bodyPr/>
        <a:lstStyle/>
        <a:p>
          <a:endParaRPr lang="en-US"/>
        </a:p>
      </dgm:t>
    </dgm:pt>
    <dgm:pt modelId="{7889D1E5-DCDC-4D61-A7CC-8D637BB95B83}">
      <dgm:prSet/>
      <dgm:spPr/>
      <dgm:t>
        <a:bodyPr/>
        <a:lstStyle/>
        <a:p>
          <a:pPr>
            <a:lnSpc>
              <a:spcPct val="100000"/>
            </a:lnSpc>
          </a:pPr>
          <a:r>
            <a:rPr lang="en-US"/>
            <a:t>Airbnb descriptions encode economically meaningful signals beyond observable housing characteristics.</a:t>
          </a:r>
        </a:p>
      </dgm:t>
    </dgm:pt>
    <dgm:pt modelId="{AFC1CCF1-C6B9-4028-B130-1107E78F5DA2}" type="parTrans" cxnId="{3401F290-EEBA-4662-9276-838D0FAC2685}">
      <dgm:prSet/>
      <dgm:spPr/>
      <dgm:t>
        <a:bodyPr/>
        <a:lstStyle/>
        <a:p>
          <a:endParaRPr lang="en-US"/>
        </a:p>
      </dgm:t>
    </dgm:pt>
    <dgm:pt modelId="{C9276099-1E65-4F8B-BB15-8E35066B8682}" type="sibTrans" cxnId="{3401F290-EEBA-4662-9276-838D0FAC2685}">
      <dgm:prSet/>
      <dgm:spPr/>
      <dgm:t>
        <a:bodyPr/>
        <a:lstStyle/>
        <a:p>
          <a:endParaRPr lang="en-US"/>
        </a:p>
      </dgm:t>
    </dgm:pt>
    <dgm:pt modelId="{547F3F72-3BAB-40D0-9F16-8BDA06A5B114}" type="pres">
      <dgm:prSet presAssocID="{522C241E-235F-4E82-ABB0-14C861BB4476}" presName="root" presStyleCnt="0">
        <dgm:presLayoutVars>
          <dgm:dir/>
          <dgm:resizeHandles val="exact"/>
        </dgm:presLayoutVars>
      </dgm:prSet>
      <dgm:spPr/>
    </dgm:pt>
    <dgm:pt modelId="{C7865CA1-E1B5-4123-A2E4-49EEC434A296}" type="pres">
      <dgm:prSet presAssocID="{BA53E76B-8BC4-47AA-98E4-2974AA285D1B}" presName="compNode" presStyleCnt="0"/>
      <dgm:spPr/>
    </dgm:pt>
    <dgm:pt modelId="{A744DF72-06F0-4DED-A208-819EA4FF4B38}" type="pres">
      <dgm:prSet presAssocID="{BA53E76B-8BC4-47AA-98E4-2974AA285D1B}" presName="bgRect" presStyleLbl="bgShp" presStyleIdx="0" presStyleCnt="3"/>
      <dgm:spPr/>
    </dgm:pt>
    <dgm:pt modelId="{7ED6ABDC-D0AD-4106-A6CA-567B6F50D0CB}" type="pres">
      <dgm:prSet presAssocID="{BA53E76B-8BC4-47AA-98E4-2974AA285D1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A2234768-A79B-45DB-8309-8B90120C1DE3}" type="pres">
      <dgm:prSet presAssocID="{BA53E76B-8BC4-47AA-98E4-2974AA285D1B}" presName="spaceRect" presStyleCnt="0"/>
      <dgm:spPr/>
    </dgm:pt>
    <dgm:pt modelId="{4226FC7C-7299-432E-9C10-87EC6AD898AC}" type="pres">
      <dgm:prSet presAssocID="{BA53E76B-8BC4-47AA-98E4-2974AA285D1B}" presName="parTx" presStyleLbl="revTx" presStyleIdx="0" presStyleCnt="4">
        <dgm:presLayoutVars>
          <dgm:chMax val="0"/>
          <dgm:chPref val="0"/>
        </dgm:presLayoutVars>
      </dgm:prSet>
      <dgm:spPr/>
    </dgm:pt>
    <dgm:pt modelId="{DA011D44-3ED9-4405-886E-211235D9B160}" type="pres">
      <dgm:prSet presAssocID="{BA53E76B-8BC4-47AA-98E4-2974AA285D1B}" presName="desTx" presStyleLbl="revTx" presStyleIdx="1" presStyleCnt="4">
        <dgm:presLayoutVars/>
      </dgm:prSet>
      <dgm:spPr/>
    </dgm:pt>
    <dgm:pt modelId="{2DD58EC0-8EF0-47EA-B5C4-83607B007963}" type="pres">
      <dgm:prSet presAssocID="{3C927348-BA47-4795-B090-10614E5FFA63}" presName="sibTrans" presStyleCnt="0"/>
      <dgm:spPr/>
    </dgm:pt>
    <dgm:pt modelId="{46D17D33-1388-48D6-B3D2-8D7FE7C62E3B}" type="pres">
      <dgm:prSet presAssocID="{ABDE0E64-F549-4CA5-8ACE-F0FC65B705DD}" presName="compNode" presStyleCnt="0"/>
      <dgm:spPr/>
    </dgm:pt>
    <dgm:pt modelId="{0E5B92DF-22B7-42E2-B9ED-E0008167A68A}" type="pres">
      <dgm:prSet presAssocID="{ABDE0E64-F549-4CA5-8ACE-F0FC65B705DD}" presName="bgRect" presStyleLbl="bgShp" presStyleIdx="1" presStyleCnt="3"/>
      <dgm:spPr/>
    </dgm:pt>
    <dgm:pt modelId="{03591475-A463-4830-95B6-21EBB8BD9A38}" type="pres">
      <dgm:prSet presAssocID="{ABDE0E64-F549-4CA5-8ACE-F0FC65B705D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5E9447D7-609D-42BB-AAF5-3A6AF2C42D5E}" type="pres">
      <dgm:prSet presAssocID="{ABDE0E64-F549-4CA5-8ACE-F0FC65B705DD}" presName="spaceRect" presStyleCnt="0"/>
      <dgm:spPr/>
    </dgm:pt>
    <dgm:pt modelId="{D67ACA9B-5D88-416E-8276-36CD2EF06CF2}" type="pres">
      <dgm:prSet presAssocID="{ABDE0E64-F549-4CA5-8ACE-F0FC65B705DD}" presName="parTx" presStyleLbl="revTx" presStyleIdx="2" presStyleCnt="4">
        <dgm:presLayoutVars>
          <dgm:chMax val="0"/>
          <dgm:chPref val="0"/>
        </dgm:presLayoutVars>
      </dgm:prSet>
      <dgm:spPr/>
    </dgm:pt>
    <dgm:pt modelId="{42A9F437-203F-4863-AB7E-7C57FE4BFEE3}" type="pres">
      <dgm:prSet presAssocID="{25F885FE-8DF9-4BB1-A1CF-AFF5DFDE1715}" presName="sibTrans" presStyleCnt="0"/>
      <dgm:spPr/>
    </dgm:pt>
    <dgm:pt modelId="{D00CA708-43B8-45E9-8A64-7C24DE2283AB}" type="pres">
      <dgm:prSet presAssocID="{7889D1E5-DCDC-4D61-A7CC-8D637BB95B83}" presName="compNode" presStyleCnt="0"/>
      <dgm:spPr/>
    </dgm:pt>
    <dgm:pt modelId="{7A243D31-EB20-4BFE-B3C0-B8F9BA79D94F}" type="pres">
      <dgm:prSet presAssocID="{7889D1E5-DCDC-4D61-A7CC-8D637BB95B83}" presName="bgRect" presStyleLbl="bgShp" presStyleIdx="2" presStyleCnt="3"/>
      <dgm:spPr/>
    </dgm:pt>
    <dgm:pt modelId="{1E1138A7-E594-459A-AB77-B7716A67DE1A}" type="pres">
      <dgm:prSet presAssocID="{7889D1E5-DCDC-4D61-A7CC-8D637BB95B8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use"/>
        </a:ext>
      </dgm:extLst>
    </dgm:pt>
    <dgm:pt modelId="{B5C6EC6A-9622-4F6B-B8DA-24971555D82F}" type="pres">
      <dgm:prSet presAssocID="{7889D1E5-DCDC-4D61-A7CC-8D637BB95B83}" presName="spaceRect" presStyleCnt="0"/>
      <dgm:spPr/>
    </dgm:pt>
    <dgm:pt modelId="{2E668590-589E-44C9-8E88-A1CA69AEF0AD}" type="pres">
      <dgm:prSet presAssocID="{7889D1E5-DCDC-4D61-A7CC-8D637BB95B83}" presName="parTx" presStyleLbl="revTx" presStyleIdx="3" presStyleCnt="4">
        <dgm:presLayoutVars>
          <dgm:chMax val="0"/>
          <dgm:chPref val="0"/>
        </dgm:presLayoutVars>
      </dgm:prSet>
      <dgm:spPr/>
    </dgm:pt>
  </dgm:ptLst>
  <dgm:cxnLst>
    <dgm:cxn modelId="{62334708-506A-44A8-A77C-9B3A6CC8D085}" type="presOf" srcId="{CB91B461-FF95-48D7-8F52-47C7A96C7CB7}" destId="{DA011D44-3ED9-4405-886E-211235D9B160}" srcOrd="0" destOrd="1" presId="urn:microsoft.com/office/officeart/2018/2/layout/IconVerticalSolidList"/>
    <dgm:cxn modelId="{BCC85018-0242-4C0E-959A-1BE7EC4E7D0F}" srcId="{BA53E76B-8BC4-47AA-98E4-2974AA285D1B}" destId="{3E524D7A-55EA-4B83-8E0E-264BD8F90D68}" srcOrd="2" destOrd="0" parTransId="{71873F43-3877-47C8-9D9E-93ABF894879A}" sibTransId="{DE7C3C6A-C81F-4AB2-A500-06B39693DEA7}"/>
    <dgm:cxn modelId="{87945A1E-947D-44AB-849F-26BF61F0C1BE}" srcId="{BA53E76B-8BC4-47AA-98E4-2974AA285D1B}" destId="{CB91B461-FF95-48D7-8F52-47C7A96C7CB7}" srcOrd="1" destOrd="0" parTransId="{48EAA3C8-F5F4-4420-9FC7-175830625092}" sibTransId="{D2BABB0F-DEDA-4DAB-A338-7A8C8A092B3B}"/>
    <dgm:cxn modelId="{975B0733-D5C4-4532-A0DE-CCDC6B1A5591}" type="presOf" srcId="{4689B1B0-51EF-4E3E-B801-643CC0A732A9}" destId="{DA011D44-3ED9-4405-886E-211235D9B160}" srcOrd="0" destOrd="0" presId="urn:microsoft.com/office/officeart/2018/2/layout/IconVerticalSolidList"/>
    <dgm:cxn modelId="{C1B6A847-A8E8-4F26-B606-0365DD000CC6}" type="presOf" srcId="{BA53E76B-8BC4-47AA-98E4-2974AA285D1B}" destId="{4226FC7C-7299-432E-9C10-87EC6AD898AC}" srcOrd="0" destOrd="0" presId="urn:microsoft.com/office/officeart/2018/2/layout/IconVerticalSolidList"/>
    <dgm:cxn modelId="{F679164C-AC2F-477C-BD05-CC63378E02BC}" srcId="{522C241E-235F-4E82-ABB0-14C861BB4476}" destId="{ABDE0E64-F549-4CA5-8ACE-F0FC65B705DD}" srcOrd="1" destOrd="0" parTransId="{F129C75B-047D-44AE-8709-A3862BEBC8A9}" sibTransId="{25F885FE-8DF9-4BB1-A1CF-AFF5DFDE1715}"/>
    <dgm:cxn modelId="{BF22CD81-D47B-4F7A-8289-89674B7661A6}" type="presOf" srcId="{7889D1E5-DCDC-4D61-A7CC-8D637BB95B83}" destId="{2E668590-589E-44C9-8E88-A1CA69AEF0AD}" srcOrd="0" destOrd="0" presId="urn:microsoft.com/office/officeart/2018/2/layout/IconVerticalSolidList"/>
    <dgm:cxn modelId="{3401F290-EEBA-4662-9276-838D0FAC2685}" srcId="{522C241E-235F-4E82-ABB0-14C861BB4476}" destId="{7889D1E5-DCDC-4D61-A7CC-8D637BB95B83}" srcOrd="2" destOrd="0" parTransId="{AFC1CCF1-C6B9-4028-B130-1107E78F5DA2}" sibTransId="{C9276099-1E65-4F8B-BB15-8E35066B8682}"/>
    <dgm:cxn modelId="{E1042F9F-2D8D-4F40-8809-81703FE98B56}" srcId="{522C241E-235F-4E82-ABB0-14C861BB4476}" destId="{BA53E76B-8BC4-47AA-98E4-2974AA285D1B}" srcOrd="0" destOrd="0" parTransId="{6967FD0B-4129-4BD8-9F70-44B884E9058E}" sibTransId="{3C927348-BA47-4795-B090-10614E5FFA63}"/>
    <dgm:cxn modelId="{FC8BA5A4-DF9A-43B4-90C1-A326FD3FFA0E}" type="presOf" srcId="{D5950577-4102-47A5-97B8-99ED2CD4A62D}" destId="{DA011D44-3ED9-4405-886E-211235D9B160}" srcOrd="0" destOrd="3" presId="urn:microsoft.com/office/officeart/2018/2/layout/IconVerticalSolidList"/>
    <dgm:cxn modelId="{D79E45BB-D485-4744-BFBE-92695A8493F3}" srcId="{BA53E76B-8BC4-47AA-98E4-2974AA285D1B}" destId="{D5950577-4102-47A5-97B8-99ED2CD4A62D}" srcOrd="3" destOrd="0" parTransId="{737E401A-FB7F-441E-BFDA-66C4824CF1D4}" sibTransId="{F4881540-4D2A-4FD2-A0CD-7BF6F7DDDB28}"/>
    <dgm:cxn modelId="{A3E50FC4-892A-4ACE-A311-5A505AAC808F}" type="presOf" srcId="{ABDE0E64-F549-4CA5-8ACE-F0FC65B705DD}" destId="{D67ACA9B-5D88-416E-8276-36CD2EF06CF2}" srcOrd="0" destOrd="0" presId="urn:microsoft.com/office/officeart/2018/2/layout/IconVerticalSolidList"/>
    <dgm:cxn modelId="{1C167BEC-9426-4FF4-9F39-2439727A4493}" srcId="{BA53E76B-8BC4-47AA-98E4-2974AA285D1B}" destId="{4689B1B0-51EF-4E3E-B801-643CC0A732A9}" srcOrd="0" destOrd="0" parTransId="{F6C31988-BFBB-41EA-A65E-96179CAAF5D4}" sibTransId="{E6E62D57-5A20-4CDA-B967-C85F1ECE749E}"/>
    <dgm:cxn modelId="{6B5E42F0-C5A7-4473-945F-129387C48453}" type="presOf" srcId="{3E524D7A-55EA-4B83-8E0E-264BD8F90D68}" destId="{DA011D44-3ED9-4405-886E-211235D9B160}" srcOrd="0" destOrd="2" presId="urn:microsoft.com/office/officeart/2018/2/layout/IconVerticalSolidList"/>
    <dgm:cxn modelId="{ECFA17F4-B6DA-49B6-B430-39B17F7E24E1}" type="presOf" srcId="{522C241E-235F-4E82-ABB0-14C861BB4476}" destId="{547F3F72-3BAB-40D0-9F16-8BDA06A5B114}" srcOrd="0" destOrd="0" presId="urn:microsoft.com/office/officeart/2018/2/layout/IconVerticalSolidList"/>
    <dgm:cxn modelId="{8BBE2A0B-C16A-428D-BBBC-C1DF23807E54}" type="presParOf" srcId="{547F3F72-3BAB-40D0-9F16-8BDA06A5B114}" destId="{C7865CA1-E1B5-4123-A2E4-49EEC434A296}" srcOrd="0" destOrd="0" presId="urn:microsoft.com/office/officeart/2018/2/layout/IconVerticalSolidList"/>
    <dgm:cxn modelId="{FD5A3A03-4D38-4EF6-ADCD-F144F2CA6A64}" type="presParOf" srcId="{C7865CA1-E1B5-4123-A2E4-49EEC434A296}" destId="{A744DF72-06F0-4DED-A208-819EA4FF4B38}" srcOrd="0" destOrd="0" presId="urn:microsoft.com/office/officeart/2018/2/layout/IconVerticalSolidList"/>
    <dgm:cxn modelId="{9A046B8A-937F-4D67-BE62-3D90F3F39673}" type="presParOf" srcId="{C7865CA1-E1B5-4123-A2E4-49EEC434A296}" destId="{7ED6ABDC-D0AD-4106-A6CA-567B6F50D0CB}" srcOrd="1" destOrd="0" presId="urn:microsoft.com/office/officeart/2018/2/layout/IconVerticalSolidList"/>
    <dgm:cxn modelId="{65003C8E-4555-4978-9D34-25EBD066C304}" type="presParOf" srcId="{C7865CA1-E1B5-4123-A2E4-49EEC434A296}" destId="{A2234768-A79B-45DB-8309-8B90120C1DE3}" srcOrd="2" destOrd="0" presId="urn:microsoft.com/office/officeart/2018/2/layout/IconVerticalSolidList"/>
    <dgm:cxn modelId="{DC166BD4-AD96-4181-826A-26B51B9D8D66}" type="presParOf" srcId="{C7865CA1-E1B5-4123-A2E4-49EEC434A296}" destId="{4226FC7C-7299-432E-9C10-87EC6AD898AC}" srcOrd="3" destOrd="0" presId="urn:microsoft.com/office/officeart/2018/2/layout/IconVerticalSolidList"/>
    <dgm:cxn modelId="{6CCE0C56-8660-4562-BF31-3488A956C51A}" type="presParOf" srcId="{C7865CA1-E1B5-4123-A2E4-49EEC434A296}" destId="{DA011D44-3ED9-4405-886E-211235D9B160}" srcOrd="4" destOrd="0" presId="urn:microsoft.com/office/officeart/2018/2/layout/IconVerticalSolidList"/>
    <dgm:cxn modelId="{478B4F50-FACF-4103-A70F-DFA8EABE3EDF}" type="presParOf" srcId="{547F3F72-3BAB-40D0-9F16-8BDA06A5B114}" destId="{2DD58EC0-8EF0-47EA-B5C4-83607B007963}" srcOrd="1" destOrd="0" presId="urn:microsoft.com/office/officeart/2018/2/layout/IconVerticalSolidList"/>
    <dgm:cxn modelId="{228E0537-A569-4F5C-9DF0-CA6F8C8C9281}" type="presParOf" srcId="{547F3F72-3BAB-40D0-9F16-8BDA06A5B114}" destId="{46D17D33-1388-48D6-B3D2-8D7FE7C62E3B}" srcOrd="2" destOrd="0" presId="urn:microsoft.com/office/officeart/2018/2/layout/IconVerticalSolidList"/>
    <dgm:cxn modelId="{18FDE036-AC83-4E45-9953-ACA50F253A08}" type="presParOf" srcId="{46D17D33-1388-48D6-B3D2-8D7FE7C62E3B}" destId="{0E5B92DF-22B7-42E2-B9ED-E0008167A68A}" srcOrd="0" destOrd="0" presId="urn:microsoft.com/office/officeart/2018/2/layout/IconVerticalSolidList"/>
    <dgm:cxn modelId="{CF16DC27-74B3-4FE0-BBEB-E88DDB01458C}" type="presParOf" srcId="{46D17D33-1388-48D6-B3D2-8D7FE7C62E3B}" destId="{03591475-A463-4830-95B6-21EBB8BD9A38}" srcOrd="1" destOrd="0" presId="urn:microsoft.com/office/officeart/2018/2/layout/IconVerticalSolidList"/>
    <dgm:cxn modelId="{6F636DDE-2AEB-454A-944C-EF5E71F33C2A}" type="presParOf" srcId="{46D17D33-1388-48D6-B3D2-8D7FE7C62E3B}" destId="{5E9447D7-609D-42BB-AAF5-3A6AF2C42D5E}" srcOrd="2" destOrd="0" presId="urn:microsoft.com/office/officeart/2018/2/layout/IconVerticalSolidList"/>
    <dgm:cxn modelId="{804F883A-AA9C-47FA-8742-810BF2AB5A54}" type="presParOf" srcId="{46D17D33-1388-48D6-B3D2-8D7FE7C62E3B}" destId="{D67ACA9B-5D88-416E-8276-36CD2EF06CF2}" srcOrd="3" destOrd="0" presId="urn:microsoft.com/office/officeart/2018/2/layout/IconVerticalSolidList"/>
    <dgm:cxn modelId="{1403EF08-5F8A-472D-8279-7F51334E0B77}" type="presParOf" srcId="{547F3F72-3BAB-40D0-9F16-8BDA06A5B114}" destId="{42A9F437-203F-4863-AB7E-7C57FE4BFEE3}" srcOrd="3" destOrd="0" presId="urn:microsoft.com/office/officeart/2018/2/layout/IconVerticalSolidList"/>
    <dgm:cxn modelId="{27A441C2-64AE-476F-9939-0006FD2E5A4C}" type="presParOf" srcId="{547F3F72-3BAB-40D0-9F16-8BDA06A5B114}" destId="{D00CA708-43B8-45E9-8A64-7C24DE2283AB}" srcOrd="4" destOrd="0" presId="urn:microsoft.com/office/officeart/2018/2/layout/IconVerticalSolidList"/>
    <dgm:cxn modelId="{29F7F5D4-1DE8-45A4-8D0C-2B66A453ECC6}" type="presParOf" srcId="{D00CA708-43B8-45E9-8A64-7C24DE2283AB}" destId="{7A243D31-EB20-4BFE-B3C0-B8F9BA79D94F}" srcOrd="0" destOrd="0" presId="urn:microsoft.com/office/officeart/2018/2/layout/IconVerticalSolidList"/>
    <dgm:cxn modelId="{AC52291E-C254-4036-84C9-DE74117E40B1}" type="presParOf" srcId="{D00CA708-43B8-45E9-8A64-7C24DE2283AB}" destId="{1E1138A7-E594-459A-AB77-B7716A67DE1A}" srcOrd="1" destOrd="0" presId="urn:microsoft.com/office/officeart/2018/2/layout/IconVerticalSolidList"/>
    <dgm:cxn modelId="{6C4B70B1-534F-43A5-A4F9-9E979E13F7DE}" type="presParOf" srcId="{D00CA708-43B8-45E9-8A64-7C24DE2283AB}" destId="{B5C6EC6A-9622-4F6B-B8DA-24971555D82F}" srcOrd="2" destOrd="0" presId="urn:microsoft.com/office/officeart/2018/2/layout/IconVerticalSolidList"/>
    <dgm:cxn modelId="{5FFE969E-57E2-4071-822E-F4F39815C11A}" type="presParOf" srcId="{D00CA708-43B8-45E9-8A64-7C24DE2283AB}" destId="{2E668590-589E-44C9-8E88-A1CA69AEF0A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E17910-82A9-47AE-8928-01C88FBD6A25}">
      <dsp:nvSpPr>
        <dsp:cNvPr id="0" name=""/>
        <dsp:cNvSpPr/>
      </dsp:nvSpPr>
      <dsp:spPr>
        <a:xfrm>
          <a:off x="0" y="383"/>
          <a:ext cx="7467356" cy="8983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DCE81D-2914-4DAC-AC14-6A53BB4B7FD5}">
      <dsp:nvSpPr>
        <dsp:cNvPr id="0" name=""/>
        <dsp:cNvSpPr/>
      </dsp:nvSpPr>
      <dsp:spPr>
        <a:xfrm>
          <a:off x="271745" y="202508"/>
          <a:ext cx="494082" cy="4940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98AB19-3966-4AE4-A7E9-866C5F26C46A}">
      <dsp:nvSpPr>
        <dsp:cNvPr id="0" name=""/>
        <dsp:cNvSpPr/>
      </dsp:nvSpPr>
      <dsp:spPr>
        <a:xfrm>
          <a:off x="1037572" y="383"/>
          <a:ext cx="6429783" cy="898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073" tIns="95073" rIns="95073" bIns="95073" numCol="1" spcCol="1270" anchor="ctr" anchorCtr="0">
          <a:noAutofit/>
        </a:bodyPr>
        <a:lstStyle/>
        <a:p>
          <a:pPr marL="0" lvl="0" indent="0" algn="l" defTabSz="1022350">
            <a:lnSpc>
              <a:spcPct val="100000"/>
            </a:lnSpc>
            <a:spcBef>
              <a:spcPct val="0"/>
            </a:spcBef>
            <a:spcAft>
              <a:spcPct val="35000"/>
            </a:spcAft>
            <a:buNone/>
          </a:pPr>
          <a:r>
            <a:rPr lang="en-GB" sz="2300" kern="1200"/>
            <a:t>Airbnb </a:t>
          </a:r>
          <a:r>
            <a:rPr lang="en-GB" sz="2300" kern="1200">
              <a:latin typeface="Arial"/>
            </a:rPr>
            <a:t>listing prices reflect observable housing characteristics captured by structured variables</a:t>
          </a:r>
          <a:endParaRPr lang="en-US" sz="2300" kern="1200"/>
        </a:p>
      </dsp:txBody>
      <dsp:txXfrm>
        <a:off x="1037572" y="383"/>
        <a:ext cx="6429783" cy="898330"/>
      </dsp:txXfrm>
    </dsp:sp>
    <dsp:sp modelId="{B7E3EAC7-BB17-4A49-8872-796862938C25}">
      <dsp:nvSpPr>
        <dsp:cNvPr id="0" name=""/>
        <dsp:cNvSpPr/>
      </dsp:nvSpPr>
      <dsp:spPr>
        <a:xfrm>
          <a:off x="0" y="1123297"/>
          <a:ext cx="7467356" cy="8983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8A6E39-A268-4634-9CC1-0A31EA55FA41}">
      <dsp:nvSpPr>
        <dsp:cNvPr id="0" name=""/>
        <dsp:cNvSpPr/>
      </dsp:nvSpPr>
      <dsp:spPr>
        <a:xfrm>
          <a:off x="271745" y="1325421"/>
          <a:ext cx="494082" cy="49408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73C3C2-B1D8-4183-8A0E-57D4E78AC6C8}">
      <dsp:nvSpPr>
        <dsp:cNvPr id="0" name=""/>
        <dsp:cNvSpPr/>
      </dsp:nvSpPr>
      <dsp:spPr>
        <a:xfrm>
          <a:off x="1037572" y="1123297"/>
          <a:ext cx="6429783" cy="898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073" tIns="95073" rIns="95073" bIns="95073" numCol="1" spcCol="1270" anchor="ctr" anchorCtr="0">
          <a:noAutofit/>
        </a:bodyPr>
        <a:lstStyle/>
        <a:p>
          <a:pPr marL="0" lvl="0" indent="0" algn="l" defTabSz="1022350">
            <a:lnSpc>
              <a:spcPct val="100000"/>
            </a:lnSpc>
            <a:spcBef>
              <a:spcPct val="0"/>
            </a:spcBef>
            <a:spcAft>
              <a:spcPct val="35000"/>
            </a:spcAft>
            <a:buNone/>
          </a:pPr>
          <a:r>
            <a:rPr lang="en-GB" sz="2300" kern="1200">
              <a:latin typeface="Arial"/>
            </a:rPr>
            <a:t>Some quality signals may not be fully captured by structured variables</a:t>
          </a:r>
        </a:p>
      </dsp:txBody>
      <dsp:txXfrm>
        <a:off x="1037572" y="1123297"/>
        <a:ext cx="6429783" cy="898330"/>
      </dsp:txXfrm>
    </dsp:sp>
    <dsp:sp modelId="{14CDD6C8-F596-46A1-BAAC-A2046548A735}">
      <dsp:nvSpPr>
        <dsp:cNvPr id="0" name=""/>
        <dsp:cNvSpPr/>
      </dsp:nvSpPr>
      <dsp:spPr>
        <a:xfrm>
          <a:off x="0" y="2246211"/>
          <a:ext cx="7467356" cy="8983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5BE253-4BE8-448A-8C3E-5DB025A4E33F}">
      <dsp:nvSpPr>
        <dsp:cNvPr id="0" name=""/>
        <dsp:cNvSpPr/>
      </dsp:nvSpPr>
      <dsp:spPr>
        <a:xfrm>
          <a:off x="271745" y="2448335"/>
          <a:ext cx="494082" cy="49408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AC11FB-D188-4B9A-9190-93D19E7D0C75}">
      <dsp:nvSpPr>
        <dsp:cNvPr id="0" name=""/>
        <dsp:cNvSpPr/>
      </dsp:nvSpPr>
      <dsp:spPr>
        <a:xfrm>
          <a:off x="1037572" y="2246211"/>
          <a:ext cx="6429783" cy="898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073" tIns="95073" rIns="95073" bIns="95073" numCol="1" spcCol="1270" anchor="ctr" anchorCtr="0">
          <a:noAutofit/>
        </a:bodyPr>
        <a:lstStyle/>
        <a:p>
          <a:pPr marL="0" lvl="0" indent="0" algn="l" defTabSz="1022350">
            <a:lnSpc>
              <a:spcPct val="100000"/>
            </a:lnSpc>
            <a:spcBef>
              <a:spcPct val="0"/>
            </a:spcBef>
            <a:spcAft>
              <a:spcPct val="35000"/>
            </a:spcAft>
            <a:buNone/>
          </a:pPr>
          <a:r>
            <a:rPr lang="en-US" sz="2300" kern="1200">
              <a:latin typeface="Arial"/>
            </a:rPr>
            <a:t>Listing descriptions may contain additional information about these signals</a:t>
          </a:r>
          <a:endParaRPr lang="en-US" sz="2300" kern="1200"/>
        </a:p>
      </dsp:txBody>
      <dsp:txXfrm>
        <a:off x="1037572" y="2246211"/>
        <a:ext cx="6429783" cy="8983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430008-51D3-498A-8B0F-E9CDF4A4CDB3}">
      <dsp:nvSpPr>
        <dsp:cNvPr id="0" name=""/>
        <dsp:cNvSpPr/>
      </dsp:nvSpPr>
      <dsp:spPr>
        <a:xfrm rot="5400000">
          <a:off x="5901126" y="-1259803"/>
          <a:ext cx="3893184" cy="7386088"/>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7640" tIns="83820" rIns="167640" bIns="83820" numCol="1" spcCol="1270" anchor="ctr" anchorCtr="0">
          <a:noAutofit/>
        </a:bodyPr>
        <a:lstStyle/>
        <a:p>
          <a:pPr marL="285750" lvl="1" indent="-285750" algn="l" defTabSz="1955800">
            <a:lnSpc>
              <a:spcPct val="90000"/>
            </a:lnSpc>
            <a:spcBef>
              <a:spcPct val="0"/>
            </a:spcBef>
            <a:spcAft>
              <a:spcPct val="15000"/>
            </a:spcAft>
            <a:buChar char="•"/>
          </a:pPr>
          <a:r>
            <a:rPr lang="en-US" sz="4400" kern="1200"/>
            <a:t>N-grams (Bag-of-Words)</a:t>
          </a:r>
        </a:p>
        <a:p>
          <a:pPr marL="285750" lvl="1" indent="-285750" algn="l" defTabSz="1955800">
            <a:lnSpc>
              <a:spcPct val="90000"/>
            </a:lnSpc>
            <a:spcBef>
              <a:spcPct val="0"/>
            </a:spcBef>
            <a:spcAft>
              <a:spcPct val="15000"/>
            </a:spcAft>
            <a:buChar char="•"/>
          </a:pPr>
          <a:r>
            <a:rPr lang="en-US" sz="4400" kern="1200"/>
            <a:t>Regularization</a:t>
          </a:r>
        </a:p>
        <a:p>
          <a:pPr marL="285750" lvl="1" indent="-285750" algn="l" defTabSz="1955800">
            <a:lnSpc>
              <a:spcPct val="90000"/>
            </a:lnSpc>
            <a:spcBef>
              <a:spcPct val="0"/>
            </a:spcBef>
            <a:spcAft>
              <a:spcPct val="15000"/>
            </a:spcAft>
            <a:buChar char="•"/>
          </a:pPr>
          <a:r>
            <a:rPr lang="en-US" sz="4400" kern="1200"/>
            <a:t>Word Embeddings</a:t>
          </a:r>
        </a:p>
        <a:p>
          <a:pPr marL="285750" lvl="1" indent="-285750" algn="l" defTabSz="1955800">
            <a:lnSpc>
              <a:spcPct val="90000"/>
            </a:lnSpc>
            <a:spcBef>
              <a:spcPct val="0"/>
            </a:spcBef>
            <a:spcAft>
              <a:spcPct val="15000"/>
            </a:spcAft>
            <a:buChar char="•"/>
          </a:pPr>
          <a:r>
            <a:rPr lang="en-US" sz="4400" kern="1200"/>
            <a:t>Transfer Learning</a:t>
          </a:r>
        </a:p>
        <a:p>
          <a:pPr marL="285750" lvl="1" indent="-285750" algn="l" defTabSz="1955800">
            <a:lnSpc>
              <a:spcPct val="90000"/>
            </a:lnSpc>
            <a:spcBef>
              <a:spcPct val="0"/>
            </a:spcBef>
            <a:spcAft>
              <a:spcPct val="15000"/>
            </a:spcAft>
            <a:buChar char="•"/>
          </a:pPr>
          <a:r>
            <a:rPr lang="en-US" sz="4400" kern="1200"/>
            <a:t>Benchmark Comparisons </a:t>
          </a:r>
        </a:p>
      </dsp:txBody>
      <dsp:txXfrm rot="-5400000">
        <a:off x="4154674" y="676699"/>
        <a:ext cx="7196038" cy="3513084"/>
      </dsp:txXfrm>
    </dsp:sp>
    <dsp:sp modelId="{F6B083D7-1B93-4260-9CCA-DBE1C200C08C}">
      <dsp:nvSpPr>
        <dsp:cNvPr id="0" name=""/>
        <dsp:cNvSpPr/>
      </dsp:nvSpPr>
      <dsp:spPr>
        <a:xfrm>
          <a:off x="0" y="0"/>
          <a:ext cx="4154674" cy="4866481"/>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36220" tIns="118110" rIns="236220" bIns="118110" numCol="1" spcCol="1270" anchor="ctr" anchorCtr="0">
          <a:noAutofit/>
        </a:bodyPr>
        <a:lstStyle/>
        <a:p>
          <a:pPr marL="0" lvl="0" indent="0" algn="ctr" defTabSz="2755900">
            <a:lnSpc>
              <a:spcPct val="90000"/>
            </a:lnSpc>
            <a:spcBef>
              <a:spcPct val="0"/>
            </a:spcBef>
            <a:spcAft>
              <a:spcPct val="35000"/>
            </a:spcAft>
            <a:buNone/>
          </a:pPr>
          <a:r>
            <a:rPr lang="en-US" sz="6200" kern="1200"/>
            <a:t>Methods:</a:t>
          </a:r>
        </a:p>
      </dsp:txBody>
      <dsp:txXfrm>
        <a:off x="202814" y="202814"/>
        <a:ext cx="3749046" cy="44608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E26F5-C3EA-4088-B497-2CB28B5BDE59}">
      <dsp:nvSpPr>
        <dsp:cNvPr id="0" name=""/>
        <dsp:cNvSpPr/>
      </dsp:nvSpPr>
      <dsp:spPr>
        <a:xfrm>
          <a:off x="1022" y="1056284"/>
          <a:ext cx="3986137" cy="239168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We must compare against simple baselines.</a:t>
          </a:r>
        </a:p>
      </dsp:txBody>
      <dsp:txXfrm>
        <a:off x="1022" y="1056284"/>
        <a:ext cx="3986137" cy="2391682"/>
      </dsp:txXfrm>
    </dsp:sp>
    <dsp:sp modelId="{5A193EE4-A624-4D74-A044-301C03CB517C}">
      <dsp:nvSpPr>
        <dsp:cNvPr id="0" name=""/>
        <dsp:cNvSpPr/>
      </dsp:nvSpPr>
      <dsp:spPr>
        <a:xfrm>
          <a:off x="4385772" y="1056284"/>
          <a:ext cx="3986137" cy="239168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b="1" kern="1200"/>
            <a:t>Benchmarks:</a:t>
          </a:r>
          <a:endParaRPr lang="en-US" sz="3300" kern="1200"/>
        </a:p>
        <a:p>
          <a:pPr marL="228600" lvl="1" indent="-228600" algn="l" defTabSz="1155700">
            <a:lnSpc>
              <a:spcPct val="90000"/>
            </a:lnSpc>
            <a:spcBef>
              <a:spcPct val="0"/>
            </a:spcBef>
            <a:spcAft>
              <a:spcPct val="15000"/>
            </a:spcAft>
            <a:buChar char="•"/>
          </a:pPr>
          <a:r>
            <a:rPr lang="en-US" sz="2600" kern="1200"/>
            <a:t>Structured-only LASSO</a:t>
          </a:r>
        </a:p>
        <a:p>
          <a:pPr marL="228600" lvl="1" indent="-228600" algn="l" defTabSz="1155700">
            <a:lnSpc>
              <a:spcPct val="90000"/>
            </a:lnSpc>
            <a:spcBef>
              <a:spcPct val="0"/>
            </a:spcBef>
            <a:spcAft>
              <a:spcPct val="15000"/>
            </a:spcAft>
            <a:buChar char="•"/>
          </a:pPr>
          <a:r>
            <a:rPr lang="en-US" sz="2600" kern="1200"/>
            <a:t>Description n-grams</a:t>
          </a:r>
        </a:p>
        <a:p>
          <a:pPr marL="228600" lvl="1" indent="-228600" algn="l" defTabSz="1155700">
            <a:lnSpc>
              <a:spcPct val="90000"/>
            </a:lnSpc>
            <a:spcBef>
              <a:spcPct val="0"/>
            </a:spcBef>
            <a:spcAft>
              <a:spcPct val="15000"/>
            </a:spcAft>
            <a:buChar char="•"/>
          </a:pPr>
          <a:r>
            <a:rPr lang="en-US" sz="2600" kern="1200"/>
            <a:t>Embeddings-only</a:t>
          </a:r>
        </a:p>
      </dsp:txBody>
      <dsp:txXfrm>
        <a:off x="4385772" y="1056284"/>
        <a:ext cx="3986137" cy="2391682"/>
      </dsp:txXfrm>
    </dsp:sp>
    <dsp:sp modelId="{8405044B-FF4B-492B-8EB9-B50ED75419A6}">
      <dsp:nvSpPr>
        <dsp:cNvPr id="0" name=""/>
        <dsp:cNvSpPr/>
      </dsp:nvSpPr>
      <dsp:spPr>
        <a:xfrm>
          <a:off x="2193397" y="3846580"/>
          <a:ext cx="3986137" cy="239168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This shows whether complex NLP adds value.</a:t>
          </a:r>
        </a:p>
      </dsp:txBody>
      <dsp:txXfrm>
        <a:off x="2193397" y="3846580"/>
        <a:ext cx="3986137" cy="23916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DEF7C8-B99F-4D27-85D2-017E722F403B}">
      <dsp:nvSpPr>
        <dsp:cNvPr id="0" name=""/>
        <dsp:cNvSpPr/>
      </dsp:nvSpPr>
      <dsp:spPr>
        <a:xfrm>
          <a:off x="0" y="2376"/>
          <a:ext cx="1154076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F3AE2E-F846-463E-9B6A-751CDEC27D9C}">
      <dsp:nvSpPr>
        <dsp:cNvPr id="0" name=""/>
        <dsp:cNvSpPr/>
      </dsp:nvSpPr>
      <dsp:spPr>
        <a:xfrm>
          <a:off x="0" y="2376"/>
          <a:ext cx="2308152" cy="1620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We use:</a:t>
          </a:r>
        </a:p>
      </dsp:txBody>
      <dsp:txXfrm>
        <a:off x="0" y="2376"/>
        <a:ext cx="2308152" cy="1620576"/>
      </dsp:txXfrm>
    </dsp:sp>
    <dsp:sp modelId="{FC060EDE-B47E-48BB-9EFA-DF3CE8B6C2EE}">
      <dsp:nvSpPr>
        <dsp:cNvPr id="0" name=""/>
        <dsp:cNvSpPr/>
      </dsp:nvSpPr>
      <dsp:spPr>
        <a:xfrm>
          <a:off x="2481264" y="21426"/>
          <a:ext cx="9059498" cy="381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Train/Test split</a:t>
          </a:r>
        </a:p>
      </dsp:txBody>
      <dsp:txXfrm>
        <a:off x="2481264" y="21426"/>
        <a:ext cx="9059498" cy="381009"/>
      </dsp:txXfrm>
    </dsp:sp>
    <dsp:sp modelId="{35ED0155-BDBA-4AB2-B269-ACBEF0B7059F}">
      <dsp:nvSpPr>
        <dsp:cNvPr id="0" name=""/>
        <dsp:cNvSpPr/>
      </dsp:nvSpPr>
      <dsp:spPr>
        <a:xfrm>
          <a:off x="2308152" y="402436"/>
          <a:ext cx="923261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9925C6-34E1-479F-8E9C-FDC8012A8642}">
      <dsp:nvSpPr>
        <dsp:cNvPr id="0" name=""/>
        <dsp:cNvSpPr/>
      </dsp:nvSpPr>
      <dsp:spPr>
        <a:xfrm>
          <a:off x="2481264" y="421486"/>
          <a:ext cx="9059498" cy="381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Stratification on log price</a:t>
          </a:r>
        </a:p>
      </dsp:txBody>
      <dsp:txXfrm>
        <a:off x="2481264" y="421486"/>
        <a:ext cx="9059498" cy="381009"/>
      </dsp:txXfrm>
    </dsp:sp>
    <dsp:sp modelId="{2BD7916D-36DE-45CF-93BB-FEE04E3E7AC2}">
      <dsp:nvSpPr>
        <dsp:cNvPr id="0" name=""/>
        <dsp:cNvSpPr/>
      </dsp:nvSpPr>
      <dsp:spPr>
        <a:xfrm>
          <a:off x="2308152" y="802496"/>
          <a:ext cx="923261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5F04FB-F745-4915-9B92-A84E41F1320E}">
      <dsp:nvSpPr>
        <dsp:cNvPr id="0" name=""/>
        <dsp:cNvSpPr/>
      </dsp:nvSpPr>
      <dsp:spPr>
        <a:xfrm>
          <a:off x="2481264" y="821546"/>
          <a:ext cx="9059498" cy="381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Cross-validated LASSO</a:t>
          </a:r>
        </a:p>
      </dsp:txBody>
      <dsp:txXfrm>
        <a:off x="2481264" y="821546"/>
        <a:ext cx="9059498" cy="381009"/>
      </dsp:txXfrm>
    </dsp:sp>
    <dsp:sp modelId="{4035B314-CB33-4873-8F76-95596F4D1B0B}">
      <dsp:nvSpPr>
        <dsp:cNvPr id="0" name=""/>
        <dsp:cNvSpPr/>
      </dsp:nvSpPr>
      <dsp:spPr>
        <a:xfrm>
          <a:off x="2308152" y="1202556"/>
          <a:ext cx="923261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17AA7-812E-482C-82E6-DD8BD982E162}">
      <dsp:nvSpPr>
        <dsp:cNvPr id="0" name=""/>
        <dsp:cNvSpPr/>
      </dsp:nvSpPr>
      <dsp:spPr>
        <a:xfrm>
          <a:off x="2481264" y="1221606"/>
          <a:ext cx="9059498" cy="381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RMSE &amp; MAE</a:t>
          </a:r>
        </a:p>
      </dsp:txBody>
      <dsp:txXfrm>
        <a:off x="2481264" y="1221606"/>
        <a:ext cx="9059498" cy="381009"/>
      </dsp:txXfrm>
    </dsp:sp>
    <dsp:sp modelId="{17138AFC-BB6A-4B50-83CB-7F158AC1C3C0}">
      <dsp:nvSpPr>
        <dsp:cNvPr id="0" name=""/>
        <dsp:cNvSpPr/>
      </dsp:nvSpPr>
      <dsp:spPr>
        <a:xfrm>
          <a:off x="2308152" y="1602616"/>
          <a:ext cx="923261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05AED7A-35C0-499D-936C-52746BC6433F}">
      <dsp:nvSpPr>
        <dsp:cNvPr id="0" name=""/>
        <dsp:cNvSpPr/>
      </dsp:nvSpPr>
      <dsp:spPr>
        <a:xfrm>
          <a:off x="0" y="1622952"/>
          <a:ext cx="1154076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411F0D-F595-47B4-9513-9F93F964E8EA}">
      <dsp:nvSpPr>
        <dsp:cNvPr id="0" name=""/>
        <dsp:cNvSpPr/>
      </dsp:nvSpPr>
      <dsp:spPr>
        <a:xfrm>
          <a:off x="0" y="1622952"/>
          <a:ext cx="2308152" cy="1620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We compare to benchmarks to measure incremental value</a:t>
          </a:r>
        </a:p>
      </dsp:txBody>
      <dsp:txXfrm>
        <a:off x="0" y="1622952"/>
        <a:ext cx="2308152" cy="1620576"/>
      </dsp:txXfrm>
    </dsp:sp>
    <dsp:sp modelId="{2E2BF405-7671-4A4B-AB9D-23A41A200989}">
      <dsp:nvSpPr>
        <dsp:cNvPr id="0" name=""/>
        <dsp:cNvSpPr/>
      </dsp:nvSpPr>
      <dsp:spPr>
        <a:xfrm>
          <a:off x="0" y="3243528"/>
          <a:ext cx="1154076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9E1196-CB64-4520-B62C-924F01882DA9}">
      <dsp:nvSpPr>
        <dsp:cNvPr id="0" name=""/>
        <dsp:cNvSpPr/>
      </dsp:nvSpPr>
      <dsp:spPr>
        <a:xfrm>
          <a:off x="0" y="3243528"/>
          <a:ext cx="2308152" cy="1620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This follows best practices from class.</a:t>
          </a:r>
        </a:p>
      </dsp:txBody>
      <dsp:txXfrm>
        <a:off x="0" y="3243528"/>
        <a:ext cx="2308152" cy="16205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715805-245E-4829-BDA4-00328C636B24}">
      <dsp:nvSpPr>
        <dsp:cNvPr id="0" name=""/>
        <dsp:cNvSpPr/>
      </dsp:nvSpPr>
      <dsp:spPr>
        <a:xfrm>
          <a:off x="0" y="13"/>
          <a:ext cx="4748394" cy="8424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When might this fail?</a:t>
          </a:r>
        </a:p>
      </dsp:txBody>
      <dsp:txXfrm>
        <a:off x="41123" y="41136"/>
        <a:ext cx="4666148" cy="760154"/>
      </dsp:txXfrm>
    </dsp:sp>
    <dsp:sp modelId="{EA23338E-B2E4-4B22-9D5C-8F7F26B96B7A}">
      <dsp:nvSpPr>
        <dsp:cNvPr id="0" name=""/>
        <dsp:cNvSpPr/>
      </dsp:nvSpPr>
      <dsp:spPr>
        <a:xfrm>
          <a:off x="0" y="848038"/>
          <a:ext cx="4748394" cy="3800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762"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dirty="0"/>
            <a:t>Extreme luxury listings</a:t>
          </a:r>
        </a:p>
        <a:p>
          <a:pPr marL="285750" lvl="1" indent="-285750" algn="l" defTabSz="1244600">
            <a:lnSpc>
              <a:spcPct val="90000"/>
            </a:lnSpc>
            <a:spcBef>
              <a:spcPct val="0"/>
            </a:spcBef>
            <a:spcAft>
              <a:spcPct val="20000"/>
            </a:spcAft>
            <a:buChar char="•"/>
          </a:pPr>
          <a:r>
            <a:rPr lang="en-US" sz="2800" kern="1200" dirty="0"/>
            <a:t>Time-varying demand shocks</a:t>
          </a:r>
        </a:p>
        <a:p>
          <a:pPr marL="285750" lvl="1" indent="-285750" algn="l" defTabSz="1244600">
            <a:lnSpc>
              <a:spcPct val="90000"/>
            </a:lnSpc>
            <a:spcBef>
              <a:spcPct val="0"/>
            </a:spcBef>
            <a:spcAft>
              <a:spcPct val="20000"/>
            </a:spcAft>
            <a:buChar char="•"/>
          </a:pPr>
          <a:r>
            <a:rPr lang="en-US" sz="2800" kern="1200" dirty="0"/>
            <a:t>Missing neighborhood income</a:t>
          </a:r>
        </a:p>
        <a:p>
          <a:pPr marL="285750" lvl="1" indent="-285750" algn="l" defTabSz="1244600">
            <a:lnSpc>
              <a:spcPct val="90000"/>
            </a:lnSpc>
            <a:spcBef>
              <a:spcPct val="0"/>
            </a:spcBef>
            <a:spcAft>
              <a:spcPct val="20000"/>
            </a:spcAft>
            <a:buChar char="•"/>
          </a:pPr>
          <a:r>
            <a:rPr lang="en-US" sz="2800" kern="1200" dirty="0"/>
            <a:t>Nonlinear pricing mechanisms</a:t>
          </a:r>
        </a:p>
        <a:p>
          <a:pPr marL="285750" lvl="1" indent="-285750" algn="l" defTabSz="1244600">
            <a:lnSpc>
              <a:spcPct val="90000"/>
            </a:lnSpc>
            <a:spcBef>
              <a:spcPct val="0"/>
            </a:spcBef>
            <a:spcAft>
              <a:spcPct val="20000"/>
            </a:spcAft>
            <a:buChar char="•"/>
          </a:pPr>
          <a:r>
            <a:rPr lang="en-US" sz="2800" kern="1200" dirty="0"/>
            <a:t>LASSO assumes linear effects.</a:t>
          </a:r>
        </a:p>
      </dsp:txBody>
      <dsp:txXfrm>
        <a:off x="0" y="848038"/>
        <a:ext cx="4748394" cy="38005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5C540-F3FB-4CF8-8FC7-40E1E299700A}">
      <dsp:nvSpPr>
        <dsp:cNvPr id="0" name=""/>
        <dsp:cNvSpPr/>
      </dsp:nvSpPr>
      <dsp:spPr>
        <a:xfrm>
          <a:off x="0" y="481140"/>
          <a:ext cx="5593031" cy="4347000"/>
        </a:xfrm>
        <a:prstGeom prst="rect">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34081" tIns="624840" rIns="434081" bIns="213360" numCol="1" spcCol="1270" anchor="t" anchorCtr="0">
          <a:noAutofit/>
        </a:bodyPr>
        <a:lstStyle/>
        <a:p>
          <a:pPr marL="285750" lvl="1" indent="-285750" algn="l" defTabSz="1333500">
            <a:lnSpc>
              <a:spcPct val="90000"/>
            </a:lnSpc>
            <a:spcBef>
              <a:spcPct val="0"/>
            </a:spcBef>
            <a:spcAft>
              <a:spcPct val="15000"/>
            </a:spcAft>
            <a:buChar char="•"/>
          </a:pPr>
          <a:r>
            <a:rPr lang="en-US" sz="3000" kern="1200" dirty="0"/>
            <a:t>Dynamic pricing effects</a:t>
          </a:r>
        </a:p>
        <a:p>
          <a:pPr marL="285750" lvl="1" indent="-285750" algn="l" defTabSz="1333500">
            <a:lnSpc>
              <a:spcPct val="90000"/>
            </a:lnSpc>
            <a:spcBef>
              <a:spcPct val="0"/>
            </a:spcBef>
            <a:spcAft>
              <a:spcPct val="15000"/>
            </a:spcAft>
            <a:buChar char="•"/>
          </a:pPr>
          <a:r>
            <a:rPr lang="en-US" sz="3000" kern="1200" dirty="0"/>
            <a:t>Borough-level income merge</a:t>
          </a:r>
        </a:p>
        <a:p>
          <a:pPr marL="285750" lvl="1" indent="-285750" algn="l" defTabSz="1333500">
            <a:lnSpc>
              <a:spcPct val="90000"/>
            </a:lnSpc>
            <a:spcBef>
              <a:spcPct val="0"/>
            </a:spcBef>
            <a:spcAft>
              <a:spcPct val="15000"/>
            </a:spcAft>
            <a:buChar char="•"/>
          </a:pPr>
          <a:r>
            <a:rPr lang="en-US" sz="3000" kern="1200" dirty="0"/>
            <a:t>Nonlinear models (tree-based)</a:t>
          </a:r>
        </a:p>
        <a:p>
          <a:pPr marL="285750" lvl="1" indent="-285750" algn="l" defTabSz="1333500">
            <a:lnSpc>
              <a:spcPct val="90000"/>
            </a:lnSpc>
            <a:spcBef>
              <a:spcPct val="0"/>
            </a:spcBef>
            <a:spcAft>
              <a:spcPct val="15000"/>
            </a:spcAft>
            <a:buChar char="•"/>
          </a:pPr>
          <a:r>
            <a:rPr lang="en-US" sz="3000" kern="1200" dirty="0"/>
            <a:t>Review sentiment</a:t>
          </a:r>
        </a:p>
        <a:p>
          <a:pPr marL="285750" lvl="1" indent="-285750" algn="l" defTabSz="1333500">
            <a:lnSpc>
              <a:spcPct val="90000"/>
            </a:lnSpc>
            <a:spcBef>
              <a:spcPct val="0"/>
            </a:spcBef>
            <a:spcAft>
              <a:spcPct val="15000"/>
            </a:spcAft>
            <a:buChar char="•"/>
          </a:pPr>
          <a:r>
            <a:rPr lang="en-US" sz="3000" kern="1200"/>
            <a:t>Central vs Outer London subsample</a:t>
          </a:r>
        </a:p>
      </dsp:txBody>
      <dsp:txXfrm>
        <a:off x="0" y="481140"/>
        <a:ext cx="5593031" cy="4347000"/>
      </dsp:txXfrm>
    </dsp:sp>
    <dsp:sp modelId="{5856B978-6A39-4C5F-823F-4C5B6CAA50ED}">
      <dsp:nvSpPr>
        <dsp:cNvPr id="0" name=""/>
        <dsp:cNvSpPr/>
      </dsp:nvSpPr>
      <dsp:spPr>
        <a:xfrm>
          <a:off x="279651" y="38340"/>
          <a:ext cx="3915121" cy="88560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7982" tIns="0" rIns="147982" bIns="0" numCol="1" spcCol="1270" anchor="ctr" anchorCtr="0">
          <a:noAutofit/>
        </a:bodyPr>
        <a:lstStyle/>
        <a:p>
          <a:pPr marL="0" lvl="0" indent="0" algn="l" defTabSz="1333500">
            <a:lnSpc>
              <a:spcPct val="90000"/>
            </a:lnSpc>
            <a:spcBef>
              <a:spcPct val="0"/>
            </a:spcBef>
            <a:spcAft>
              <a:spcPct val="35000"/>
            </a:spcAft>
            <a:buNone/>
          </a:pPr>
          <a:r>
            <a:rPr lang="en-US" sz="3000" kern="1200" dirty="0"/>
            <a:t>Future improvements:</a:t>
          </a:r>
        </a:p>
      </dsp:txBody>
      <dsp:txXfrm>
        <a:off x="322882" y="81571"/>
        <a:ext cx="3828659" cy="7991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4DF72-06F0-4DED-A208-819EA4FF4B38}">
      <dsp:nvSpPr>
        <dsp:cNvPr id="0" name=""/>
        <dsp:cNvSpPr/>
      </dsp:nvSpPr>
      <dsp:spPr>
        <a:xfrm>
          <a:off x="0" y="594"/>
          <a:ext cx="11540763" cy="139008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D6ABDC-D0AD-4106-A6CA-567B6F50D0CB}">
      <dsp:nvSpPr>
        <dsp:cNvPr id="0" name=""/>
        <dsp:cNvSpPr/>
      </dsp:nvSpPr>
      <dsp:spPr>
        <a:xfrm>
          <a:off x="420500" y="313362"/>
          <a:ext cx="764546" cy="7645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26FC7C-7299-432E-9C10-87EC6AD898AC}">
      <dsp:nvSpPr>
        <dsp:cNvPr id="0" name=""/>
        <dsp:cNvSpPr/>
      </dsp:nvSpPr>
      <dsp:spPr>
        <a:xfrm>
          <a:off x="1605546" y="594"/>
          <a:ext cx="5193343" cy="1390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117" tIns="147117" rIns="147117" bIns="147117" numCol="1" spcCol="1270" anchor="ctr" anchorCtr="0">
          <a:noAutofit/>
        </a:bodyPr>
        <a:lstStyle/>
        <a:p>
          <a:pPr marL="0" lvl="0" indent="0" algn="l" defTabSz="1111250">
            <a:lnSpc>
              <a:spcPct val="100000"/>
            </a:lnSpc>
            <a:spcBef>
              <a:spcPct val="0"/>
            </a:spcBef>
            <a:spcAft>
              <a:spcPct val="35000"/>
            </a:spcAft>
            <a:buNone/>
          </a:pPr>
          <a:r>
            <a:rPr lang="en-US" sz="2500" b="1" kern="1200"/>
            <a:t>Titles contain limited signal</a:t>
          </a:r>
          <a:endParaRPr lang="en-US" sz="2500" kern="1200"/>
        </a:p>
      </dsp:txBody>
      <dsp:txXfrm>
        <a:off x="1605546" y="594"/>
        <a:ext cx="5193343" cy="1390083"/>
      </dsp:txXfrm>
    </dsp:sp>
    <dsp:sp modelId="{DA011D44-3ED9-4405-886E-211235D9B160}">
      <dsp:nvSpPr>
        <dsp:cNvPr id="0" name=""/>
        <dsp:cNvSpPr/>
      </dsp:nvSpPr>
      <dsp:spPr>
        <a:xfrm>
          <a:off x="6798890" y="594"/>
          <a:ext cx="4741872" cy="1390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117" tIns="147117" rIns="147117" bIns="147117" numCol="1" spcCol="1270" anchor="ctr" anchorCtr="0">
          <a:noAutofit/>
        </a:bodyPr>
        <a:lstStyle/>
        <a:p>
          <a:pPr marL="0" lvl="0" indent="0" algn="l" defTabSz="622300">
            <a:lnSpc>
              <a:spcPct val="100000"/>
            </a:lnSpc>
            <a:spcBef>
              <a:spcPct val="0"/>
            </a:spcBef>
            <a:spcAft>
              <a:spcPct val="35000"/>
            </a:spcAft>
            <a:buNone/>
          </a:pPr>
          <a:r>
            <a:rPr lang="en-US" sz="1400" kern="1200"/>
            <a:t>Descriptions contain meaningful economic information</a:t>
          </a:r>
        </a:p>
        <a:p>
          <a:pPr marL="0" lvl="0" indent="0" algn="l" defTabSz="622300">
            <a:lnSpc>
              <a:spcPct val="100000"/>
            </a:lnSpc>
            <a:spcBef>
              <a:spcPct val="0"/>
            </a:spcBef>
            <a:spcAft>
              <a:spcPct val="35000"/>
            </a:spcAft>
            <a:buNone/>
          </a:pPr>
          <a:r>
            <a:rPr lang="en-US" sz="1400" kern="1200"/>
            <a:t>Structured housing features dominate price</a:t>
          </a:r>
        </a:p>
        <a:p>
          <a:pPr marL="0" lvl="0" indent="0" algn="l" defTabSz="622300">
            <a:lnSpc>
              <a:spcPct val="100000"/>
            </a:lnSpc>
            <a:spcBef>
              <a:spcPct val="0"/>
            </a:spcBef>
            <a:spcAft>
              <a:spcPct val="35000"/>
            </a:spcAft>
            <a:buNone/>
          </a:pPr>
          <a:r>
            <a:rPr lang="en-US" sz="1400" kern="1200"/>
            <a:t>Text provides incremental predictive power</a:t>
          </a:r>
        </a:p>
        <a:p>
          <a:pPr marL="0" lvl="0" indent="0" algn="l" defTabSz="622300">
            <a:lnSpc>
              <a:spcPct val="100000"/>
            </a:lnSpc>
            <a:spcBef>
              <a:spcPct val="0"/>
            </a:spcBef>
            <a:spcAft>
              <a:spcPct val="35000"/>
            </a:spcAft>
            <a:buNone/>
          </a:pPr>
          <a:r>
            <a:rPr lang="en-US" sz="1400" kern="1200"/>
            <a:t>Transfer learning adds semantic richness</a:t>
          </a:r>
        </a:p>
      </dsp:txBody>
      <dsp:txXfrm>
        <a:off x="6798890" y="594"/>
        <a:ext cx="4741872" cy="1390083"/>
      </dsp:txXfrm>
    </dsp:sp>
    <dsp:sp modelId="{0E5B92DF-22B7-42E2-B9ED-E0008167A68A}">
      <dsp:nvSpPr>
        <dsp:cNvPr id="0" name=""/>
        <dsp:cNvSpPr/>
      </dsp:nvSpPr>
      <dsp:spPr>
        <a:xfrm>
          <a:off x="0" y="1738198"/>
          <a:ext cx="11540763" cy="139008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591475-A463-4830-95B6-21EBB8BD9A38}">
      <dsp:nvSpPr>
        <dsp:cNvPr id="0" name=""/>
        <dsp:cNvSpPr/>
      </dsp:nvSpPr>
      <dsp:spPr>
        <a:xfrm>
          <a:off x="420500" y="2050967"/>
          <a:ext cx="764546" cy="7645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7ACA9B-5D88-416E-8276-36CD2EF06CF2}">
      <dsp:nvSpPr>
        <dsp:cNvPr id="0" name=""/>
        <dsp:cNvSpPr/>
      </dsp:nvSpPr>
      <dsp:spPr>
        <a:xfrm>
          <a:off x="1605546" y="1738198"/>
          <a:ext cx="9935216" cy="1390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117" tIns="147117" rIns="147117" bIns="147117" numCol="1" spcCol="1270" anchor="ctr" anchorCtr="0">
          <a:noAutofit/>
        </a:bodyPr>
        <a:lstStyle/>
        <a:p>
          <a:pPr marL="0" lvl="0" indent="0" algn="l" defTabSz="1111250">
            <a:lnSpc>
              <a:spcPct val="100000"/>
            </a:lnSpc>
            <a:spcBef>
              <a:spcPct val="0"/>
            </a:spcBef>
            <a:spcAft>
              <a:spcPct val="35000"/>
            </a:spcAft>
            <a:buNone/>
          </a:pPr>
          <a:r>
            <a:rPr lang="en-US" sz="2500" b="1" kern="1200"/>
            <a:t>Final Takeaway:</a:t>
          </a:r>
          <a:endParaRPr lang="en-US" sz="2500" kern="1200"/>
        </a:p>
      </dsp:txBody>
      <dsp:txXfrm>
        <a:off x="1605546" y="1738198"/>
        <a:ext cx="9935216" cy="1390083"/>
      </dsp:txXfrm>
    </dsp:sp>
    <dsp:sp modelId="{7A243D31-EB20-4BFE-B3C0-B8F9BA79D94F}">
      <dsp:nvSpPr>
        <dsp:cNvPr id="0" name=""/>
        <dsp:cNvSpPr/>
      </dsp:nvSpPr>
      <dsp:spPr>
        <a:xfrm>
          <a:off x="0" y="3475803"/>
          <a:ext cx="11540763" cy="139008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1138A7-E594-459A-AB77-B7716A67DE1A}">
      <dsp:nvSpPr>
        <dsp:cNvPr id="0" name=""/>
        <dsp:cNvSpPr/>
      </dsp:nvSpPr>
      <dsp:spPr>
        <a:xfrm>
          <a:off x="420500" y="3788572"/>
          <a:ext cx="764546" cy="7645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668590-589E-44C9-8E88-A1CA69AEF0AD}">
      <dsp:nvSpPr>
        <dsp:cNvPr id="0" name=""/>
        <dsp:cNvSpPr/>
      </dsp:nvSpPr>
      <dsp:spPr>
        <a:xfrm>
          <a:off x="1605546" y="3475803"/>
          <a:ext cx="9935216" cy="1390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117" tIns="147117" rIns="147117" bIns="147117" numCol="1" spcCol="1270" anchor="ctr" anchorCtr="0">
          <a:noAutofit/>
        </a:bodyPr>
        <a:lstStyle/>
        <a:p>
          <a:pPr marL="0" lvl="0" indent="0" algn="l" defTabSz="1111250">
            <a:lnSpc>
              <a:spcPct val="100000"/>
            </a:lnSpc>
            <a:spcBef>
              <a:spcPct val="0"/>
            </a:spcBef>
            <a:spcAft>
              <a:spcPct val="35000"/>
            </a:spcAft>
            <a:buNone/>
          </a:pPr>
          <a:r>
            <a:rPr lang="en-US" sz="2500" kern="1200"/>
            <a:t>Airbnb descriptions encode economically meaningful signals beyond observable housing characteristics.</a:t>
          </a:r>
        </a:p>
      </dsp:txBody>
      <dsp:txXfrm>
        <a:off x="1605546" y="3475803"/>
        <a:ext cx="9935216" cy="139008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3/2/26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914353" rtl="0" eaLnBrk="1" latinLnBrk="0" hangingPunct="1">
      <a:defRPr sz="1200" kern="1200">
        <a:solidFill>
          <a:schemeClr val="tx1"/>
        </a:solidFill>
        <a:latin typeface="+mn-lt"/>
        <a:ea typeface="+mn-ea"/>
        <a:cs typeface="+mn-cs"/>
      </a:defRPr>
    </a:lvl1pPr>
    <a:lvl2pPr marL="457177" algn="l" defTabSz="914353" rtl="0" eaLnBrk="1" latinLnBrk="0" hangingPunct="1">
      <a:defRPr sz="1200" kern="1200">
        <a:solidFill>
          <a:schemeClr val="tx1"/>
        </a:solidFill>
        <a:latin typeface="+mn-lt"/>
        <a:ea typeface="+mn-ea"/>
        <a:cs typeface="+mn-cs"/>
      </a:defRPr>
    </a:lvl2pPr>
    <a:lvl3pPr marL="914353" algn="l" defTabSz="914353" rtl="0" eaLnBrk="1" latinLnBrk="0" hangingPunct="1">
      <a:defRPr sz="1200" kern="1200">
        <a:solidFill>
          <a:schemeClr val="tx1"/>
        </a:solidFill>
        <a:latin typeface="+mn-lt"/>
        <a:ea typeface="+mn-ea"/>
        <a:cs typeface="+mn-cs"/>
      </a:defRPr>
    </a:lvl3pPr>
    <a:lvl4pPr marL="1371530" algn="l" defTabSz="914353" rtl="0" eaLnBrk="1" latinLnBrk="0" hangingPunct="1">
      <a:defRPr sz="1200" kern="1200">
        <a:solidFill>
          <a:schemeClr val="tx1"/>
        </a:solidFill>
        <a:latin typeface="+mn-lt"/>
        <a:ea typeface="+mn-ea"/>
        <a:cs typeface="+mn-cs"/>
      </a:defRPr>
    </a:lvl4pPr>
    <a:lvl5pPr marL="1828706" algn="l" defTabSz="914353" rtl="0" eaLnBrk="1" latinLnBrk="0" hangingPunct="1">
      <a:defRPr sz="1200" kern="1200">
        <a:solidFill>
          <a:schemeClr val="tx1"/>
        </a:solidFill>
        <a:latin typeface="+mn-lt"/>
        <a:ea typeface="+mn-ea"/>
        <a:cs typeface="+mn-cs"/>
      </a:defRPr>
    </a:lvl5pPr>
    <a:lvl6pPr marL="2285883" algn="l" defTabSz="914353" rtl="0" eaLnBrk="1" latinLnBrk="0" hangingPunct="1">
      <a:defRPr sz="1200" kern="1200">
        <a:solidFill>
          <a:schemeClr val="tx1"/>
        </a:solidFill>
        <a:latin typeface="+mn-lt"/>
        <a:ea typeface="+mn-ea"/>
        <a:cs typeface="+mn-cs"/>
      </a:defRPr>
    </a:lvl6pPr>
    <a:lvl7pPr marL="2743060" algn="l" defTabSz="914353" rtl="0" eaLnBrk="1" latinLnBrk="0" hangingPunct="1">
      <a:defRPr sz="1200" kern="1200">
        <a:solidFill>
          <a:schemeClr val="tx1"/>
        </a:solidFill>
        <a:latin typeface="+mn-lt"/>
        <a:ea typeface="+mn-ea"/>
        <a:cs typeface="+mn-cs"/>
      </a:defRPr>
    </a:lvl7pPr>
    <a:lvl8pPr marL="3200236" algn="l" defTabSz="914353" rtl="0" eaLnBrk="1" latinLnBrk="0" hangingPunct="1">
      <a:defRPr sz="1200" kern="1200">
        <a:solidFill>
          <a:schemeClr val="tx1"/>
        </a:solidFill>
        <a:latin typeface="+mn-lt"/>
        <a:ea typeface="+mn-ea"/>
        <a:cs typeface="+mn-cs"/>
      </a:defRPr>
    </a:lvl8pPr>
    <a:lvl9pPr marL="3657413" algn="l" defTabSz="91435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a hedonic pricing framework, the price of a good reflects the bundle of characteristics it contains. In the case of Airbnb listings, structured variables such as bedrooms, bathrooms, and location capture observable housing fundamentals. However, listing descriptions may encode additional signals such as prestige, amenities, or perceived quality. Our model treats structured and linguistic features as two sets of characteristics and tests whether text provides incremental explanatory power in predicting price.</a:t>
            </a:r>
          </a:p>
        </p:txBody>
      </p:sp>
      <p:sp>
        <p:nvSpPr>
          <p:cNvPr id="4" name="Slide Number Placeholder 3"/>
          <p:cNvSpPr>
            <a:spLocks noGrp="1"/>
          </p:cNvSpPr>
          <p:nvPr>
            <p:ph type="sldNum" sz="quarter" idx="5"/>
          </p:nvPr>
        </p:nvSpPr>
        <p:spPr/>
        <p:txBody>
          <a:bodyPr/>
          <a:lstStyle/>
          <a:p>
            <a:fld id="{877663E2-27CE-4C79-91D3-7F5C4262D57F}" type="slidenum">
              <a:rPr lang="en-US" smtClean="0"/>
              <a:t>4</a:t>
            </a:fld>
            <a:endParaRPr lang="en-US"/>
          </a:p>
        </p:txBody>
      </p:sp>
    </p:spTree>
    <p:extLst>
      <p:ext uri="{BB962C8B-B14F-4D97-AF65-F5344CB8AC3E}">
        <p14:creationId xmlns:p14="http://schemas.microsoft.com/office/powerpoint/2010/main" val="2542379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US"/>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b="1">
                <a:solidFill>
                  <a:schemeClr val="accent1"/>
                </a:solidFill>
                <a:latin typeface="+mj-lt"/>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US"/>
              <a:t>Click to edit Master text styles</a:t>
            </a:r>
          </a:p>
        </p:txBody>
      </p:sp>
    </p:spTree>
    <p:extLst>
      <p:ext uri="{BB962C8B-B14F-4D97-AF65-F5344CB8AC3E}">
        <p14:creationId xmlns:p14="http://schemas.microsoft.com/office/powerpoint/2010/main" val="243303334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Smoke">
    <p:bg>
      <p:bgPr>
        <a:solidFill>
          <a:schemeClr val="bg2"/>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US"/>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b="1">
                <a:solidFill>
                  <a:schemeClr val="accent1"/>
                </a:solidFill>
                <a:latin typeface="+mj-lt"/>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US"/>
              <a:t>Click to edit Master text styles</a:t>
            </a:r>
          </a:p>
        </p:txBody>
      </p:sp>
    </p:spTree>
    <p:extLst>
      <p:ext uri="{BB962C8B-B14F-4D97-AF65-F5344CB8AC3E}">
        <p14:creationId xmlns:p14="http://schemas.microsoft.com/office/powerpoint/2010/main" val="249726487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Khaki">
    <p:bg>
      <p:bgPr>
        <a:solidFill>
          <a:srgbClr val="FBF7DC"/>
        </a:solidFill>
        <a:effectLst/>
      </p:bgPr>
    </p:bg>
    <p:spTree>
      <p:nvGrpSpPr>
        <p:cNvPr id="1" name=""/>
        <p:cNvGrpSpPr/>
        <p:nvPr/>
      </p:nvGrpSpPr>
      <p:grpSpPr>
        <a:xfrm>
          <a:off x="0" y="0"/>
          <a:ext cx="0" cy="0"/>
          <a:chOff x="0" y="0"/>
          <a:chExt cx="0" cy="0"/>
        </a:xfrm>
      </p:grpSpPr>
      <p:grpSp>
        <p:nvGrpSpPr>
          <p:cNvPr id="23" name="Group 4">
            <a:extLst>
              <a:ext uri="{FF2B5EF4-FFF2-40B4-BE49-F238E27FC236}">
                <a16:creationId xmlns:a16="http://schemas.microsoft.com/office/drawing/2014/main" id="{0C35C447-372A-2538-9C02-9DA22221296C}"/>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24" name="Freeform 5">
              <a:extLst>
                <a:ext uri="{FF2B5EF4-FFF2-40B4-BE49-F238E27FC236}">
                  <a16:creationId xmlns:a16="http://schemas.microsoft.com/office/drawing/2014/main" id="{CFF1AFD2-F993-B30A-2282-C04F1F65AF0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6">
              <a:extLst>
                <a:ext uri="{FF2B5EF4-FFF2-40B4-BE49-F238E27FC236}">
                  <a16:creationId xmlns:a16="http://schemas.microsoft.com/office/drawing/2014/main" id="{2F13F474-91EA-0185-733B-62682BD9F6E9}"/>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6" name="Freeform 7">
              <a:extLst>
                <a:ext uri="{FF2B5EF4-FFF2-40B4-BE49-F238E27FC236}">
                  <a16:creationId xmlns:a16="http://schemas.microsoft.com/office/drawing/2014/main" id="{87072C05-B626-BAF9-5316-96EAB02420F0}"/>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7" name="Freeform 8">
              <a:extLst>
                <a:ext uri="{FF2B5EF4-FFF2-40B4-BE49-F238E27FC236}">
                  <a16:creationId xmlns:a16="http://schemas.microsoft.com/office/drawing/2014/main" id="{AC6EA6C6-1057-DAC8-2609-B6EB51B72376}"/>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8" name="Freeform 9">
              <a:extLst>
                <a:ext uri="{FF2B5EF4-FFF2-40B4-BE49-F238E27FC236}">
                  <a16:creationId xmlns:a16="http://schemas.microsoft.com/office/drawing/2014/main" id="{4E258757-AB3A-DE10-FDFE-35B9588E9C3E}"/>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9" name="Freeform 10">
              <a:extLst>
                <a:ext uri="{FF2B5EF4-FFF2-40B4-BE49-F238E27FC236}">
                  <a16:creationId xmlns:a16="http://schemas.microsoft.com/office/drawing/2014/main" id="{74360D36-2B50-3114-9CB9-4BEE96BCCE6A}"/>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0" name="Freeform 11">
              <a:extLst>
                <a:ext uri="{FF2B5EF4-FFF2-40B4-BE49-F238E27FC236}">
                  <a16:creationId xmlns:a16="http://schemas.microsoft.com/office/drawing/2014/main" id="{1B032D16-0F2B-1DEC-D92A-ACAF24C07B0A}"/>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31" name="Freeform 12">
              <a:extLst>
                <a:ext uri="{FF2B5EF4-FFF2-40B4-BE49-F238E27FC236}">
                  <a16:creationId xmlns:a16="http://schemas.microsoft.com/office/drawing/2014/main" id="{13923343-4541-4792-ADC5-E6333E98D37A}"/>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32" name="Title 1">
            <a:extLst>
              <a:ext uri="{FF2B5EF4-FFF2-40B4-BE49-F238E27FC236}">
                <a16:creationId xmlns:a16="http://schemas.microsoft.com/office/drawing/2014/main" id="{802863CF-25C1-DECF-F640-C736ECDB955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US"/>
              <a:t>Click to edit Master title style</a:t>
            </a:r>
            <a:endParaRPr lang="en-GB" dirty="0"/>
          </a:p>
        </p:txBody>
      </p:sp>
      <p:sp>
        <p:nvSpPr>
          <p:cNvPr id="33" name="Subtitle 2">
            <a:extLst>
              <a:ext uri="{FF2B5EF4-FFF2-40B4-BE49-F238E27FC236}">
                <a16:creationId xmlns:a16="http://schemas.microsoft.com/office/drawing/2014/main" id="{623E9086-C2CE-8088-D447-C484543077B0}"/>
              </a:ext>
            </a:extLst>
          </p:cNvPr>
          <p:cNvSpPr>
            <a:spLocks noGrp="1"/>
          </p:cNvSpPr>
          <p:nvPr>
            <p:ph type="subTitle" idx="1"/>
          </p:nvPr>
        </p:nvSpPr>
        <p:spPr>
          <a:xfrm>
            <a:off x="317251" y="4383000"/>
            <a:ext cx="9144000" cy="1322348"/>
          </a:xfrm>
        </p:spPr>
        <p:txBody>
          <a:bodyPr/>
          <a:lstStyle>
            <a:lvl1pPr marL="0" indent="0" algn="l">
              <a:buNone/>
              <a:defRPr sz="480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34" name="Text Placeholder 17">
            <a:extLst>
              <a:ext uri="{FF2B5EF4-FFF2-40B4-BE49-F238E27FC236}">
                <a16:creationId xmlns:a16="http://schemas.microsoft.com/office/drawing/2014/main" id="{C53F61BD-18EB-B863-761D-89639D8806F9}"/>
              </a:ext>
            </a:extLst>
          </p:cNvPr>
          <p:cNvSpPr>
            <a:spLocks noGrp="1"/>
          </p:cNvSpPr>
          <p:nvPr>
            <p:ph type="body" sz="quarter" idx="10"/>
          </p:nvPr>
        </p:nvSpPr>
        <p:spPr>
          <a:xfrm>
            <a:off x="330271" y="5789336"/>
            <a:ext cx="5579198" cy="740845"/>
          </a:xfrm>
        </p:spPr>
        <p:txBody>
          <a:bodyPr anchor="b"/>
          <a:lstStyle>
            <a:lvl1pPr>
              <a:defRPr sz="2200" b="1">
                <a:solidFill>
                  <a:schemeClr val="accent1"/>
                </a:solidFill>
                <a:latin typeface="+mj-lt"/>
                <a:ea typeface="Inter Medium" panose="02000503000000020004" pitchFamily="2" charset="0"/>
              </a:defRPr>
            </a:lvl1pPr>
            <a:lvl2pPr>
              <a:defRPr sz="2200">
                <a:solidFill>
                  <a:schemeClr val="accent1"/>
                </a:solidFill>
              </a:defRPr>
            </a:lvl2pPr>
            <a:lvl3pPr>
              <a:defRPr sz="2200">
                <a:solidFill>
                  <a:schemeClr val="accent1"/>
                </a:solidFill>
                <a:latin typeface="Inter Medium" panose="02000503000000020004" pitchFamily="2" charset="0"/>
                <a:ea typeface="Inter Medium" panose="02000503000000020004" pitchFamily="2" charset="0"/>
              </a:defRPr>
            </a:lvl3pPr>
            <a:lvl4pPr>
              <a:defRPr sz="2200">
                <a:solidFill>
                  <a:schemeClr val="accent1"/>
                </a:solidFill>
                <a:latin typeface="Inter Medium" panose="02000503000000020004" pitchFamily="2" charset="0"/>
                <a:ea typeface="Inter Medium" panose="02000503000000020004" pitchFamily="2" charset="0"/>
              </a:defRPr>
            </a:lvl4pPr>
            <a:lvl5pPr>
              <a:defRPr sz="2200">
                <a:solidFill>
                  <a:schemeClr val="accent1"/>
                </a:solidFill>
                <a:latin typeface="Inter Medium" panose="02000503000000020004" pitchFamily="2" charset="0"/>
                <a:ea typeface="Inter Medium" panose="02000503000000020004" pitchFamily="2" charset="0"/>
              </a:defRPr>
            </a:lvl5pPr>
          </a:lstStyle>
          <a:p>
            <a:pPr lvl="0"/>
            <a:r>
              <a:rPr lang="en-US"/>
              <a:t>Click to edit Master text styles</a:t>
            </a:r>
          </a:p>
        </p:txBody>
      </p:sp>
    </p:spTree>
    <p:extLst>
      <p:ext uri="{BB962C8B-B14F-4D97-AF65-F5344CB8AC3E}">
        <p14:creationId xmlns:p14="http://schemas.microsoft.com/office/powerpoint/2010/main" val="60668972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89336"/>
            <a:ext cx="5579198" cy="740845"/>
          </a:xfrm>
        </p:spPr>
        <p:txBody>
          <a:bodyPr anchor="b"/>
          <a:lstStyle>
            <a:lvl1pPr>
              <a:defRPr sz="2200" b="1">
                <a:solidFill>
                  <a:schemeClr val="bg1"/>
                </a:solidFill>
                <a:latin typeface="+mj-lt"/>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US"/>
              <a:t>Click to edit Master text styles</a:t>
            </a:r>
          </a:p>
        </p:txBody>
      </p:sp>
      <p:grpSp>
        <p:nvGrpSpPr>
          <p:cNvPr id="6" name="Group 4">
            <a:extLst>
              <a:ext uri="{FF2B5EF4-FFF2-40B4-BE49-F238E27FC236}">
                <a16:creationId xmlns:a16="http://schemas.microsoft.com/office/drawing/2014/main" id="{714C7637-5E21-BDDB-D675-718E58535D6D}"/>
              </a:ext>
            </a:extLst>
          </p:cNvPr>
          <p:cNvGrpSpPr>
            <a:grpSpLocks noChangeAspect="1"/>
          </p:cNvGrpSpPr>
          <p:nvPr userDrawn="1"/>
        </p:nvGrpSpPr>
        <p:grpSpPr bwMode="auto">
          <a:xfrm>
            <a:off x="330271" y="327819"/>
            <a:ext cx="3972600" cy="438124"/>
            <a:chOff x="0" y="3473"/>
            <a:chExt cx="15360" cy="1694"/>
          </a:xfrm>
        </p:grpSpPr>
        <p:sp>
          <p:nvSpPr>
            <p:cNvPr id="17" name="Freeform 5">
              <a:extLst>
                <a:ext uri="{FF2B5EF4-FFF2-40B4-BE49-F238E27FC236}">
                  <a16:creationId xmlns:a16="http://schemas.microsoft.com/office/drawing/2014/main" id="{A57B56D4-851E-7242-EAB1-CD5B53E8B9A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6">
              <a:extLst>
                <a:ext uri="{FF2B5EF4-FFF2-40B4-BE49-F238E27FC236}">
                  <a16:creationId xmlns:a16="http://schemas.microsoft.com/office/drawing/2014/main" id="{525FF1F4-36F0-A184-7B99-8F5F4A49C89F}"/>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7">
              <a:extLst>
                <a:ext uri="{FF2B5EF4-FFF2-40B4-BE49-F238E27FC236}">
                  <a16:creationId xmlns:a16="http://schemas.microsoft.com/office/drawing/2014/main" id="{F198715B-A90B-9B06-A055-401A84B0921B}"/>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8">
              <a:extLst>
                <a:ext uri="{FF2B5EF4-FFF2-40B4-BE49-F238E27FC236}">
                  <a16:creationId xmlns:a16="http://schemas.microsoft.com/office/drawing/2014/main" id="{9D2E04D5-A2EE-135D-A8C9-6E695F9BCF31}"/>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9">
              <a:extLst>
                <a:ext uri="{FF2B5EF4-FFF2-40B4-BE49-F238E27FC236}">
                  <a16:creationId xmlns:a16="http://schemas.microsoft.com/office/drawing/2014/main" id="{8CE0DC1F-799B-3F7A-3A71-D20337A4746C}"/>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3" name="Freeform 10">
              <a:extLst>
                <a:ext uri="{FF2B5EF4-FFF2-40B4-BE49-F238E27FC236}">
                  <a16:creationId xmlns:a16="http://schemas.microsoft.com/office/drawing/2014/main" id="{E8EAEE22-055F-6869-D50D-D9C8C9082FD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4" name="Freeform 11">
              <a:extLst>
                <a:ext uri="{FF2B5EF4-FFF2-40B4-BE49-F238E27FC236}">
                  <a16:creationId xmlns:a16="http://schemas.microsoft.com/office/drawing/2014/main" id="{EADAC67C-850F-96D3-0962-09E1B4CC3ECB}"/>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5" name="Freeform 12">
              <a:extLst>
                <a:ext uri="{FF2B5EF4-FFF2-40B4-BE49-F238E27FC236}">
                  <a16:creationId xmlns:a16="http://schemas.microsoft.com/office/drawing/2014/main" id="{683187A0-2E68-170D-55EF-0FA20E7A75B8}"/>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6288291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98F30683-44FB-4995-47C3-43A7DE5523C7}"/>
              </a:ext>
            </a:extLst>
          </p:cNvPr>
          <p:cNvGrpSpPr>
            <a:grpSpLocks noChangeAspect="1"/>
          </p:cNvGrpSpPr>
          <p:nvPr userDrawn="1"/>
        </p:nvGrpSpPr>
        <p:grpSpPr bwMode="auto">
          <a:xfrm>
            <a:off x="330271" y="327819"/>
            <a:ext cx="3972600" cy="438124"/>
            <a:chOff x="0" y="3473"/>
            <a:chExt cx="15360" cy="1694"/>
          </a:xfrm>
        </p:grpSpPr>
        <p:sp>
          <p:nvSpPr>
            <p:cNvPr id="5" name="Freeform 5">
              <a:extLst>
                <a:ext uri="{FF2B5EF4-FFF2-40B4-BE49-F238E27FC236}">
                  <a16:creationId xmlns:a16="http://schemas.microsoft.com/office/drawing/2014/main" id="{77A24E86-91AA-6A9B-314A-752B77481A0D}"/>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6">
              <a:extLst>
                <a:ext uri="{FF2B5EF4-FFF2-40B4-BE49-F238E27FC236}">
                  <a16:creationId xmlns:a16="http://schemas.microsoft.com/office/drawing/2014/main" id="{A879B37A-F4A9-2DDA-3FC3-9FC52384AE62}"/>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7">
              <a:extLst>
                <a:ext uri="{FF2B5EF4-FFF2-40B4-BE49-F238E27FC236}">
                  <a16:creationId xmlns:a16="http://schemas.microsoft.com/office/drawing/2014/main" id="{93DABC58-132F-2F2F-EB5B-78B30A3D448C}"/>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8">
              <a:extLst>
                <a:ext uri="{FF2B5EF4-FFF2-40B4-BE49-F238E27FC236}">
                  <a16:creationId xmlns:a16="http://schemas.microsoft.com/office/drawing/2014/main" id="{DFE51362-844C-B4F1-1A83-A287F312E94A}"/>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9">
              <a:extLst>
                <a:ext uri="{FF2B5EF4-FFF2-40B4-BE49-F238E27FC236}">
                  <a16:creationId xmlns:a16="http://schemas.microsoft.com/office/drawing/2014/main" id="{E0F57AAB-C462-6A3A-9686-048341EA78B1}"/>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0">
              <a:extLst>
                <a:ext uri="{FF2B5EF4-FFF2-40B4-BE49-F238E27FC236}">
                  <a16:creationId xmlns:a16="http://schemas.microsoft.com/office/drawing/2014/main" id="{8A0D371A-82CE-1829-AA32-FB790C7A60A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1">
              <a:extLst>
                <a:ext uri="{FF2B5EF4-FFF2-40B4-BE49-F238E27FC236}">
                  <a16:creationId xmlns:a16="http://schemas.microsoft.com/office/drawing/2014/main" id="{EA0DE082-4D8F-8158-56B4-AF85C4A0FA22}"/>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2" name="Freeform 12">
              <a:extLst>
                <a:ext uri="{FF2B5EF4-FFF2-40B4-BE49-F238E27FC236}">
                  <a16:creationId xmlns:a16="http://schemas.microsoft.com/office/drawing/2014/main" id="{530CFB56-59E9-38CF-519A-B532B32547A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
        <p:nvSpPr>
          <p:cNvPr id="23" name="Title 1">
            <a:extLst>
              <a:ext uri="{FF2B5EF4-FFF2-40B4-BE49-F238E27FC236}">
                <a16:creationId xmlns:a16="http://schemas.microsoft.com/office/drawing/2014/main" id="{FB5434B5-DD4C-F988-6EBA-085A7DD4940D}"/>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US"/>
              <a:t>Click to edit Master title style</a:t>
            </a:r>
            <a:endParaRPr lang="en-GB" dirty="0"/>
          </a:p>
        </p:txBody>
      </p:sp>
      <p:sp>
        <p:nvSpPr>
          <p:cNvPr id="24" name="Subtitle 2">
            <a:extLst>
              <a:ext uri="{FF2B5EF4-FFF2-40B4-BE49-F238E27FC236}">
                <a16:creationId xmlns:a16="http://schemas.microsoft.com/office/drawing/2014/main" id="{1E34748E-CBEF-26E7-AB9F-696FA5D599DC}"/>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25" name="Text Placeholder 17">
            <a:extLst>
              <a:ext uri="{FF2B5EF4-FFF2-40B4-BE49-F238E27FC236}">
                <a16:creationId xmlns:a16="http://schemas.microsoft.com/office/drawing/2014/main" id="{1DF2DBC8-2D33-BD84-A330-691C8B97975A}"/>
              </a:ext>
            </a:extLst>
          </p:cNvPr>
          <p:cNvSpPr>
            <a:spLocks noGrp="1"/>
          </p:cNvSpPr>
          <p:nvPr>
            <p:ph type="body" sz="quarter" idx="10"/>
          </p:nvPr>
        </p:nvSpPr>
        <p:spPr>
          <a:xfrm>
            <a:off x="330271" y="5789336"/>
            <a:ext cx="5579198" cy="740845"/>
          </a:xfrm>
        </p:spPr>
        <p:txBody>
          <a:bodyPr anchor="b"/>
          <a:lstStyle>
            <a:lvl1pPr>
              <a:defRPr sz="2200" b="1">
                <a:solidFill>
                  <a:schemeClr val="bg1"/>
                </a:solidFill>
                <a:latin typeface="+mj-lt"/>
                <a:ea typeface="Inter Medium" panose="02000503000000020004" pitchFamily="2" charset="0"/>
              </a:defRPr>
            </a:lvl1pPr>
            <a:lvl2pPr>
              <a:defRPr sz="2200">
                <a:solidFill>
                  <a:schemeClr val="bg1"/>
                </a:solidFill>
              </a:defRPr>
            </a:lvl2pPr>
            <a:lvl3pPr>
              <a:defRPr sz="2200">
                <a:solidFill>
                  <a:schemeClr val="bg1"/>
                </a:solidFill>
                <a:latin typeface="Inter Medium" panose="02000503000000020004" pitchFamily="2" charset="0"/>
                <a:ea typeface="Inter Medium" panose="02000503000000020004" pitchFamily="2" charset="0"/>
              </a:defRPr>
            </a:lvl3pPr>
            <a:lvl4pPr>
              <a:defRPr sz="2200">
                <a:solidFill>
                  <a:schemeClr val="bg1"/>
                </a:solidFill>
                <a:latin typeface="Inter Medium" panose="02000503000000020004" pitchFamily="2" charset="0"/>
                <a:ea typeface="Inter Medium" panose="02000503000000020004" pitchFamily="2" charset="0"/>
              </a:defRPr>
            </a:lvl4pPr>
            <a:lvl5pPr>
              <a:defRPr sz="2200">
                <a:solidFill>
                  <a:schemeClr val="bg1"/>
                </a:solidFill>
                <a:latin typeface="Inter Medium" panose="02000503000000020004" pitchFamily="2" charset="0"/>
                <a:ea typeface="Inter Medium" panose="02000503000000020004" pitchFamily="2" charset="0"/>
              </a:defRPr>
            </a:lvl5pPr>
          </a:lstStyle>
          <a:p>
            <a:pPr lvl="0"/>
            <a:r>
              <a:rPr lang="en-US"/>
              <a:t>Click to edit Master text styles</a:t>
            </a:r>
          </a:p>
        </p:txBody>
      </p:sp>
    </p:spTree>
    <p:extLst>
      <p:ext uri="{BB962C8B-B14F-4D97-AF65-F5344CB8AC3E}">
        <p14:creationId xmlns:p14="http://schemas.microsoft.com/office/powerpoint/2010/main" val="407999913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20848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6122023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327819"/>
            <a:ext cx="5163243" cy="3101181"/>
          </a:xfrm>
        </p:spPr>
        <p:txBody>
          <a:bodyPr/>
          <a:lstStyle>
            <a:lvl1pPr>
              <a:defRPr sz="6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025"/>
            <a:ext cx="5777508" cy="3101977"/>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483203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FE4-6876-B5B6-E975-473C9AD4B5B2}"/>
              </a:ext>
            </a:extLst>
          </p:cNvPr>
          <p:cNvSpPr>
            <a:spLocks noGrp="1"/>
          </p:cNvSpPr>
          <p:nvPr>
            <p:ph type="title"/>
          </p:nvPr>
        </p:nvSpPr>
        <p:spPr>
          <a:xfrm>
            <a:off x="318494" y="238870"/>
            <a:ext cx="5163243" cy="3190130"/>
          </a:xfrm>
        </p:spPr>
        <p:txBody>
          <a:bodyPr/>
          <a:lstStyle>
            <a:lvl1pPr>
              <a:defRPr sz="6400">
                <a:solidFill>
                  <a:schemeClr val="bg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89A3DB1-810F-A8E3-C248-4835CAA99DF5}"/>
              </a:ext>
            </a:extLst>
          </p:cNvPr>
          <p:cNvSpPr>
            <a:spLocks noGrp="1"/>
          </p:cNvSpPr>
          <p:nvPr>
            <p:ph type="dt" sz="half" idx="10"/>
          </p:nvPr>
        </p:nvSpPr>
        <p:spPr/>
        <p:txBody>
          <a:bodyPr/>
          <a:lstStyle>
            <a:lvl1pPr>
              <a:defRPr>
                <a:solidFill>
                  <a:schemeClr val="bg1"/>
                </a:solidFill>
              </a:defRPr>
            </a:lvl1pPr>
          </a:lstStyle>
          <a:p>
            <a:r>
              <a:rPr lang="en-US"/>
              <a:t>05/03/2026</a:t>
            </a:r>
            <a:endParaRPr lang="en-GB"/>
          </a:p>
        </p:txBody>
      </p:sp>
      <p:sp>
        <p:nvSpPr>
          <p:cNvPr id="4" name="Footer Placeholder 3">
            <a:extLst>
              <a:ext uri="{FF2B5EF4-FFF2-40B4-BE49-F238E27FC236}">
                <a16:creationId xmlns:a16="http://schemas.microsoft.com/office/drawing/2014/main" id="{A6B777E5-A94F-F8C3-D5F7-C4C35810FF1A}"/>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8A089025-7C4D-C600-55FE-4CBA1AECC50A}"/>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Content Placeholder 6">
            <a:extLst>
              <a:ext uri="{FF2B5EF4-FFF2-40B4-BE49-F238E27FC236}">
                <a16:creationId xmlns:a16="http://schemas.microsoft.com/office/drawing/2014/main" id="{3F3EA03B-C9D6-61A6-148F-9BF74F07D9B8}"/>
              </a:ext>
            </a:extLst>
          </p:cNvPr>
          <p:cNvSpPr>
            <a:spLocks noGrp="1"/>
          </p:cNvSpPr>
          <p:nvPr>
            <p:ph sz="quarter" idx="13"/>
          </p:nvPr>
        </p:nvSpPr>
        <p:spPr>
          <a:xfrm>
            <a:off x="6096001" y="327819"/>
            <a:ext cx="5777508" cy="310118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Box 7">
            <a:extLst>
              <a:ext uri="{FF2B5EF4-FFF2-40B4-BE49-F238E27FC236}">
                <a16:creationId xmlns:a16="http://schemas.microsoft.com/office/drawing/2014/main" id="{F9C35426-417C-E41E-5A03-5974D3C79A0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75161828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r>
              <a:rPr lang="en-US"/>
              <a:t>05/03/2026</a:t>
            </a:r>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3317466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r>
              <a:rPr lang="en-US"/>
              <a:t>05/03/2026</a:t>
            </a:r>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2184638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25800" y="252000"/>
            <a:ext cx="11540763" cy="378044"/>
          </a:xfrm>
        </p:spPr>
        <p:txBody>
          <a:bodyPr/>
          <a:lstStyle>
            <a:lvl1pP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a:xfrm>
            <a:off x="325800" y="1394619"/>
            <a:ext cx="11540763"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r>
              <a:rPr lang="en-US"/>
              <a:t>05/03/2026</a:t>
            </a:r>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8" name="Subtitle 2">
            <a:extLst>
              <a:ext uri="{FF2B5EF4-FFF2-40B4-BE49-F238E27FC236}">
                <a16:creationId xmlns:a16="http://schemas.microsoft.com/office/drawing/2014/main" id="{62B454FF-7060-E11B-6122-C9D16BC06047}"/>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68526107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r>
              <a:rPr lang="en-US"/>
              <a:t>05/03/2026</a:t>
            </a:r>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20903585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r>
              <a:rPr lang="en-US"/>
              <a:t>05/03/2026</a:t>
            </a:r>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202019597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326232" y="252000"/>
            <a:ext cx="11541025" cy="378044"/>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326232" y="1394619"/>
            <a:ext cx="5583238"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283325" y="1394619"/>
            <a:ext cx="5583238" cy="48664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r>
              <a:rPr lang="en-US"/>
              <a:t>05/03/2026</a:t>
            </a:r>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10" name="Subtitle 2">
            <a:extLst>
              <a:ext uri="{FF2B5EF4-FFF2-40B4-BE49-F238E27FC236}">
                <a16:creationId xmlns:a16="http://schemas.microsoft.com/office/drawing/2014/main" id="{3E5619CB-8093-9292-D19B-3E145BB563F3}"/>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180747767"/>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388475608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268663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26232"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96397"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66562"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ubtitle 2">
            <a:extLst>
              <a:ext uri="{FF2B5EF4-FFF2-40B4-BE49-F238E27FC236}">
                <a16:creationId xmlns:a16="http://schemas.microsoft.com/office/drawing/2014/main" id="{CBB1273F-0B9B-4FDD-4203-5D0C87B419DE}"/>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253624803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Images and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US"/>
              <a:t>Click icon to add picture</a:t>
            </a:r>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US"/>
              <a:t>Click icon to add picture</a:t>
            </a:r>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US"/>
              <a:t>Click icon to add picture</a:t>
            </a:r>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03706673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Images and Captions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US"/>
              <a:t>Click icon to add picture</a:t>
            </a:r>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US"/>
              <a:t>Click icon to add picture</a:t>
            </a:r>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US"/>
              <a:t>Click icon to add picture</a:t>
            </a:r>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1609803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and Captions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23E2-CB33-A043-EFAE-5E5920ABF286}"/>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6D07086-8168-2FFB-8A6A-847C21CE63D9}"/>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2BF319C-1022-A0DE-5680-6E6F7A33ADB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FA01DCF-BF44-5758-3698-48171189DF1F}"/>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Content Placeholder 2">
            <a:extLst>
              <a:ext uri="{FF2B5EF4-FFF2-40B4-BE49-F238E27FC236}">
                <a16:creationId xmlns:a16="http://schemas.microsoft.com/office/drawing/2014/main" id="{07DDBB1C-FCE2-459F-CD23-42AF9E169BFC}"/>
              </a:ext>
            </a:extLst>
          </p:cNvPr>
          <p:cNvSpPr>
            <a:spLocks noGrp="1"/>
          </p:cNvSpPr>
          <p:nvPr>
            <p:ph idx="1"/>
          </p:nvPr>
        </p:nvSpPr>
        <p:spPr>
          <a:xfrm>
            <a:off x="318493"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7284B46C-0DDC-167C-514E-EB0FCC3E4BE7}"/>
              </a:ext>
            </a:extLst>
          </p:cNvPr>
          <p:cNvSpPr>
            <a:spLocks noGrp="1"/>
          </p:cNvSpPr>
          <p:nvPr>
            <p:ph idx="14"/>
          </p:nvPr>
        </p:nvSpPr>
        <p:spPr>
          <a:xfrm>
            <a:off x="4276876"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AC354167-3149-957E-9D9F-B30D04014172}"/>
              </a:ext>
            </a:extLst>
          </p:cNvPr>
          <p:cNvSpPr>
            <a:spLocks noGrp="1"/>
          </p:cNvSpPr>
          <p:nvPr>
            <p:ph idx="15"/>
          </p:nvPr>
        </p:nvSpPr>
        <p:spPr>
          <a:xfrm>
            <a:off x="8235258" y="3429000"/>
            <a:ext cx="3600000" cy="2832100"/>
          </a:xfrm>
        </p:spPr>
        <p:txBody>
          <a:bodyPr/>
          <a:lstStyle>
            <a:lvl1pPr rtl="0">
              <a:defRPr sz="1800"/>
            </a:lvl1pPr>
            <a:lvl2pPr rtl="0">
              <a:defRPr sz="1800"/>
            </a:lvl2pPr>
            <a:lvl3pPr rtl="0">
              <a:defRPr sz="1800"/>
            </a:lvl3pPr>
            <a:lvl4pPr rtl="0">
              <a:defRPr sz="1800"/>
            </a:lvl4pPr>
            <a:lvl5pPr rtl="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a:extLst>
              <a:ext uri="{FF2B5EF4-FFF2-40B4-BE49-F238E27FC236}">
                <a16:creationId xmlns:a16="http://schemas.microsoft.com/office/drawing/2014/main" id="{047AD979-9E36-27D3-D861-472A37C9BD30}"/>
              </a:ext>
            </a:extLst>
          </p:cNvPr>
          <p:cNvSpPr>
            <a:spLocks noGrp="1"/>
          </p:cNvSpPr>
          <p:nvPr>
            <p:ph type="pic" sz="quarter" idx="16"/>
          </p:nvPr>
        </p:nvSpPr>
        <p:spPr>
          <a:xfrm>
            <a:off x="318490" y="1394619"/>
            <a:ext cx="3600000" cy="1836000"/>
          </a:xfrm>
          <a:solidFill>
            <a:schemeClr val="bg1">
              <a:lumMod val="85000"/>
            </a:schemeClr>
          </a:solidFill>
        </p:spPr>
        <p:txBody>
          <a:bodyPr/>
          <a:lstStyle/>
          <a:p>
            <a:r>
              <a:rPr lang="en-US"/>
              <a:t>Click icon to add picture</a:t>
            </a:r>
          </a:p>
        </p:txBody>
      </p:sp>
      <p:sp>
        <p:nvSpPr>
          <p:cNvPr id="12" name="Picture Placeholder 10">
            <a:extLst>
              <a:ext uri="{FF2B5EF4-FFF2-40B4-BE49-F238E27FC236}">
                <a16:creationId xmlns:a16="http://schemas.microsoft.com/office/drawing/2014/main" id="{BA925AEF-9705-43FC-B311-1B9A5C872480}"/>
              </a:ext>
            </a:extLst>
          </p:cNvPr>
          <p:cNvSpPr>
            <a:spLocks noGrp="1"/>
          </p:cNvSpPr>
          <p:nvPr>
            <p:ph type="pic" sz="quarter" idx="17"/>
          </p:nvPr>
        </p:nvSpPr>
        <p:spPr>
          <a:xfrm>
            <a:off x="4276876" y="1394619"/>
            <a:ext cx="3600000" cy="1836000"/>
          </a:xfrm>
          <a:solidFill>
            <a:schemeClr val="bg1">
              <a:lumMod val="85000"/>
            </a:schemeClr>
          </a:solidFill>
        </p:spPr>
        <p:txBody>
          <a:bodyPr/>
          <a:lstStyle/>
          <a:p>
            <a:r>
              <a:rPr lang="en-US"/>
              <a:t>Click icon to add picture</a:t>
            </a:r>
          </a:p>
        </p:txBody>
      </p:sp>
      <p:sp>
        <p:nvSpPr>
          <p:cNvPr id="13" name="Picture Placeholder 10">
            <a:extLst>
              <a:ext uri="{FF2B5EF4-FFF2-40B4-BE49-F238E27FC236}">
                <a16:creationId xmlns:a16="http://schemas.microsoft.com/office/drawing/2014/main" id="{71EBAC93-1C14-C84A-FF75-AC90D6C8A890}"/>
              </a:ext>
            </a:extLst>
          </p:cNvPr>
          <p:cNvSpPr>
            <a:spLocks noGrp="1"/>
          </p:cNvSpPr>
          <p:nvPr>
            <p:ph type="pic" sz="quarter" idx="18"/>
          </p:nvPr>
        </p:nvSpPr>
        <p:spPr>
          <a:xfrm>
            <a:off x="8235261" y="1394619"/>
            <a:ext cx="3600000" cy="1836000"/>
          </a:xfrm>
          <a:solidFill>
            <a:schemeClr val="bg1">
              <a:lumMod val="85000"/>
            </a:schemeClr>
          </a:solidFill>
        </p:spPr>
        <p:txBody>
          <a:bodyPr/>
          <a:lstStyle/>
          <a:p>
            <a:r>
              <a:rPr lang="en-US"/>
              <a:t>Click icon to add picture</a:t>
            </a:r>
          </a:p>
        </p:txBody>
      </p:sp>
      <p:sp>
        <p:nvSpPr>
          <p:cNvPr id="10" name="Subtitle 2">
            <a:extLst>
              <a:ext uri="{FF2B5EF4-FFF2-40B4-BE49-F238E27FC236}">
                <a16:creationId xmlns:a16="http://schemas.microsoft.com/office/drawing/2014/main" id="{A6EB687B-5D2E-6018-5C19-6211E4ADBA8B}"/>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28142315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40393448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Text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2447539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rge Text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819"/>
            <a:ext cx="9984000" cy="5933281"/>
          </a:xfrm>
        </p:spPr>
        <p:txBody>
          <a:bodyPr/>
          <a:lstStyle>
            <a:lvl1pPr>
              <a:defRPr sz="4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p>
            <a:fld id="{CBA53E11-492D-48B3-9F9B-09541CA2A39A}" type="slidenum">
              <a:rPr lang="en-GB" smtClean="0"/>
              <a:pPr/>
              <a:t>‹#›</a:t>
            </a:fld>
            <a:endParaRPr lang="en-GB"/>
          </a:p>
        </p:txBody>
      </p:sp>
    </p:spTree>
    <p:extLst>
      <p:ext uri="{BB962C8B-B14F-4D97-AF65-F5344CB8AC3E}">
        <p14:creationId xmlns:p14="http://schemas.microsoft.com/office/powerpoint/2010/main" val="351801924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Text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F41CF-A3E3-C272-C94C-947AC89C85B4}"/>
              </a:ext>
            </a:extLst>
          </p:cNvPr>
          <p:cNvSpPr>
            <a:spLocks noGrp="1"/>
          </p:cNvSpPr>
          <p:nvPr>
            <p:ph type="title"/>
          </p:nvPr>
        </p:nvSpPr>
        <p:spPr>
          <a:xfrm>
            <a:off x="318492" y="327025"/>
            <a:ext cx="9984000" cy="5934075"/>
          </a:xfrm>
        </p:spPr>
        <p:txBody>
          <a:bodyPr/>
          <a:lstStyle>
            <a:lvl1pPr>
              <a:defRPr sz="4800">
                <a:solidFill>
                  <a:schemeClr val="bg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5080FA7-D3DB-DCE0-62D3-E92CDF5E1BD8}"/>
              </a:ext>
            </a:extLst>
          </p:cNvPr>
          <p:cNvSpPr>
            <a:spLocks noGrp="1"/>
          </p:cNvSpPr>
          <p:nvPr>
            <p:ph type="dt" sz="half" idx="10"/>
          </p:nvPr>
        </p:nvSpPr>
        <p:spPr/>
        <p:txBody>
          <a:bodyPr/>
          <a:lstStyle>
            <a:lvl1pPr>
              <a:defRPr>
                <a:solidFill>
                  <a:schemeClr val="bg1"/>
                </a:solidFill>
              </a:defRPr>
            </a:lvl1pPr>
          </a:lstStyle>
          <a:p>
            <a:r>
              <a:rPr lang="en-US"/>
              <a:t>05/03/2026</a:t>
            </a:r>
            <a:endParaRPr lang="en-GB"/>
          </a:p>
        </p:txBody>
      </p:sp>
      <p:sp>
        <p:nvSpPr>
          <p:cNvPr id="4" name="Footer Placeholder 3">
            <a:extLst>
              <a:ext uri="{FF2B5EF4-FFF2-40B4-BE49-F238E27FC236}">
                <a16:creationId xmlns:a16="http://schemas.microsoft.com/office/drawing/2014/main" id="{37FFF8CC-E316-E641-C9CE-DF3DAA8A6428}"/>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7A2F5865-014C-FA86-09B0-6C05A0B661A9}"/>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8" name="TextBox 7">
            <a:extLst>
              <a:ext uri="{FF2B5EF4-FFF2-40B4-BE49-F238E27FC236}">
                <a16:creationId xmlns:a16="http://schemas.microsoft.com/office/drawing/2014/main" id="{24A8D6E0-472D-9B14-F3A6-BC2F23E87040}"/>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Tree>
    <p:extLst>
      <p:ext uri="{BB962C8B-B14F-4D97-AF65-F5344CB8AC3E}">
        <p14:creationId xmlns:p14="http://schemas.microsoft.com/office/powerpoint/2010/main" val="146774957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r>
              <a:rPr lang="en-US"/>
              <a:t>05/03/2026</a:t>
            </a:r>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US"/>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2673696074"/>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Smoke">
    <p:bg>
      <p:bgPr>
        <a:solidFill>
          <a:schemeClr val="bg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r>
              <a:rPr lang="en-US"/>
              <a:t>05/03/2026</a:t>
            </a:r>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US"/>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94925788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Khaki">
    <p:bg>
      <p:bgPr>
        <a:solidFill>
          <a:srgbClr val="FBF7DC"/>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D21AD4-68E5-D832-D55C-9ACFCD153AF8}"/>
              </a:ext>
            </a:extLst>
          </p:cNvPr>
          <p:cNvSpPr>
            <a:spLocks noGrp="1"/>
          </p:cNvSpPr>
          <p:nvPr>
            <p:ph type="dt" sz="half" idx="10"/>
          </p:nvPr>
        </p:nvSpPr>
        <p:spPr/>
        <p:txBody>
          <a:bodyPr/>
          <a:lstStyle/>
          <a:p>
            <a:r>
              <a:rPr lang="en-US"/>
              <a:t>05/03/2026</a:t>
            </a:r>
            <a:endParaRPr lang="en-GB"/>
          </a:p>
        </p:txBody>
      </p:sp>
      <p:sp>
        <p:nvSpPr>
          <p:cNvPr id="5" name="Footer Placeholder 4">
            <a:extLst>
              <a:ext uri="{FF2B5EF4-FFF2-40B4-BE49-F238E27FC236}">
                <a16:creationId xmlns:a16="http://schemas.microsoft.com/office/drawing/2014/main" id="{1311EA1B-04BA-0493-81EB-3E7823E190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DA22947-0466-77E3-9884-7FFF54F0FEAD}"/>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1">
            <a:extLst>
              <a:ext uri="{FF2B5EF4-FFF2-40B4-BE49-F238E27FC236}">
                <a16:creationId xmlns:a16="http://schemas.microsoft.com/office/drawing/2014/main" id="{45A24D7B-41EB-9794-42AE-564F6680EA41}"/>
              </a:ext>
            </a:extLst>
          </p:cNvPr>
          <p:cNvSpPr>
            <a:spLocks noGrp="1"/>
          </p:cNvSpPr>
          <p:nvPr>
            <p:ph type="ctrTitle"/>
          </p:nvPr>
        </p:nvSpPr>
        <p:spPr>
          <a:xfrm>
            <a:off x="317251" y="2417400"/>
            <a:ext cx="9144000" cy="1847942"/>
          </a:xfrm>
        </p:spPr>
        <p:txBody>
          <a:bodyPr anchor="b"/>
          <a:lstStyle>
            <a:lvl1pPr algn="l">
              <a:defRPr sz="6400">
                <a:solidFill>
                  <a:schemeClr val="accent1"/>
                </a:solidFill>
              </a:defRPr>
            </a:lvl1pPr>
          </a:lstStyle>
          <a:p>
            <a:r>
              <a:rPr lang="en-US"/>
              <a:t>Click to edit Master title style</a:t>
            </a:r>
            <a:endParaRPr lang="en-GB" dirty="0"/>
          </a:p>
        </p:txBody>
      </p:sp>
      <p:sp>
        <p:nvSpPr>
          <p:cNvPr id="8" name="Subtitle 2">
            <a:extLst>
              <a:ext uri="{FF2B5EF4-FFF2-40B4-BE49-F238E27FC236}">
                <a16:creationId xmlns:a16="http://schemas.microsoft.com/office/drawing/2014/main" id="{14EAC6AD-293C-6C12-F9F6-48F5FCB0E4A2}"/>
              </a:ext>
            </a:extLst>
          </p:cNvPr>
          <p:cNvSpPr>
            <a:spLocks noGrp="1"/>
          </p:cNvSpPr>
          <p:nvPr>
            <p:ph type="subTitle" idx="1"/>
          </p:nvPr>
        </p:nvSpPr>
        <p:spPr>
          <a:xfrm>
            <a:off x="317251" y="4383000"/>
            <a:ext cx="9144000" cy="1322348"/>
          </a:xfrm>
        </p:spPr>
        <p:txBody>
          <a:bodyPr/>
          <a:lstStyle>
            <a:lvl1pPr marL="0" indent="0" algn="l">
              <a:buNone/>
              <a:defRPr sz="4750">
                <a:solidFill>
                  <a:schemeClr val="accent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88680361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6FEE2EA-C029-0AE3-B18F-CB5D823CD415}"/>
              </a:ext>
            </a:extLst>
          </p:cNvPr>
          <p:cNvSpPr>
            <a:spLocks noGrp="1"/>
          </p:cNvSpPr>
          <p:nvPr>
            <p:ph type="dt" sz="half" idx="10"/>
          </p:nvPr>
        </p:nvSpPr>
        <p:spPr/>
        <p:txBody>
          <a:bodyPr/>
          <a:lstStyle>
            <a:lvl1pPr>
              <a:defRPr>
                <a:solidFill>
                  <a:schemeClr val="bg1"/>
                </a:solidFill>
              </a:defRPr>
            </a:lvl1pPr>
          </a:lstStyle>
          <a:p>
            <a:r>
              <a:rPr lang="en-US"/>
              <a:t>05/03/2026</a:t>
            </a:r>
            <a:endParaRPr lang="en-GB"/>
          </a:p>
        </p:txBody>
      </p:sp>
      <p:sp>
        <p:nvSpPr>
          <p:cNvPr id="5" name="Footer Placeholder 4">
            <a:extLst>
              <a:ext uri="{FF2B5EF4-FFF2-40B4-BE49-F238E27FC236}">
                <a16:creationId xmlns:a16="http://schemas.microsoft.com/office/drawing/2014/main" id="{DA74AA3B-FC1A-1DAF-C282-4ED6FC740315}"/>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D908A0A1-4076-F926-D730-16EF8BBD729E}"/>
              </a:ext>
            </a:extLst>
          </p:cNvPr>
          <p:cNvSpPr>
            <a:spLocks noGrp="1"/>
          </p:cNvSpPr>
          <p:nvPr>
            <p:ph type="sldNum" sz="quarter" idx="12"/>
          </p:nvPr>
        </p:nvSpPr>
        <p:spPr/>
        <p:txBody>
          <a:bodyPr/>
          <a:lstStyle>
            <a:lvl1pPr>
              <a:defRPr>
                <a:solidFill>
                  <a:schemeClr val="bg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433E70A2-A3C6-29D0-1DEB-4D8F9283B18B}"/>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bg1"/>
                </a:solidFill>
                <a:latin typeface="+mj-lt"/>
              </a:rPr>
              <a:t>Imperial College London</a:t>
            </a:r>
          </a:p>
        </p:txBody>
      </p:sp>
      <p:sp>
        <p:nvSpPr>
          <p:cNvPr id="9" name="Title 1">
            <a:extLst>
              <a:ext uri="{FF2B5EF4-FFF2-40B4-BE49-F238E27FC236}">
                <a16:creationId xmlns:a16="http://schemas.microsoft.com/office/drawing/2014/main" id="{8E2710C7-980D-1529-A1C4-D0B914429772}"/>
              </a:ext>
            </a:extLst>
          </p:cNvPr>
          <p:cNvSpPr>
            <a:spLocks noGrp="1"/>
          </p:cNvSpPr>
          <p:nvPr>
            <p:ph type="ctrTitle"/>
          </p:nvPr>
        </p:nvSpPr>
        <p:spPr>
          <a:xfrm>
            <a:off x="317251" y="2417400"/>
            <a:ext cx="9144000" cy="1847942"/>
          </a:xfrm>
        </p:spPr>
        <p:txBody>
          <a:bodyPr anchor="b"/>
          <a:lstStyle>
            <a:lvl1pPr algn="l">
              <a:defRPr sz="6400">
                <a:solidFill>
                  <a:schemeClr val="bg1"/>
                </a:solidFill>
              </a:defRPr>
            </a:lvl1pPr>
          </a:lstStyle>
          <a:p>
            <a:r>
              <a:rPr lang="en-US"/>
              <a:t>Click to edit Master title style</a:t>
            </a:r>
            <a:endParaRPr lang="en-GB" dirty="0"/>
          </a:p>
        </p:txBody>
      </p:sp>
      <p:sp>
        <p:nvSpPr>
          <p:cNvPr id="10" name="Subtitle 2">
            <a:extLst>
              <a:ext uri="{FF2B5EF4-FFF2-40B4-BE49-F238E27FC236}">
                <a16:creationId xmlns:a16="http://schemas.microsoft.com/office/drawing/2014/main" id="{01609BCD-EF9A-DF89-AAD2-167090C57F54}"/>
              </a:ext>
            </a:extLst>
          </p:cNvPr>
          <p:cNvSpPr>
            <a:spLocks noGrp="1"/>
          </p:cNvSpPr>
          <p:nvPr>
            <p:ph type="subTitle" idx="1"/>
          </p:nvPr>
        </p:nvSpPr>
        <p:spPr>
          <a:xfrm>
            <a:off x="317251" y="4383000"/>
            <a:ext cx="9144000" cy="1322348"/>
          </a:xfrm>
        </p:spPr>
        <p:txBody>
          <a:bodyPr/>
          <a:lstStyle>
            <a:lvl1pPr marL="0" indent="0" algn="l">
              <a:buNone/>
              <a:defRPr sz="4800">
                <a:solidFill>
                  <a:schemeClr val="bg1"/>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367399523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3963589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20639597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Title 6">
            <a:extLst>
              <a:ext uri="{FF2B5EF4-FFF2-40B4-BE49-F238E27FC236}">
                <a16:creationId xmlns:a16="http://schemas.microsoft.com/office/drawing/2014/main" id="{D52399BF-03C9-B24E-A780-BE7CD263C933}"/>
              </a:ext>
            </a:extLst>
          </p:cNvPr>
          <p:cNvSpPr>
            <a:spLocks noGrp="1"/>
          </p:cNvSpPr>
          <p:nvPr>
            <p:ph type="title"/>
          </p:nvPr>
        </p:nvSpPr>
        <p:spPr>
          <a:xfrm>
            <a:off x="325800" y="252000"/>
            <a:ext cx="5583670" cy="378044"/>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4D02234B-F0AA-AEA6-E636-52276BDE0E86}"/>
              </a:ext>
            </a:extLst>
          </p:cNvPr>
          <p:cNvSpPr>
            <a:spLocks noGrp="1"/>
          </p:cNvSpPr>
          <p:nvPr>
            <p:ph type="subTitle" idx="13"/>
          </p:nvPr>
        </p:nvSpPr>
        <p:spPr>
          <a:xfrm>
            <a:off x="325800" y="620196"/>
            <a:ext cx="558367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2" name="Text Placeholder 11">
            <a:extLst>
              <a:ext uri="{FF2B5EF4-FFF2-40B4-BE49-F238E27FC236}">
                <a16:creationId xmlns:a16="http://schemas.microsoft.com/office/drawing/2014/main" id="{B8D7AD65-3E40-A55B-332E-BB6300B58FD1}"/>
              </a:ext>
            </a:extLst>
          </p:cNvPr>
          <p:cNvSpPr>
            <a:spLocks noGrp="1"/>
          </p:cNvSpPr>
          <p:nvPr>
            <p:ph type="body" sz="quarter" idx="16"/>
          </p:nvPr>
        </p:nvSpPr>
        <p:spPr>
          <a:xfrm>
            <a:off x="325800" y="1394619"/>
            <a:ext cx="558367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2F90AF79-7BDC-6C86-6328-5E1E4E4A08B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77332222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and Four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US"/>
              <a:t>Click icon to add picture</a:t>
            </a:r>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US"/>
              <a:t>Click icon to add picture</a:t>
            </a:r>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US"/>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US"/>
              <a:t>Click icon to add picture</a:t>
            </a:r>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US"/>
              <a:t>Click icon to add picture</a:t>
            </a:r>
          </a:p>
        </p:txBody>
      </p:sp>
    </p:spTree>
    <p:extLst>
      <p:ext uri="{BB962C8B-B14F-4D97-AF65-F5344CB8AC3E}">
        <p14:creationId xmlns:p14="http://schemas.microsoft.com/office/powerpoint/2010/main" val="246506536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and Four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US"/>
              <a:t>Click icon to add picture</a:t>
            </a:r>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US"/>
              <a:t>Click icon to add picture</a:t>
            </a:r>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US"/>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US"/>
              <a:t>Click icon to add picture</a:t>
            </a:r>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US"/>
              <a:t>Click icon to add picture</a:t>
            </a:r>
          </a:p>
        </p:txBody>
      </p:sp>
    </p:spTree>
    <p:extLst>
      <p:ext uri="{BB962C8B-B14F-4D97-AF65-F5344CB8AC3E}">
        <p14:creationId xmlns:p14="http://schemas.microsoft.com/office/powerpoint/2010/main" val="2293569060"/>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and Four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819"/>
            <a:ext cx="3744000" cy="2925000"/>
          </a:xfrm>
          <a:solidFill>
            <a:schemeClr val="bg1">
              <a:lumMod val="85000"/>
            </a:schemeClr>
          </a:solidFill>
        </p:spPr>
        <p:txBody>
          <a:bodyPr/>
          <a:lstStyle/>
          <a:p>
            <a:r>
              <a:rPr lang="en-US"/>
              <a:t>Click icon to add picture</a:t>
            </a:r>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8122200" y="327819"/>
            <a:ext cx="3744000" cy="2925000"/>
          </a:xfrm>
          <a:solidFill>
            <a:schemeClr val="bg1">
              <a:lumMod val="85000"/>
            </a:schemeClr>
          </a:solidFill>
        </p:spPr>
        <p:txBody>
          <a:bodyPr/>
          <a:lstStyle/>
          <a:p>
            <a:r>
              <a:rPr lang="en-US"/>
              <a:t>Click icon to add picture</a:t>
            </a:r>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US"/>
              <a:t>Click to edit Master title style</a:t>
            </a:r>
            <a:endParaRPr lang="en-US" dirty="0"/>
          </a:p>
        </p:txBody>
      </p:sp>
      <p:sp>
        <p:nvSpPr>
          <p:cNvPr id="15" name="Picture Placeholder 9">
            <a:extLst>
              <a:ext uri="{FF2B5EF4-FFF2-40B4-BE49-F238E27FC236}">
                <a16:creationId xmlns:a16="http://schemas.microsoft.com/office/drawing/2014/main" id="{820BEAE3-D117-6A35-4CA0-AD8A32FA8AD8}"/>
              </a:ext>
            </a:extLst>
          </p:cNvPr>
          <p:cNvSpPr>
            <a:spLocks noGrp="1"/>
          </p:cNvSpPr>
          <p:nvPr>
            <p:ph type="pic" sz="quarter" idx="17"/>
          </p:nvPr>
        </p:nvSpPr>
        <p:spPr>
          <a:xfrm>
            <a:off x="4275880" y="3336100"/>
            <a:ext cx="3744000" cy="2925000"/>
          </a:xfrm>
          <a:solidFill>
            <a:schemeClr val="bg1">
              <a:lumMod val="85000"/>
            </a:schemeClr>
          </a:solidFill>
        </p:spPr>
        <p:txBody>
          <a:bodyPr/>
          <a:lstStyle/>
          <a:p>
            <a:r>
              <a:rPr lang="en-US"/>
              <a:t>Click icon to add picture</a:t>
            </a:r>
          </a:p>
        </p:txBody>
      </p:sp>
      <p:sp>
        <p:nvSpPr>
          <p:cNvPr id="16" name="Picture Placeholder 9">
            <a:extLst>
              <a:ext uri="{FF2B5EF4-FFF2-40B4-BE49-F238E27FC236}">
                <a16:creationId xmlns:a16="http://schemas.microsoft.com/office/drawing/2014/main" id="{A380118A-A6AE-E8BE-5470-901DF79D51DC}"/>
              </a:ext>
            </a:extLst>
          </p:cNvPr>
          <p:cNvSpPr>
            <a:spLocks noGrp="1"/>
          </p:cNvSpPr>
          <p:nvPr>
            <p:ph type="pic" sz="quarter" idx="18"/>
          </p:nvPr>
        </p:nvSpPr>
        <p:spPr>
          <a:xfrm>
            <a:off x="8122200" y="3336100"/>
            <a:ext cx="3744000" cy="2925000"/>
          </a:xfrm>
          <a:solidFill>
            <a:schemeClr val="bg1">
              <a:lumMod val="85000"/>
            </a:schemeClr>
          </a:solidFill>
        </p:spPr>
        <p:txBody>
          <a:bodyPr/>
          <a:lstStyle/>
          <a:p>
            <a:r>
              <a:rPr lang="en-US"/>
              <a:t>Click icon to add picture</a:t>
            </a:r>
          </a:p>
        </p:txBody>
      </p:sp>
    </p:spTree>
    <p:extLst>
      <p:ext uri="{BB962C8B-B14F-4D97-AF65-F5344CB8AC3E}">
        <p14:creationId xmlns:p14="http://schemas.microsoft.com/office/powerpoint/2010/main" val="386322611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and Nine Imag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US"/>
              <a:t>Click icon to add picture</a:t>
            </a:r>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US"/>
              <a:t>Click icon to add picture</a:t>
            </a:r>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US"/>
              <a:t>Click to edit Master title style</a:t>
            </a:r>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US"/>
              <a:t>Click icon to add picture</a:t>
            </a:r>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US"/>
              <a:t>Click icon to add picture</a:t>
            </a:r>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US"/>
              <a:t>Click icon to add picture</a:t>
            </a:r>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US"/>
              <a:t>Click icon to add picture</a:t>
            </a:r>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US"/>
              <a:t>Click icon to add picture</a:t>
            </a:r>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US"/>
              <a:t>Click icon to add picture</a:t>
            </a:r>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US"/>
              <a:t>Click icon to add picture</a:t>
            </a:r>
          </a:p>
        </p:txBody>
      </p:sp>
    </p:spTree>
    <p:extLst>
      <p:ext uri="{BB962C8B-B14F-4D97-AF65-F5344CB8AC3E}">
        <p14:creationId xmlns:p14="http://schemas.microsoft.com/office/powerpoint/2010/main" val="120070496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and Nine Images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US"/>
              <a:t>Click icon to add picture</a:t>
            </a:r>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US"/>
              <a:t>Click icon to add picture</a:t>
            </a:r>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US"/>
              <a:t>Click to edit Master title style</a:t>
            </a:r>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US"/>
              <a:t>Click icon to add picture</a:t>
            </a:r>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US"/>
              <a:t>Click icon to add picture</a:t>
            </a:r>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US"/>
              <a:t>Click icon to add picture</a:t>
            </a:r>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US"/>
              <a:t>Click icon to add picture</a:t>
            </a:r>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US"/>
              <a:t>Click icon to add picture</a:t>
            </a:r>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US"/>
              <a:t>Click icon to add picture</a:t>
            </a:r>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US"/>
              <a:t>Click icon to add picture</a:t>
            </a:r>
          </a:p>
        </p:txBody>
      </p:sp>
    </p:spTree>
    <p:extLst>
      <p:ext uri="{BB962C8B-B14F-4D97-AF65-F5344CB8AC3E}">
        <p14:creationId xmlns:p14="http://schemas.microsoft.com/office/powerpoint/2010/main" val="318878468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and Nine Images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5800" y="1394619"/>
            <a:ext cx="3600000" cy="48664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4920982-7B93-FD28-69A5-DDD95FFDB982}"/>
              </a:ext>
            </a:extLst>
          </p:cNvPr>
          <p:cNvSpPr>
            <a:spLocks noGrp="1"/>
          </p:cNvSpPr>
          <p:nvPr>
            <p:ph type="pic" sz="quarter" idx="15"/>
          </p:nvPr>
        </p:nvSpPr>
        <p:spPr>
          <a:xfrm>
            <a:off x="4275880" y="327028"/>
            <a:ext cx="2466000" cy="1926000"/>
          </a:xfrm>
          <a:solidFill>
            <a:schemeClr val="bg1">
              <a:lumMod val="85000"/>
            </a:schemeClr>
          </a:solidFill>
        </p:spPr>
        <p:txBody>
          <a:bodyPr/>
          <a:lstStyle/>
          <a:p>
            <a:r>
              <a:rPr lang="en-US"/>
              <a:t>Click icon to add picture</a:t>
            </a:r>
          </a:p>
        </p:txBody>
      </p:sp>
      <p:sp>
        <p:nvSpPr>
          <p:cNvPr id="7" name="Picture Placeholder 9">
            <a:extLst>
              <a:ext uri="{FF2B5EF4-FFF2-40B4-BE49-F238E27FC236}">
                <a16:creationId xmlns:a16="http://schemas.microsoft.com/office/drawing/2014/main" id="{4F7D26A6-576F-735A-7429-EDF64293F6F0}"/>
              </a:ext>
            </a:extLst>
          </p:cNvPr>
          <p:cNvSpPr>
            <a:spLocks noGrp="1"/>
          </p:cNvSpPr>
          <p:nvPr>
            <p:ph type="pic" sz="quarter" idx="16"/>
          </p:nvPr>
        </p:nvSpPr>
        <p:spPr>
          <a:xfrm>
            <a:off x="6838040" y="327028"/>
            <a:ext cx="2466000" cy="1926000"/>
          </a:xfrm>
          <a:solidFill>
            <a:schemeClr val="bg1">
              <a:lumMod val="85000"/>
            </a:schemeClr>
          </a:solidFill>
        </p:spPr>
        <p:txBody>
          <a:bodyPr/>
          <a:lstStyle/>
          <a:p>
            <a:r>
              <a:rPr lang="en-US"/>
              <a:t>Click icon to add picture</a:t>
            </a:r>
          </a:p>
        </p:txBody>
      </p:sp>
      <p:sp>
        <p:nvSpPr>
          <p:cNvPr id="9" name="Subtitle 2">
            <a:extLst>
              <a:ext uri="{FF2B5EF4-FFF2-40B4-BE49-F238E27FC236}">
                <a16:creationId xmlns:a16="http://schemas.microsoft.com/office/drawing/2014/main" id="{CCAACF40-E2EE-B805-06BA-00FF4664A1A7}"/>
              </a:ext>
            </a:extLst>
          </p:cNvPr>
          <p:cNvSpPr>
            <a:spLocks noGrp="1"/>
          </p:cNvSpPr>
          <p:nvPr>
            <p:ph type="subTitle" idx="13"/>
          </p:nvPr>
        </p:nvSpPr>
        <p:spPr>
          <a:xfrm>
            <a:off x="325800" y="620196"/>
            <a:ext cx="3600000"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
        <p:nvSpPr>
          <p:cNvPr id="11" name="Title 10">
            <a:extLst>
              <a:ext uri="{FF2B5EF4-FFF2-40B4-BE49-F238E27FC236}">
                <a16:creationId xmlns:a16="http://schemas.microsoft.com/office/drawing/2014/main" id="{C0D226BA-B259-18A4-2510-39AFB57E076B}"/>
              </a:ext>
            </a:extLst>
          </p:cNvPr>
          <p:cNvSpPr>
            <a:spLocks noGrp="1"/>
          </p:cNvSpPr>
          <p:nvPr>
            <p:ph type="title"/>
          </p:nvPr>
        </p:nvSpPr>
        <p:spPr>
          <a:xfrm>
            <a:off x="325800" y="252000"/>
            <a:ext cx="3600000" cy="378044"/>
          </a:xfrm>
        </p:spPr>
        <p:txBody>
          <a:bodyPr/>
          <a:lstStyle/>
          <a:p>
            <a:r>
              <a:rPr lang="en-US"/>
              <a:t>Click to edit Master title style</a:t>
            </a:r>
          </a:p>
        </p:txBody>
      </p:sp>
      <p:sp>
        <p:nvSpPr>
          <p:cNvPr id="2" name="Picture Placeholder 9">
            <a:extLst>
              <a:ext uri="{FF2B5EF4-FFF2-40B4-BE49-F238E27FC236}">
                <a16:creationId xmlns:a16="http://schemas.microsoft.com/office/drawing/2014/main" id="{3BF8A661-BC32-12AC-2F2D-D852D8FEEC19}"/>
              </a:ext>
            </a:extLst>
          </p:cNvPr>
          <p:cNvSpPr>
            <a:spLocks noGrp="1"/>
          </p:cNvSpPr>
          <p:nvPr>
            <p:ph type="pic" sz="quarter" idx="17"/>
          </p:nvPr>
        </p:nvSpPr>
        <p:spPr>
          <a:xfrm>
            <a:off x="9400200" y="327028"/>
            <a:ext cx="2466000" cy="1926000"/>
          </a:xfrm>
          <a:solidFill>
            <a:schemeClr val="bg1">
              <a:lumMod val="85000"/>
            </a:schemeClr>
          </a:solidFill>
        </p:spPr>
        <p:txBody>
          <a:bodyPr/>
          <a:lstStyle/>
          <a:p>
            <a:r>
              <a:rPr lang="en-US"/>
              <a:t>Click icon to add picture</a:t>
            </a:r>
          </a:p>
        </p:txBody>
      </p:sp>
      <p:sp>
        <p:nvSpPr>
          <p:cNvPr id="6" name="Picture Placeholder 9">
            <a:extLst>
              <a:ext uri="{FF2B5EF4-FFF2-40B4-BE49-F238E27FC236}">
                <a16:creationId xmlns:a16="http://schemas.microsoft.com/office/drawing/2014/main" id="{424D9351-99D0-9E5B-7115-9BACEF47F4E4}"/>
              </a:ext>
            </a:extLst>
          </p:cNvPr>
          <p:cNvSpPr>
            <a:spLocks noGrp="1"/>
          </p:cNvSpPr>
          <p:nvPr>
            <p:ph type="pic" sz="quarter" idx="18"/>
          </p:nvPr>
        </p:nvSpPr>
        <p:spPr>
          <a:xfrm>
            <a:off x="4275880" y="2331064"/>
            <a:ext cx="2466000" cy="1926000"/>
          </a:xfrm>
          <a:solidFill>
            <a:schemeClr val="bg1">
              <a:lumMod val="85000"/>
            </a:schemeClr>
          </a:solidFill>
        </p:spPr>
        <p:txBody>
          <a:bodyPr/>
          <a:lstStyle/>
          <a:p>
            <a:r>
              <a:rPr lang="en-US"/>
              <a:t>Click icon to add picture</a:t>
            </a:r>
          </a:p>
        </p:txBody>
      </p:sp>
      <p:sp>
        <p:nvSpPr>
          <p:cNvPr id="12" name="Picture Placeholder 9">
            <a:extLst>
              <a:ext uri="{FF2B5EF4-FFF2-40B4-BE49-F238E27FC236}">
                <a16:creationId xmlns:a16="http://schemas.microsoft.com/office/drawing/2014/main" id="{7E1A1E6C-1250-255D-C128-8D998573C34C}"/>
              </a:ext>
            </a:extLst>
          </p:cNvPr>
          <p:cNvSpPr>
            <a:spLocks noGrp="1"/>
          </p:cNvSpPr>
          <p:nvPr>
            <p:ph type="pic" sz="quarter" idx="19"/>
          </p:nvPr>
        </p:nvSpPr>
        <p:spPr>
          <a:xfrm>
            <a:off x="6838040" y="2331000"/>
            <a:ext cx="2466000" cy="1926000"/>
          </a:xfrm>
          <a:solidFill>
            <a:schemeClr val="bg1">
              <a:lumMod val="85000"/>
            </a:schemeClr>
          </a:solidFill>
        </p:spPr>
        <p:txBody>
          <a:bodyPr/>
          <a:lstStyle/>
          <a:p>
            <a:r>
              <a:rPr lang="en-US"/>
              <a:t>Click icon to add picture</a:t>
            </a:r>
          </a:p>
        </p:txBody>
      </p:sp>
      <p:sp>
        <p:nvSpPr>
          <p:cNvPr id="13" name="Picture Placeholder 9">
            <a:extLst>
              <a:ext uri="{FF2B5EF4-FFF2-40B4-BE49-F238E27FC236}">
                <a16:creationId xmlns:a16="http://schemas.microsoft.com/office/drawing/2014/main" id="{707F7AF8-8070-56D1-C887-AB07C4710C1B}"/>
              </a:ext>
            </a:extLst>
          </p:cNvPr>
          <p:cNvSpPr>
            <a:spLocks noGrp="1"/>
          </p:cNvSpPr>
          <p:nvPr>
            <p:ph type="pic" sz="quarter" idx="20"/>
          </p:nvPr>
        </p:nvSpPr>
        <p:spPr>
          <a:xfrm>
            <a:off x="9400200" y="2331000"/>
            <a:ext cx="2466000" cy="1926000"/>
          </a:xfrm>
          <a:solidFill>
            <a:schemeClr val="bg1">
              <a:lumMod val="85000"/>
            </a:schemeClr>
          </a:solidFill>
        </p:spPr>
        <p:txBody>
          <a:bodyPr/>
          <a:lstStyle/>
          <a:p>
            <a:r>
              <a:rPr lang="en-US"/>
              <a:t>Click icon to add picture</a:t>
            </a:r>
          </a:p>
        </p:txBody>
      </p:sp>
      <p:sp>
        <p:nvSpPr>
          <p:cNvPr id="14" name="Picture Placeholder 9">
            <a:extLst>
              <a:ext uri="{FF2B5EF4-FFF2-40B4-BE49-F238E27FC236}">
                <a16:creationId xmlns:a16="http://schemas.microsoft.com/office/drawing/2014/main" id="{DCCCE168-E156-6A02-DEEC-8F9AC2E8B010}"/>
              </a:ext>
            </a:extLst>
          </p:cNvPr>
          <p:cNvSpPr>
            <a:spLocks noGrp="1"/>
          </p:cNvSpPr>
          <p:nvPr>
            <p:ph type="pic" sz="quarter" idx="21"/>
          </p:nvPr>
        </p:nvSpPr>
        <p:spPr>
          <a:xfrm>
            <a:off x="4275880" y="4335100"/>
            <a:ext cx="2466000" cy="1926000"/>
          </a:xfrm>
          <a:solidFill>
            <a:schemeClr val="bg1">
              <a:lumMod val="85000"/>
            </a:schemeClr>
          </a:solidFill>
        </p:spPr>
        <p:txBody>
          <a:bodyPr/>
          <a:lstStyle/>
          <a:p>
            <a:r>
              <a:rPr lang="en-US"/>
              <a:t>Click icon to add picture</a:t>
            </a:r>
          </a:p>
        </p:txBody>
      </p:sp>
      <p:sp>
        <p:nvSpPr>
          <p:cNvPr id="17" name="Picture Placeholder 9">
            <a:extLst>
              <a:ext uri="{FF2B5EF4-FFF2-40B4-BE49-F238E27FC236}">
                <a16:creationId xmlns:a16="http://schemas.microsoft.com/office/drawing/2014/main" id="{935D5F28-4EFB-7DB6-B73E-ECA9F671D622}"/>
              </a:ext>
            </a:extLst>
          </p:cNvPr>
          <p:cNvSpPr>
            <a:spLocks noGrp="1"/>
          </p:cNvSpPr>
          <p:nvPr>
            <p:ph type="pic" sz="quarter" idx="22"/>
          </p:nvPr>
        </p:nvSpPr>
        <p:spPr>
          <a:xfrm>
            <a:off x="6838040" y="4335100"/>
            <a:ext cx="2466000" cy="1926000"/>
          </a:xfrm>
          <a:solidFill>
            <a:schemeClr val="bg1">
              <a:lumMod val="85000"/>
            </a:schemeClr>
          </a:solidFill>
        </p:spPr>
        <p:txBody>
          <a:bodyPr/>
          <a:lstStyle/>
          <a:p>
            <a:r>
              <a:rPr lang="en-US"/>
              <a:t>Click icon to add picture</a:t>
            </a:r>
          </a:p>
        </p:txBody>
      </p:sp>
      <p:sp>
        <p:nvSpPr>
          <p:cNvPr id="18" name="Picture Placeholder 9">
            <a:extLst>
              <a:ext uri="{FF2B5EF4-FFF2-40B4-BE49-F238E27FC236}">
                <a16:creationId xmlns:a16="http://schemas.microsoft.com/office/drawing/2014/main" id="{EBE80ECC-3276-2379-3DA7-E599F908B356}"/>
              </a:ext>
            </a:extLst>
          </p:cNvPr>
          <p:cNvSpPr>
            <a:spLocks noGrp="1"/>
          </p:cNvSpPr>
          <p:nvPr>
            <p:ph type="pic" sz="quarter" idx="23"/>
          </p:nvPr>
        </p:nvSpPr>
        <p:spPr>
          <a:xfrm>
            <a:off x="9400200" y="4335100"/>
            <a:ext cx="2466000" cy="1926000"/>
          </a:xfrm>
          <a:solidFill>
            <a:schemeClr val="bg1">
              <a:lumMod val="85000"/>
            </a:schemeClr>
          </a:solidFill>
        </p:spPr>
        <p:txBody>
          <a:bodyPr/>
          <a:lstStyle/>
          <a:p>
            <a:r>
              <a:rPr lang="en-US"/>
              <a:t>Click icon to add picture</a:t>
            </a:r>
          </a:p>
        </p:txBody>
      </p:sp>
    </p:spTree>
    <p:extLst>
      <p:ext uri="{BB962C8B-B14F-4D97-AF65-F5344CB8AC3E}">
        <p14:creationId xmlns:p14="http://schemas.microsoft.com/office/powerpoint/2010/main" val="204135415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133955305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Conten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64018343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Conten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326232" y="327819"/>
            <a:ext cx="5583238" cy="59332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862146EC-D096-3118-B564-94943B4AAEC4}"/>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2" name="Content Placeholder 5">
            <a:extLst>
              <a:ext uri="{FF2B5EF4-FFF2-40B4-BE49-F238E27FC236}">
                <a16:creationId xmlns:a16="http://schemas.microsoft.com/office/drawing/2014/main" id="{C8087009-76FB-8577-E442-4BA57C9BC40D}"/>
              </a:ext>
            </a:extLst>
          </p:cNvPr>
          <p:cNvSpPr>
            <a:spLocks noGrp="1"/>
          </p:cNvSpPr>
          <p:nvPr>
            <p:ph sz="quarter" idx="17" hasCustomPrompt="1"/>
          </p:nvPr>
        </p:nvSpPr>
        <p:spPr>
          <a:xfrm>
            <a:off x="6290831"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297450929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nd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78587760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and Text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424084216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nd Text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A745BD5-0640-F2F6-890F-9A43357F82A5}"/>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F56E09A-8977-E57B-72B5-46534AF8C28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944FC8-3717-4FAD-3024-9B9DB6074521}"/>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14E7D2B8-AE4F-2293-866D-13361A0A4A21}"/>
              </a:ext>
            </a:extLst>
          </p:cNvPr>
          <p:cNvSpPr>
            <a:spLocks noGrp="1"/>
          </p:cNvSpPr>
          <p:nvPr>
            <p:ph type="body" sz="quarter" idx="14"/>
          </p:nvPr>
        </p:nvSpPr>
        <p:spPr>
          <a:xfrm>
            <a:off x="6291761" y="327819"/>
            <a:ext cx="5574008" cy="5933281"/>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5">
            <a:extLst>
              <a:ext uri="{FF2B5EF4-FFF2-40B4-BE49-F238E27FC236}">
                <a16:creationId xmlns:a16="http://schemas.microsoft.com/office/drawing/2014/main" id="{E9D81BEA-7EB3-2BC8-30E0-0E8C91FA2361}"/>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
        <p:nvSpPr>
          <p:cNvPr id="6" name="Content Placeholder 5">
            <a:extLst>
              <a:ext uri="{FF2B5EF4-FFF2-40B4-BE49-F238E27FC236}">
                <a16:creationId xmlns:a16="http://schemas.microsoft.com/office/drawing/2014/main" id="{6E09D4F2-8CDC-D853-BB4E-3D1330CD34A2}"/>
              </a:ext>
            </a:extLst>
          </p:cNvPr>
          <p:cNvSpPr>
            <a:spLocks noGrp="1"/>
          </p:cNvSpPr>
          <p:nvPr>
            <p:ph sz="quarter" idx="17" hasCustomPrompt="1"/>
          </p:nvPr>
        </p:nvSpPr>
        <p:spPr>
          <a:xfrm>
            <a:off x="326593" y="328613"/>
            <a:ext cx="5583670" cy="5932487"/>
          </a:xfrm>
        </p:spPr>
        <p:txBody>
          <a:bodyPr/>
          <a:lstStyle>
            <a:lvl1pPr>
              <a:defRPr sz="1800"/>
            </a:lvl1pPr>
            <a:lvl2pPr>
              <a:defRPr sz="1800"/>
            </a:lvl2pPr>
            <a:lvl3pPr>
              <a:defRPr sz="1800"/>
            </a:lvl3pPr>
            <a:lvl4pPr>
              <a:defRPr sz="1800"/>
            </a:lvl4pPr>
            <a:lvl5pPr>
              <a:defRPr sz="1800"/>
            </a:lvl5pPr>
          </a:lstStyle>
          <a:p>
            <a:pPr lvl="0"/>
            <a:r>
              <a:rPr lang="en-US" dirty="0"/>
              <a:t>Click an icon to add content</a:t>
            </a:r>
          </a:p>
        </p:txBody>
      </p:sp>
    </p:spTree>
    <p:extLst>
      <p:ext uri="{BB962C8B-B14F-4D97-AF65-F5344CB8AC3E}">
        <p14:creationId xmlns:p14="http://schemas.microsoft.com/office/powerpoint/2010/main" val="378277818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US"/>
              <a:t>Click icon to add picture</a:t>
            </a:r>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30675283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rge Image Smoke">
    <p:bg>
      <p:bgPr>
        <a:solidFill>
          <a:schemeClr val="bg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US"/>
              <a:t>Click icon to add picture</a:t>
            </a:r>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311599155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rge Image Khaki">
    <p:bg>
      <p:bgPr>
        <a:solidFill>
          <a:srgbClr val="FBF7DC"/>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5956E3-49F4-0F54-ECD1-833CCCC18321}"/>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BB47AF09-A289-B391-8698-2A6786771E1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5D67CF9-6C56-BF00-C251-8AA14203B1E9}"/>
              </a:ext>
            </a:extLst>
          </p:cNvPr>
          <p:cNvSpPr>
            <a:spLocks noGrp="1"/>
          </p:cNvSpPr>
          <p:nvPr>
            <p:ph type="sldNum" sz="quarter" idx="12"/>
          </p:nvPr>
        </p:nvSpPr>
        <p:spPr/>
        <p:txBody>
          <a:bodyPr/>
          <a:lstStyle/>
          <a:p>
            <a:fld id="{CBA53E11-492D-48B3-9F9B-09541CA2A39A}" type="slidenum">
              <a:rPr lang="en-GB" smtClean="0"/>
              <a:pPr/>
              <a:t>‹#›</a:t>
            </a:fld>
            <a:endParaRPr lang="en-GB"/>
          </a:p>
        </p:txBody>
      </p:sp>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326232" y="327819"/>
            <a:ext cx="11541025" cy="5933281"/>
          </a:xfrm>
          <a:solidFill>
            <a:schemeClr val="bg1">
              <a:lumMod val="85000"/>
            </a:schemeClr>
          </a:solidFill>
        </p:spPr>
        <p:txBody>
          <a:bodyPr/>
          <a:lstStyle/>
          <a:p>
            <a:r>
              <a:rPr lang="en-US"/>
              <a:t>Click icon to add picture</a:t>
            </a:r>
          </a:p>
        </p:txBody>
      </p:sp>
      <p:sp>
        <p:nvSpPr>
          <p:cNvPr id="2" name="Text Placeholder 5">
            <a:extLst>
              <a:ext uri="{FF2B5EF4-FFF2-40B4-BE49-F238E27FC236}">
                <a16:creationId xmlns:a16="http://schemas.microsoft.com/office/drawing/2014/main" id="{194B053A-20C0-FAD5-8DBE-F33035C94A95}"/>
              </a:ext>
            </a:extLst>
          </p:cNvPr>
          <p:cNvSpPr>
            <a:spLocks noGrp="1"/>
          </p:cNvSpPr>
          <p:nvPr>
            <p:ph type="body" sz="quarter" idx="16" hasCustomPrompt="1"/>
          </p:nvPr>
        </p:nvSpPr>
        <p:spPr>
          <a:xfrm>
            <a:off x="6292057" y="6393657"/>
            <a:ext cx="2743200" cy="137319"/>
          </a:xfrm>
        </p:spPr>
        <p:txBody>
          <a:bodyPr/>
          <a:lstStyle>
            <a:lvl1pPr>
              <a:defRPr sz="850">
                <a:solidFill>
                  <a:schemeClr val="accent1"/>
                </a:solidFill>
              </a:defRPr>
            </a:lvl1pPr>
            <a:lvl2pPr>
              <a:defRPr sz="850">
                <a:solidFill>
                  <a:schemeClr val="accent1"/>
                </a:solidFill>
              </a:defRPr>
            </a:lvl2pPr>
            <a:lvl3pPr>
              <a:defRPr sz="850">
                <a:solidFill>
                  <a:schemeClr val="accent1"/>
                </a:solidFill>
              </a:defRPr>
            </a:lvl3pPr>
            <a:lvl4pPr>
              <a:defRPr sz="850">
                <a:solidFill>
                  <a:schemeClr val="accent1"/>
                </a:solidFill>
              </a:defRPr>
            </a:lvl4pPr>
            <a:lvl5pPr>
              <a:defRPr sz="850">
                <a:solidFill>
                  <a:schemeClr val="accent1"/>
                </a:solidFill>
              </a:defRPr>
            </a:lvl5pPr>
          </a:lstStyle>
          <a:p>
            <a:pPr lvl="0"/>
            <a:r>
              <a:rPr lang="en-US" dirty="0"/>
              <a:t>Image caption goes here</a:t>
            </a:r>
          </a:p>
        </p:txBody>
      </p:sp>
    </p:spTree>
    <p:extLst>
      <p:ext uri="{BB962C8B-B14F-4D97-AF65-F5344CB8AC3E}">
        <p14:creationId xmlns:p14="http://schemas.microsoft.com/office/powerpoint/2010/main" val="285968501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54C307-7FD2-615A-261A-9396C9B3C626}"/>
              </a:ext>
            </a:extLst>
          </p:cNvPr>
          <p:cNvSpPr>
            <a:spLocks noGrp="1"/>
          </p:cNvSpPr>
          <p:nvPr>
            <p:ph type="pic" sz="quarter" idx="13"/>
          </p:nvPr>
        </p:nvSpPr>
        <p:spPr>
          <a:xfrm>
            <a:off x="1" y="3"/>
            <a:ext cx="12193489" cy="6857999"/>
          </a:xfrm>
          <a:solidFill>
            <a:schemeClr val="bg1">
              <a:lumMod val="85000"/>
            </a:schemeClr>
          </a:solidFill>
        </p:spPr>
        <p:txBody>
          <a:bodyPr/>
          <a:lstStyle/>
          <a:p>
            <a:r>
              <a:rPr lang="en-US"/>
              <a:t>Click icon to add picture</a:t>
            </a:r>
          </a:p>
        </p:txBody>
      </p:sp>
    </p:spTree>
    <p:extLst>
      <p:ext uri="{BB962C8B-B14F-4D97-AF65-F5344CB8AC3E}">
        <p14:creationId xmlns:p14="http://schemas.microsoft.com/office/powerpoint/2010/main" val="296043340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14899905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End Slide Smoke">
    <p:bg>
      <p:bgPr>
        <a:solidFill>
          <a:schemeClr val="bg2"/>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658548261"/>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nd Slide Khaki">
    <p:bg>
      <p:bgPr>
        <a:solidFill>
          <a:srgbClr val="FBF7DC"/>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98C9DEC1-150C-501B-2DF1-6E2CB499B668}"/>
              </a:ext>
            </a:extLst>
          </p:cNvPr>
          <p:cNvGrpSpPr>
            <a:grpSpLocks noChangeAspect="1"/>
          </p:cNvGrpSpPr>
          <p:nvPr userDrawn="1"/>
        </p:nvGrpSpPr>
        <p:grpSpPr bwMode="auto">
          <a:xfrm>
            <a:off x="330271" y="327819"/>
            <a:ext cx="11536292" cy="1272297"/>
            <a:chOff x="0" y="3473"/>
            <a:chExt cx="15360" cy="1694"/>
          </a:xfrm>
          <a:solidFill>
            <a:schemeClr val="accent1"/>
          </a:solidFill>
        </p:grpSpPr>
        <p:sp>
          <p:nvSpPr>
            <p:cNvPr id="3" name="Freeform 5">
              <a:extLst>
                <a:ext uri="{FF2B5EF4-FFF2-40B4-BE49-F238E27FC236}">
                  <a16:creationId xmlns:a16="http://schemas.microsoft.com/office/drawing/2014/main" id="{E39A89AD-BEB6-79FD-8F05-4DF88E68FEE2}"/>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733ED1C0-423D-3BA1-7D76-5AD063DB4966}"/>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24321CB6-88B2-41D3-45AD-465FCCF9FFB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28DF50ED-77B5-2CCB-445E-BE59A74640E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3E46F43E-7289-80AB-2776-B413EE27ED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0C82D5C3-8445-8837-27CE-3B93EA4FA45F}"/>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2D962E7C-3E08-D166-19E4-74C492278721}"/>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F4041540-D57A-59CB-04E7-A52B58E1F12F}"/>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1169666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Blue">
    <p:bg>
      <p:bgPr>
        <a:solidFill>
          <a:schemeClr val="accent1"/>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8F1E4B3C-5470-00F2-B8CB-BB4906CF439D}"/>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7D7A316D-6FA6-8EBE-A7B4-43071E70A86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11C06CEA-028D-9197-2DEF-67878595AE6C}"/>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DEA93E8D-A827-0EF8-FC25-4EDF7B194E8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F359F29-A6DD-FD4C-F807-701DEA41EDF2}"/>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2468BF6B-AEBB-4CAA-244D-9EBE80B9A1DB}"/>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CC60AC05-547F-FA65-604E-4ED4912EA9E4}"/>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7632E58E-1400-1E6E-BB60-7A9B794F41F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4D65D159-581D-F29B-BBD4-C1C5BACCEEFB}"/>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42501059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d Slide Image">
    <p:bg>
      <p:bgPr>
        <a:solidFill>
          <a:schemeClr val="bg1">
            <a:lumMod val="85000"/>
          </a:schemeClr>
        </a:solidFill>
        <a:effectLst/>
      </p:bgPr>
    </p:bg>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3A87AD45-2D2F-D96C-947C-BAE35BFEBEE3}"/>
              </a:ext>
            </a:extLst>
          </p:cNvPr>
          <p:cNvGrpSpPr>
            <a:grpSpLocks noChangeAspect="1"/>
          </p:cNvGrpSpPr>
          <p:nvPr userDrawn="1"/>
        </p:nvGrpSpPr>
        <p:grpSpPr bwMode="auto">
          <a:xfrm>
            <a:off x="330271" y="327819"/>
            <a:ext cx="11536292" cy="1272297"/>
            <a:chOff x="0" y="3473"/>
            <a:chExt cx="15360" cy="1694"/>
          </a:xfrm>
        </p:grpSpPr>
        <p:sp>
          <p:nvSpPr>
            <p:cNvPr id="3" name="Freeform 5">
              <a:extLst>
                <a:ext uri="{FF2B5EF4-FFF2-40B4-BE49-F238E27FC236}">
                  <a16:creationId xmlns:a16="http://schemas.microsoft.com/office/drawing/2014/main" id="{31EDC35F-4F2D-B2A7-1ECD-0CF19D1AD285}"/>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4" name="Freeform 6">
              <a:extLst>
                <a:ext uri="{FF2B5EF4-FFF2-40B4-BE49-F238E27FC236}">
                  <a16:creationId xmlns:a16="http://schemas.microsoft.com/office/drawing/2014/main" id="{97F4776F-4E5E-13DF-F11A-A6808FFFC980}"/>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7">
              <a:extLst>
                <a:ext uri="{FF2B5EF4-FFF2-40B4-BE49-F238E27FC236}">
                  <a16:creationId xmlns:a16="http://schemas.microsoft.com/office/drawing/2014/main" id="{BA993AE1-6A24-5C17-7FE2-A16589D9C4A6}"/>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5" name="Freeform 8">
              <a:extLst>
                <a:ext uri="{FF2B5EF4-FFF2-40B4-BE49-F238E27FC236}">
                  <a16:creationId xmlns:a16="http://schemas.microsoft.com/office/drawing/2014/main" id="{DA87F8EF-CDAD-15A2-A361-88921E1CAF7E}"/>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6" name="Freeform 9">
              <a:extLst>
                <a:ext uri="{FF2B5EF4-FFF2-40B4-BE49-F238E27FC236}">
                  <a16:creationId xmlns:a16="http://schemas.microsoft.com/office/drawing/2014/main" id="{E90186DB-2300-A8AA-8FAD-2C609649A61A}"/>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10">
              <a:extLst>
                <a:ext uri="{FF2B5EF4-FFF2-40B4-BE49-F238E27FC236}">
                  <a16:creationId xmlns:a16="http://schemas.microsoft.com/office/drawing/2014/main" id="{31922286-E237-1114-3A54-E1731611D66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8" name="Freeform 11">
              <a:extLst>
                <a:ext uri="{FF2B5EF4-FFF2-40B4-BE49-F238E27FC236}">
                  <a16:creationId xmlns:a16="http://schemas.microsoft.com/office/drawing/2014/main" id="{1B4DA78C-0EF6-B05D-F2D2-EFEDA343E394}"/>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2">
              <a:extLst>
                <a:ext uri="{FF2B5EF4-FFF2-40B4-BE49-F238E27FC236}">
                  <a16:creationId xmlns:a16="http://schemas.microsoft.com/office/drawing/2014/main" id="{A00F92FE-6EB2-0D0E-BFC9-559AD1E7A4E7}"/>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21612589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US"/>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b="1">
                <a:solidFill>
                  <a:schemeClr val="accent1"/>
                </a:solidFill>
                <a:latin typeface="+mj-lt"/>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US"/>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76181910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 Slide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US"/>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b="1">
                <a:solidFill>
                  <a:schemeClr val="accent1"/>
                </a:solidFill>
                <a:latin typeface="+mj-lt"/>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US"/>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240818450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 Slide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accent1"/>
                </a:solidFill>
              </a:defRPr>
            </a:lvl1pPr>
          </a:lstStyle>
          <a:p>
            <a:r>
              <a:rPr lang="en-US"/>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790130"/>
            <a:ext cx="5606484" cy="740845"/>
          </a:xfrm>
        </p:spPr>
        <p:txBody>
          <a:bodyPr anchor="b"/>
          <a:lstStyle>
            <a:lvl1pPr>
              <a:defRPr b="1">
                <a:solidFill>
                  <a:schemeClr val="accent1"/>
                </a:solidFill>
                <a:latin typeface="+mj-lt"/>
                <a:ea typeface="Inter Medium" panose="02000503000000020004" pitchFamily="2" charset="0"/>
              </a:defRPr>
            </a:lvl1pPr>
            <a:lvl2pPr>
              <a:defRPr>
                <a:solidFill>
                  <a:schemeClr val="accent1"/>
                </a:solidFill>
              </a:defRPr>
            </a:lvl2pPr>
            <a:lvl3pPr>
              <a:defRPr>
                <a:solidFill>
                  <a:schemeClr val="accent1"/>
                </a:solidFill>
                <a:latin typeface="Inter Medium" panose="02000503000000020004" pitchFamily="2" charset="0"/>
                <a:ea typeface="Inter Medium" panose="02000503000000020004" pitchFamily="2" charset="0"/>
              </a:defRPr>
            </a:lvl3pPr>
            <a:lvl4pPr>
              <a:defRPr>
                <a:solidFill>
                  <a:schemeClr val="accent1"/>
                </a:solidFill>
                <a:latin typeface="Inter Medium" panose="02000503000000020004" pitchFamily="2" charset="0"/>
                <a:ea typeface="Inter Medium" panose="02000503000000020004" pitchFamily="2" charset="0"/>
              </a:defRPr>
            </a:lvl4pPr>
            <a:lvl5pPr>
              <a:defRPr>
                <a:solidFill>
                  <a:schemeClr val="accent1"/>
                </a:solidFill>
                <a:latin typeface="Inter Medium" panose="02000503000000020004" pitchFamily="2" charset="0"/>
                <a:ea typeface="Inter Medium" panose="02000503000000020004" pitchFamily="2" charset="0"/>
              </a:defRPr>
            </a:lvl5pPr>
          </a:lstStyle>
          <a:p>
            <a:pPr lvl="0"/>
            <a:r>
              <a:rPr lang="en-US"/>
              <a:t>Click to edit Master text styles</a:t>
            </a:r>
          </a:p>
        </p:txBody>
      </p:sp>
      <p:grpSp>
        <p:nvGrpSpPr>
          <p:cNvPr id="3" name="Group 4">
            <a:extLst>
              <a:ext uri="{FF2B5EF4-FFF2-40B4-BE49-F238E27FC236}">
                <a16:creationId xmlns:a16="http://schemas.microsoft.com/office/drawing/2014/main" id="{B9815FA8-AE01-67BC-5B0D-996D4CDAD192}"/>
              </a:ext>
            </a:extLst>
          </p:cNvPr>
          <p:cNvGrpSpPr>
            <a:grpSpLocks noChangeAspect="1"/>
          </p:cNvGrpSpPr>
          <p:nvPr userDrawn="1"/>
        </p:nvGrpSpPr>
        <p:grpSpPr bwMode="auto">
          <a:xfrm>
            <a:off x="330271" y="327819"/>
            <a:ext cx="3972600" cy="438124"/>
            <a:chOff x="0" y="3473"/>
            <a:chExt cx="15360" cy="1694"/>
          </a:xfrm>
          <a:solidFill>
            <a:schemeClr val="accent1"/>
          </a:solidFill>
        </p:grpSpPr>
        <p:sp>
          <p:nvSpPr>
            <p:cNvPr id="4" name="Freeform 5">
              <a:extLst>
                <a:ext uri="{FF2B5EF4-FFF2-40B4-BE49-F238E27FC236}">
                  <a16:creationId xmlns:a16="http://schemas.microsoft.com/office/drawing/2014/main" id="{FB1AA775-4CCE-276F-2BCF-CDB5A9211FDB}"/>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D0FDD9D0-D471-8D20-94AE-C3BC73F88F8D}"/>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CD6C2A08-9069-9582-5D59-A51210F8CB78}"/>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610C2D08-4FE4-C1FC-5226-E7A45B13D658}"/>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8010D1AF-A77E-06AA-9B05-D1DD5EE83096}"/>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98B53AE0-4719-5655-6BA0-0E7E9ECB8EC1}"/>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AD6D1E9-D44F-9A59-4CB4-033C25A77DAC}"/>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F58ED361-0E2C-77F6-2830-FBB60D746483}"/>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159517005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317251" y="3338719"/>
            <a:ext cx="9144000" cy="1828406"/>
          </a:xfrm>
        </p:spPr>
        <p:txBody>
          <a:bodyPr anchor="t"/>
          <a:lstStyle>
            <a:lvl1pPr algn="l">
              <a:defRPr sz="6400">
                <a:solidFill>
                  <a:schemeClr val="bg1"/>
                </a:solidFill>
              </a:defRPr>
            </a:lvl1pPr>
          </a:lstStyle>
          <a:p>
            <a:r>
              <a:rPr lang="en-US"/>
              <a:t>Click to edit Master title style</a:t>
            </a:r>
            <a:endParaRPr lang="en-GB" dirty="0"/>
          </a:p>
        </p:txBody>
      </p:sp>
      <p:sp>
        <p:nvSpPr>
          <p:cNvPr id="18" name="Text Placeholder 17">
            <a:extLst>
              <a:ext uri="{FF2B5EF4-FFF2-40B4-BE49-F238E27FC236}">
                <a16:creationId xmlns:a16="http://schemas.microsoft.com/office/drawing/2014/main" id="{C1B026B9-3E51-5733-811C-2FA3BC73B238}"/>
              </a:ext>
            </a:extLst>
          </p:cNvPr>
          <p:cNvSpPr>
            <a:spLocks noGrp="1"/>
          </p:cNvSpPr>
          <p:nvPr>
            <p:ph type="body" sz="quarter" idx="10"/>
          </p:nvPr>
        </p:nvSpPr>
        <p:spPr>
          <a:xfrm>
            <a:off x="330271" y="5878288"/>
            <a:ext cx="5606484" cy="652688"/>
          </a:xfrm>
        </p:spPr>
        <p:txBody>
          <a:bodyPr anchor="b"/>
          <a:lstStyle>
            <a:lvl1pPr>
              <a:defRPr b="1">
                <a:solidFill>
                  <a:schemeClr val="bg1"/>
                </a:solidFill>
                <a:latin typeface="+mj-lt"/>
                <a:ea typeface="Inter Medium" panose="02000503000000020004" pitchFamily="2" charset="0"/>
              </a:defRPr>
            </a:lvl1pPr>
            <a:lvl2pPr>
              <a:defRPr>
                <a:solidFill>
                  <a:schemeClr val="bg1"/>
                </a:solidFill>
              </a:defRPr>
            </a:lvl2pPr>
            <a:lvl3pPr>
              <a:defRPr>
                <a:solidFill>
                  <a:schemeClr val="bg1"/>
                </a:solidFill>
                <a:latin typeface="Inter Medium" panose="02000503000000020004" pitchFamily="2" charset="0"/>
                <a:ea typeface="Inter Medium" panose="02000503000000020004" pitchFamily="2" charset="0"/>
              </a:defRPr>
            </a:lvl3pPr>
            <a:lvl4pPr>
              <a:defRPr>
                <a:solidFill>
                  <a:schemeClr val="bg1"/>
                </a:solidFill>
                <a:latin typeface="Inter Medium" panose="02000503000000020004" pitchFamily="2" charset="0"/>
                <a:ea typeface="Inter Medium" panose="02000503000000020004" pitchFamily="2" charset="0"/>
              </a:defRPr>
            </a:lvl4pPr>
            <a:lvl5pPr>
              <a:defRPr>
                <a:solidFill>
                  <a:schemeClr val="bg1"/>
                </a:solidFill>
                <a:latin typeface="Inter Medium" panose="02000503000000020004" pitchFamily="2" charset="0"/>
                <a:ea typeface="Inter Medium" panose="02000503000000020004" pitchFamily="2" charset="0"/>
              </a:defRPr>
            </a:lvl5pPr>
          </a:lstStyle>
          <a:p>
            <a:pPr lvl="0"/>
            <a:r>
              <a:rPr lang="en-US"/>
              <a:t>Click to edit Master text styles</a:t>
            </a:r>
          </a:p>
        </p:txBody>
      </p:sp>
      <p:grpSp>
        <p:nvGrpSpPr>
          <p:cNvPr id="3" name="Group 4">
            <a:extLst>
              <a:ext uri="{FF2B5EF4-FFF2-40B4-BE49-F238E27FC236}">
                <a16:creationId xmlns:a16="http://schemas.microsoft.com/office/drawing/2014/main" id="{49CC1682-CCAA-5EE1-585E-F7C4434F1C5E}"/>
              </a:ext>
            </a:extLst>
          </p:cNvPr>
          <p:cNvGrpSpPr>
            <a:grpSpLocks noChangeAspect="1"/>
          </p:cNvGrpSpPr>
          <p:nvPr userDrawn="1"/>
        </p:nvGrpSpPr>
        <p:grpSpPr bwMode="auto">
          <a:xfrm>
            <a:off x="330271" y="327819"/>
            <a:ext cx="3972600" cy="438124"/>
            <a:chOff x="0" y="3473"/>
            <a:chExt cx="15360" cy="1694"/>
          </a:xfrm>
        </p:grpSpPr>
        <p:sp>
          <p:nvSpPr>
            <p:cNvPr id="4" name="Freeform 5">
              <a:extLst>
                <a:ext uri="{FF2B5EF4-FFF2-40B4-BE49-F238E27FC236}">
                  <a16:creationId xmlns:a16="http://schemas.microsoft.com/office/drawing/2014/main" id="{770403FB-3386-A0FE-3E9D-A2925EF0E8F0}"/>
                </a:ext>
              </a:extLst>
            </p:cNvPr>
            <p:cNvSpPr>
              <a:spLocks/>
            </p:cNvSpPr>
            <p:nvPr userDrawn="1"/>
          </p:nvSpPr>
          <p:spPr bwMode="auto">
            <a:xfrm>
              <a:off x="14261" y="3473"/>
              <a:ext cx="1099" cy="1694"/>
            </a:xfrm>
            <a:custGeom>
              <a:avLst/>
              <a:gdLst>
                <a:gd name="T0" fmla="*/ 0 w 1099"/>
                <a:gd name="T1" fmla="*/ 0 h 1694"/>
                <a:gd name="T2" fmla="*/ 0 w 1099"/>
                <a:gd name="T3" fmla="*/ 1694 h 1694"/>
                <a:gd name="T4" fmla="*/ 1099 w 1099"/>
                <a:gd name="T5" fmla="*/ 1694 h 1694"/>
                <a:gd name="T6" fmla="*/ 1099 w 1099"/>
                <a:gd name="T7" fmla="*/ 1397 h 1694"/>
                <a:gd name="T8" fmla="*/ 319 w 1099"/>
                <a:gd name="T9" fmla="*/ 1397 h 1694"/>
                <a:gd name="T10" fmla="*/ 319 w 1099"/>
                <a:gd name="T11" fmla="*/ 0 h 1694"/>
                <a:gd name="T12" fmla="*/ 0 w 1099"/>
                <a:gd name="T13" fmla="*/ 0 h 1694"/>
              </a:gdLst>
              <a:ahLst/>
              <a:cxnLst>
                <a:cxn ang="0">
                  <a:pos x="T0" y="T1"/>
                </a:cxn>
                <a:cxn ang="0">
                  <a:pos x="T2" y="T3"/>
                </a:cxn>
                <a:cxn ang="0">
                  <a:pos x="T4" y="T5"/>
                </a:cxn>
                <a:cxn ang="0">
                  <a:pos x="T6" y="T7"/>
                </a:cxn>
                <a:cxn ang="0">
                  <a:pos x="T8" y="T9"/>
                </a:cxn>
                <a:cxn ang="0">
                  <a:pos x="T10" y="T11"/>
                </a:cxn>
                <a:cxn ang="0">
                  <a:pos x="T12" y="T13"/>
                </a:cxn>
              </a:cxnLst>
              <a:rect l="0" t="0" r="r" b="b"/>
              <a:pathLst>
                <a:path w="1099" h="1694">
                  <a:moveTo>
                    <a:pt x="0" y="0"/>
                  </a:moveTo>
                  <a:lnTo>
                    <a:pt x="0" y="1694"/>
                  </a:lnTo>
                  <a:lnTo>
                    <a:pt x="1099" y="1694"/>
                  </a:lnTo>
                  <a:lnTo>
                    <a:pt x="1099" y="1397"/>
                  </a:lnTo>
                  <a:lnTo>
                    <a:pt x="319" y="1397"/>
                  </a:lnTo>
                  <a:lnTo>
                    <a:pt x="31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5" name="Freeform 6">
              <a:extLst>
                <a:ext uri="{FF2B5EF4-FFF2-40B4-BE49-F238E27FC236}">
                  <a16:creationId xmlns:a16="http://schemas.microsoft.com/office/drawing/2014/main" id="{C2CDC1DE-179E-04D4-B493-BF069DE85D67}"/>
                </a:ext>
              </a:extLst>
            </p:cNvPr>
            <p:cNvSpPr>
              <a:spLocks noEditPoints="1"/>
            </p:cNvSpPr>
            <p:nvPr userDrawn="1"/>
          </p:nvSpPr>
          <p:spPr bwMode="auto">
            <a:xfrm>
              <a:off x="12002" y="3473"/>
              <a:ext cx="1535" cy="1694"/>
            </a:xfrm>
            <a:custGeom>
              <a:avLst/>
              <a:gdLst>
                <a:gd name="T0" fmla="*/ 556 w 1535"/>
                <a:gd name="T1" fmla="*/ 0 h 1694"/>
                <a:gd name="T2" fmla="*/ 0 w 1535"/>
                <a:gd name="T3" fmla="*/ 1694 h 1694"/>
                <a:gd name="T4" fmla="*/ 337 w 1535"/>
                <a:gd name="T5" fmla="*/ 1694 h 1694"/>
                <a:gd name="T6" fmla="*/ 453 w 1535"/>
                <a:gd name="T7" fmla="*/ 1321 h 1694"/>
                <a:gd name="T8" fmla="*/ 1083 w 1535"/>
                <a:gd name="T9" fmla="*/ 1321 h 1694"/>
                <a:gd name="T10" fmla="*/ 1197 w 1535"/>
                <a:gd name="T11" fmla="*/ 1694 h 1694"/>
                <a:gd name="T12" fmla="*/ 1535 w 1535"/>
                <a:gd name="T13" fmla="*/ 1694 h 1694"/>
                <a:gd name="T14" fmla="*/ 978 w 1535"/>
                <a:gd name="T15" fmla="*/ 0 h 1694"/>
                <a:gd name="T16" fmla="*/ 556 w 1535"/>
                <a:gd name="T17" fmla="*/ 0 h 1694"/>
                <a:gd name="T18" fmla="*/ 768 w 1535"/>
                <a:gd name="T19" fmla="*/ 301 h 1694"/>
                <a:gd name="T20" fmla="*/ 998 w 1535"/>
                <a:gd name="T21" fmla="*/ 1048 h 1694"/>
                <a:gd name="T22" fmla="*/ 536 w 1535"/>
                <a:gd name="T23" fmla="*/ 1048 h 1694"/>
                <a:gd name="T24" fmla="*/ 768 w 1535"/>
                <a:gd name="T25" fmla="*/ 301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5" h="1694">
                  <a:moveTo>
                    <a:pt x="556" y="0"/>
                  </a:moveTo>
                  <a:lnTo>
                    <a:pt x="0" y="1694"/>
                  </a:lnTo>
                  <a:lnTo>
                    <a:pt x="337" y="1694"/>
                  </a:lnTo>
                  <a:lnTo>
                    <a:pt x="453" y="1321"/>
                  </a:lnTo>
                  <a:lnTo>
                    <a:pt x="1083" y="1321"/>
                  </a:lnTo>
                  <a:lnTo>
                    <a:pt x="1197" y="1694"/>
                  </a:lnTo>
                  <a:lnTo>
                    <a:pt x="1535" y="1694"/>
                  </a:lnTo>
                  <a:lnTo>
                    <a:pt x="978" y="0"/>
                  </a:lnTo>
                  <a:lnTo>
                    <a:pt x="556" y="0"/>
                  </a:lnTo>
                  <a:close/>
                  <a:moveTo>
                    <a:pt x="768" y="301"/>
                  </a:moveTo>
                  <a:lnTo>
                    <a:pt x="998" y="1048"/>
                  </a:lnTo>
                  <a:lnTo>
                    <a:pt x="536" y="1048"/>
                  </a:lnTo>
                  <a:lnTo>
                    <a:pt x="768" y="3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6" name="Freeform 7">
              <a:extLst>
                <a:ext uri="{FF2B5EF4-FFF2-40B4-BE49-F238E27FC236}">
                  <a16:creationId xmlns:a16="http://schemas.microsoft.com/office/drawing/2014/main" id="{B9A68412-C85B-6332-8B98-2635795BBA04}"/>
                </a:ext>
              </a:extLst>
            </p:cNvPr>
            <p:cNvSpPr>
              <a:spLocks/>
            </p:cNvSpPr>
            <p:nvPr userDrawn="1"/>
          </p:nvSpPr>
          <p:spPr bwMode="auto">
            <a:xfrm>
              <a:off x="10250" y="3473"/>
              <a:ext cx="1113" cy="1694"/>
            </a:xfrm>
            <a:custGeom>
              <a:avLst/>
              <a:gdLst>
                <a:gd name="T0" fmla="*/ 0 w 1113"/>
                <a:gd name="T1" fmla="*/ 0 h 1694"/>
                <a:gd name="T2" fmla="*/ 0 w 1113"/>
                <a:gd name="T3" fmla="*/ 297 h 1694"/>
                <a:gd name="T4" fmla="*/ 396 w 1113"/>
                <a:gd name="T5" fmla="*/ 297 h 1694"/>
                <a:gd name="T6" fmla="*/ 396 w 1113"/>
                <a:gd name="T7" fmla="*/ 1397 h 1694"/>
                <a:gd name="T8" fmla="*/ 0 w 1113"/>
                <a:gd name="T9" fmla="*/ 1397 h 1694"/>
                <a:gd name="T10" fmla="*/ 0 w 1113"/>
                <a:gd name="T11" fmla="*/ 1694 h 1694"/>
                <a:gd name="T12" fmla="*/ 1113 w 1113"/>
                <a:gd name="T13" fmla="*/ 1694 h 1694"/>
                <a:gd name="T14" fmla="*/ 1113 w 1113"/>
                <a:gd name="T15" fmla="*/ 1397 h 1694"/>
                <a:gd name="T16" fmla="*/ 716 w 1113"/>
                <a:gd name="T17" fmla="*/ 1397 h 1694"/>
                <a:gd name="T18" fmla="*/ 716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6" y="297"/>
                  </a:lnTo>
                  <a:lnTo>
                    <a:pt x="396" y="1397"/>
                  </a:lnTo>
                  <a:lnTo>
                    <a:pt x="0" y="1397"/>
                  </a:lnTo>
                  <a:lnTo>
                    <a:pt x="0" y="1694"/>
                  </a:lnTo>
                  <a:lnTo>
                    <a:pt x="1113" y="1694"/>
                  </a:lnTo>
                  <a:lnTo>
                    <a:pt x="1113" y="1397"/>
                  </a:lnTo>
                  <a:lnTo>
                    <a:pt x="716" y="1397"/>
                  </a:lnTo>
                  <a:lnTo>
                    <a:pt x="716"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8" name="Freeform 8">
              <a:extLst>
                <a:ext uri="{FF2B5EF4-FFF2-40B4-BE49-F238E27FC236}">
                  <a16:creationId xmlns:a16="http://schemas.microsoft.com/office/drawing/2014/main" id="{D9ECB875-34C4-65FF-6CDA-1356F6BC767F}"/>
                </a:ext>
              </a:extLst>
            </p:cNvPr>
            <p:cNvSpPr>
              <a:spLocks noEditPoints="1"/>
            </p:cNvSpPr>
            <p:nvPr userDrawn="1"/>
          </p:nvSpPr>
          <p:spPr bwMode="auto">
            <a:xfrm>
              <a:off x="8263" y="3473"/>
              <a:ext cx="1317" cy="1694"/>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7" name="Freeform 9">
              <a:extLst>
                <a:ext uri="{FF2B5EF4-FFF2-40B4-BE49-F238E27FC236}">
                  <a16:creationId xmlns:a16="http://schemas.microsoft.com/office/drawing/2014/main" id="{D3B5B848-7A8D-931B-DFC2-C5B37B8DB6F5}"/>
                </a:ext>
              </a:extLst>
            </p:cNvPr>
            <p:cNvSpPr>
              <a:spLocks/>
            </p:cNvSpPr>
            <p:nvPr userDrawn="1"/>
          </p:nvSpPr>
          <p:spPr bwMode="auto">
            <a:xfrm>
              <a:off x="6369" y="3473"/>
              <a:ext cx="1098" cy="1694"/>
            </a:xfrm>
            <a:custGeom>
              <a:avLst/>
              <a:gdLst>
                <a:gd name="T0" fmla="*/ 0 w 1098"/>
                <a:gd name="T1" fmla="*/ 0 h 1694"/>
                <a:gd name="T2" fmla="*/ 0 w 1098"/>
                <a:gd name="T3" fmla="*/ 1694 h 1694"/>
                <a:gd name="T4" fmla="*/ 1098 w 1098"/>
                <a:gd name="T5" fmla="*/ 1694 h 1694"/>
                <a:gd name="T6" fmla="*/ 1098 w 1098"/>
                <a:gd name="T7" fmla="*/ 1397 h 1694"/>
                <a:gd name="T8" fmla="*/ 321 w 1098"/>
                <a:gd name="T9" fmla="*/ 1397 h 1694"/>
                <a:gd name="T10" fmla="*/ 321 w 1098"/>
                <a:gd name="T11" fmla="*/ 973 h 1694"/>
                <a:gd name="T12" fmla="*/ 1030 w 1098"/>
                <a:gd name="T13" fmla="*/ 973 h 1694"/>
                <a:gd name="T14" fmla="*/ 1030 w 1098"/>
                <a:gd name="T15" fmla="*/ 687 h 1694"/>
                <a:gd name="T16" fmla="*/ 321 w 1098"/>
                <a:gd name="T17" fmla="*/ 687 h 1694"/>
                <a:gd name="T18" fmla="*/ 321 w 1098"/>
                <a:gd name="T19" fmla="*/ 297 h 1694"/>
                <a:gd name="T20" fmla="*/ 1098 w 1098"/>
                <a:gd name="T21" fmla="*/ 297 h 1694"/>
                <a:gd name="T22" fmla="*/ 1098 w 1098"/>
                <a:gd name="T23" fmla="*/ 0 h 1694"/>
                <a:gd name="T24" fmla="*/ 0 w 1098"/>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8" h="1694">
                  <a:moveTo>
                    <a:pt x="0" y="0"/>
                  </a:moveTo>
                  <a:lnTo>
                    <a:pt x="0" y="1694"/>
                  </a:lnTo>
                  <a:lnTo>
                    <a:pt x="1098" y="1694"/>
                  </a:lnTo>
                  <a:lnTo>
                    <a:pt x="1098" y="1397"/>
                  </a:lnTo>
                  <a:lnTo>
                    <a:pt x="321" y="1397"/>
                  </a:lnTo>
                  <a:lnTo>
                    <a:pt x="321" y="973"/>
                  </a:lnTo>
                  <a:lnTo>
                    <a:pt x="1030" y="973"/>
                  </a:lnTo>
                  <a:lnTo>
                    <a:pt x="1030" y="687"/>
                  </a:lnTo>
                  <a:lnTo>
                    <a:pt x="321" y="687"/>
                  </a:lnTo>
                  <a:lnTo>
                    <a:pt x="321" y="297"/>
                  </a:lnTo>
                  <a:lnTo>
                    <a:pt x="1098" y="297"/>
                  </a:lnTo>
                  <a:lnTo>
                    <a:pt x="1098"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19" name="Freeform 10">
              <a:extLst>
                <a:ext uri="{FF2B5EF4-FFF2-40B4-BE49-F238E27FC236}">
                  <a16:creationId xmlns:a16="http://schemas.microsoft.com/office/drawing/2014/main" id="{361AABDF-9542-DBC6-6388-ABE2035BE7BC}"/>
                </a:ext>
              </a:extLst>
            </p:cNvPr>
            <p:cNvSpPr>
              <a:spLocks noEditPoints="1"/>
            </p:cNvSpPr>
            <p:nvPr userDrawn="1"/>
          </p:nvSpPr>
          <p:spPr bwMode="auto">
            <a:xfrm>
              <a:off x="4481" y="3473"/>
              <a:ext cx="1215" cy="1694"/>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0" name="Freeform 11">
              <a:extLst>
                <a:ext uri="{FF2B5EF4-FFF2-40B4-BE49-F238E27FC236}">
                  <a16:creationId xmlns:a16="http://schemas.microsoft.com/office/drawing/2014/main" id="{057C10C3-A39D-D1F6-3C50-91EC9A5E76EF}"/>
                </a:ext>
              </a:extLst>
            </p:cNvPr>
            <p:cNvSpPr>
              <a:spLocks/>
            </p:cNvSpPr>
            <p:nvPr userDrawn="1"/>
          </p:nvSpPr>
          <p:spPr bwMode="auto">
            <a:xfrm>
              <a:off x="1945" y="3473"/>
              <a:ext cx="1720" cy="1694"/>
            </a:xfrm>
            <a:custGeom>
              <a:avLst/>
              <a:gdLst>
                <a:gd name="T0" fmla="*/ 1265 w 1720"/>
                <a:gd name="T1" fmla="*/ 0 h 1694"/>
                <a:gd name="T2" fmla="*/ 860 w 1720"/>
                <a:gd name="T3" fmla="*/ 996 h 1694"/>
                <a:gd name="T4" fmla="*/ 456 w 1720"/>
                <a:gd name="T5" fmla="*/ 0 h 1694"/>
                <a:gd name="T6" fmla="*/ 0 w 1720"/>
                <a:gd name="T7" fmla="*/ 0 h 1694"/>
                <a:gd name="T8" fmla="*/ 0 w 1720"/>
                <a:gd name="T9" fmla="*/ 1694 h 1694"/>
                <a:gd name="T10" fmla="*/ 303 w 1720"/>
                <a:gd name="T11" fmla="*/ 1694 h 1694"/>
                <a:gd name="T12" fmla="*/ 303 w 1720"/>
                <a:gd name="T13" fmla="*/ 428 h 1694"/>
                <a:gd name="T14" fmla="*/ 692 w 1720"/>
                <a:gd name="T15" fmla="*/ 1321 h 1694"/>
                <a:gd name="T16" fmla="*/ 709 w 1720"/>
                <a:gd name="T17" fmla="*/ 1321 h 1694"/>
                <a:gd name="T18" fmla="*/ 1012 w 1720"/>
                <a:gd name="T19" fmla="*/ 1321 h 1694"/>
                <a:gd name="T20" fmla="*/ 1029 w 1720"/>
                <a:gd name="T21" fmla="*/ 1321 h 1694"/>
                <a:gd name="T22" fmla="*/ 1416 w 1720"/>
                <a:gd name="T23" fmla="*/ 428 h 1694"/>
                <a:gd name="T24" fmla="*/ 1416 w 1720"/>
                <a:gd name="T25" fmla="*/ 1694 h 1694"/>
                <a:gd name="T26" fmla="*/ 1720 w 1720"/>
                <a:gd name="T27" fmla="*/ 1694 h 1694"/>
                <a:gd name="T28" fmla="*/ 1720 w 1720"/>
                <a:gd name="T29" fmla="*/ 0 h 1694"/>
                <a:gd name="T30" fmla="*/ 1265 w 1720"/>
                <a:gd name="T31"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20" h="1694">
                  <a:moveTo>
                    <a:pt x="1265" y="0"/>
                  </a:moveTo>
                  <a:lnTo>
                    <a:pt x="860" y="996"/>
                  </a:lnTo>
                  <a:lnTo>
                    <a:pt x="456" y="0"/>
                  </a:lnTo>
                  <a:lnTo>
                    <a:pt x="0" y="0"/>
                  </a:lnTo>
                  <a:lnTo>
                    <a:pt x="0" y="1694"/>
                  </a:lnTo>
                  <a:lnTo>
                    <a:pt x="303" y="1694"/>
                  </a:lnTo>
                  <a:lnTo>
                    <a:pt x="303" y="428"/>
                  </a:lnTo>
                  <a:lnTo>
                    <a:pt x="692" y="1321"/>
                  </a:lnTo>
                  <a:lnTo>
                    <a:pt x="709" y="1321"/>
                  </a:lnTo>
                  <a:lnTo>
                    <a:pt x="1012" y="1321"/>
                  </a:lnTo>
                  <a:lnTo>
                    <a:pt x="1029" y="1321"/>
                  </a:lnTo>
                  <a:lnTo>
                    <a:pt x="1416" y="428"/>
                  </a:lnTo>
                  <a:lnTo>
                    <a:pt x="1416" y="1694"/>
                  </a:lnTo>
                  <a:lnTo>
                    <a:pt x="1720" y="1694"/>
                  </a:lnTo>
                  <a:lnTo>
                    <a:pt x="1720" y="0"/>
                  </a:lnTo>
                  <a:lnTo>
                    <a:pt x="126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sp>
          <p:nvSpPr>
            <p:cNvPr id="21" name="Freeform 12">
              <a:extLst>
                <a:ext uri="{FF2B5EF4-FFF2-40B4-BE49-F238E27FC236}">
                  <a16:creationId xmlns:a16="http://schemas.microsoft.com/office/drawing/2014/main" id="{E4DD9B4A-92B0-0B9A-755B-A13B032A85A5}"/>
                </a:ext>
              </a:extLst>
            </p:cNvPr>
            <p:cNvSpPr>
              <a:spLocks/>
            </p:cNvSpPr>
            <p:nvPr userDrawn="1"/>
          </p:nvSpPr>
          <p:spPr bwMode="auto">
            <a:xfrm>
              <a:off x="0" y="3473"/>
              <a:ext cx="1113" cy="1694"/>
            </a:xfrm>
            <a:custGeom>
              <a:avLst/>
              <a:gdLst>
                <a:gd name="T0" fmla="*/ 0 w 1113"/>
                <a:gd name="T1" fmla="*/ 0 h 1694"/>
                <a:gd name="T2" fmla="*/ 0 w 1113"/>
                <a:gd name="T3" fmla="*/ 297 h 1694"/>
                <a:gd name="T4" fmla="*/ 397 w 1113"/>
                <a:gd name="T5" fmla="*/ 297 h 1694"/>
                <a:gd name="T6" fmla="*/ 397 w 1113"/>
                <a:gd name="T7" fmla="*/ 1397 h 1694"/>
                <a:gd name="T8" fmla="*/ 0 w 1113"/>
                <a:gd name="T9" fmla="*/ 1397 h 1694"/>
                <a:gd name="T10" fmla="*/ 0 w 1113"/>
                <a:gd name="T11" fmla="*/ 1694 h 1694"/>
                <a:gd name="T12" fmla="*/ 1113 w 1113"/>
                <a:gd name="T13" fmla="*/ 1694 h 1694"/>
                <a:gd name="T14" fmla="*/ 1113 w 1113"/>
                <a:gd name="T15" fmla="*/ 1397 h 1694"/>
                <a:gd name="T16" fmla="*/ 717 w 1113"/>
                <a:gd name="T17" fmla="*/ 1397 h 1694"/>
                <a:gd name="T18" fmla="*/ 717 w 1113"/>
                <a:gd name="T19" fmla="*/ 297 h 1694"/>
                <a:gd name="T20" fmla="*/ 1113 w 1113"/>
                <a:gd name="T21" fmla="*/ 297 h 1694"/>
                <a:gd name="T22" fmla="*/ 1113 w 1113"/>
                <a:gd name="T23" fmla="*/ 0 h 1694"/>
                <a:gd name="T24" fmla="*/ 0 w 1113"/>
                <a:gd name="T25" fmla="*/ 0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3" h="1694">
                  <a:moveTo>
                    <a:pt x="0" y="0"/>
                  </a:moveTo>
                  <a:lnTo>
                    <a:pt x="0" y="297"/>
                  </a:lnTo>
                  <a:lnTo>
                    <a:pt x="397" y="297"/>
                  </a:lnTo>
                  <a:lnTo>
                    <a:pt x="397" y="1397"/>
                  </a:lnTo>
                  <a:lnTo>
                    <a:pt x="0" y="1397"/>
                  </a:lnTo>
                  <a:lnTo>
                    <a:pt x="0" y="1694"/>
                  </a:lnTo>
                  <a:lnTo>
                    <a:pt x="1113" y="1694"/>
                  </a:lnTo>
                  <a:lnTo>
                    <a:pt x="1113" y="1397"/>
                  </a:lnTo>
                  <a:lnTo>
                    <a:pt x="717" y="1397"/>
                  </a:lnTo>
                  <a:lnTo>
                    <a:pt x="717" y="297"/>
                  </a:lnTo>
                  <a:lnTo>
                    <a:pt x="1113" y="297"/>
                  </a:lnTo>
                  <a:lnTo>
                    <a:pt x="111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900"/>
            </a:p>
          </p:txBody>
        </p:sp>
      </p:grpSp>
    </p:spTree>
    <p:extLst>
      <p:ext uri="{BB962C8B-B14F-4D97-AF65-F5344CB8AC3E}">
        <p14:creationId xmlns:p14="http://schemas.microsoft.com/office/powerpoint/2010/main" val="300092682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711818251"/>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Smok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143701506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Khaki">
    <p:bg>
      <p:bgPr>
        <a:solidFill>
          <a:srgbClr val="FBF7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r>
              <a:rPr lang="en-US"/>
              <a:t>05/03/2026</a:t>
            </a:r>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p>
            <a:fld id="{CBA53E11-492D-48B3-9F9B-09541CA2A39A}" type="slidenum">
              <a:rPr lang="en-GB" smtClean="0"/>
              <a:t>‹#›</a:t>
            </a:fld>
            <a:endParaRPr lang="en-GB"/>
          </a:p>
        </p:txBody>
      </p:sp>
      <p:sp>
        <p:nvSpPr>
          <p:cNvPr id="7" name="Subtitle 2">
            <a:extLst>
              <a:ext uri="{FF2B5EF4-FFF2-40B4-BE49-F238E27FC236}">
                <a16:creationId xmlns:a16="http://schemas.microsoft.com/office/drawing/2014/main" id="{42358139-EACE-E729-C3E3-AD890A6D0F80}"/>
              </a:ext>
            </a:extLst>
          </p:cNvPr>
          <p:cNvSpPr>
            <a:spLocks noGrp="1"/>
          </p:cNvSpPr>
          <p:nvPr>
            <p:ph type="subTitle" idx="13"/>
          </p:nvPr>
        </p:nvSpPr>
        <p:spPr>
          <a:xfrm>
            <a:off x="325800" y="620196"/>
            <a:ext cx="11540763" cy="371567"/>
          </a:xfrm>
        </p:spPr>
        <p:txBody>
          <a:bodyPr/>
          <a:lstStyle>
            <a:lvl1pPr marL="0" indent="0" algn="l">
              <a:lnSpc>
                <a:spcPct val="90000"/>
              </a:lnSpc>
              <a:buNone/>
              <a:defRPr sz="2600">
                <a:solidFill>
                  <a:schemeClr val="accent3"/>
                </a:solidFill>
                <a:latin typeface="+mn-lt"/>
                <a:ea typeface="Inter Medium" panose="02000503000000020004" pitchFamily="2" charset="0"/>
              </a:defRPr>
            </a:lvl1pPr>
            <a:lvl2pPr marL="342882" indent="0" algn="ctr">
              <a:buNone/>
              <a:defRPr sz="1500"/>
            </a:lvl2pPr>
            <a:lvl3pPr marL="685765" indent="0" algn="ctr">
              <a:buNone/>
              <a:defRPr sz="1350"/>
            </a:lvl3pPr>
            <a:lvl4pPr marL="1028647" indent="0" algn="ctr">
              <a:buNone/>
              <a:defRPr sz="1200"/>
            </a:lvl4pPr>
            <a:lvl5pPr marL="1371530" indent="0" algn="ctr">
              <a:buNone/>
              <a:defRPr sz="1200"/>
            </a:lvl5pPr>
            <a:lvl6pPr marL="1714412" indent="0" algn="ctr">
              <a:buNone/>
              <a:defRPr sz="1200"/>
            </a:lvl6pPr>
            <a:lvl7pPr marL="2057295" indent="0" algn="ctr">
              <a:buNone/>
              <a:defRPr sz="1200"/>
            </a:lvl7pPr>
            <a:lvl8pPr marL="2400177" indent="0" algn="ctr">
              <a:buNone/>
              <a:defRPr sz="1200"/>
            </a:lvl8pPr>
            <a:lvl9pPr marL="2743060" indent="0" algn="ctr">
              <a:buNone/>
              <a:defRPr sz="1200"/>
            </a:lvl9pPr>
          </a:lstStyle>
          <a:p>
            <a:r>
              <a:rPr lang="en-US"/>
              <a:t>Click to edit Master subtitle style</a:t>
            </a:r>
            <a:endParaRPr lang="en-GB" dirty="0"/>
          </a:p>
        </p:txBody>
      </p:sp>
    </p:spTree>
    <p:extLst>
      <p:ext uri="{BB962C8B-B14F-4D97-AF65-F5344CB8AC3E}">
        <p14:creationId xmlns:p14="http://schemas.microsoft.com/office/powerpoint/2010/main" val="25890986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r>
              <a:rPr lang="en-US"/>
              <a:t>05/03/2026</a:t>
            </a:r>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196446497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Smoke">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r>
              <a:rPr lang="en-US"/>
              <a:t>05/03/2026</a:t>
            </a:r>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375716822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Khaki">
    <p:bg>
      <p:bgPr>
        <a:solidFill>
          <a:srgbClr val="FBF7DC"/>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r>
              <a:rPr lang="en-US"/>
              <a:t>05/03/2026</a:t>
            </a:r>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p>
            <a:fld id="{CBA53E11-492D-48B3-9F9B-09541CA2A39A}" type="slidenum">
              <a:rPr lang="en-GB" smtClean="0"/>
              <a:t>‹#›</a:t>
            </a:fld>
            <a:endParaRPr lang="en-GB"/>
          </a:p>
        </p:txBody>
      </p:sp>
    </p:spTree>
    <p:extLst>
      <p:ext uri="{BB962C8B-B14F-4D97-AF65-F5344CB8AC3E}">
        <p14:creationId xmlns:p14="http://schemas.microsoft.com/office/powerpoint/2010/main" val="418811291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325800" y="252000"/>
            <a:ext cx="11540763" cy="378044"/>
          </a:xfrm>
          <a:prstGeom prst="rect">
            <a:avLst/>
          </a:prstGeom>
        </p:spPr>
        <p:txBody>
          <a:bodyPr vert="horz" lIns="0" tIns="0" rIns="0" bIns="0" rtlCol="0" anchor="t">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326232" y="1394619"/>
            <a:ext cx="11541025" cy="486648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10641349" y="6393702"/>
            <a:ext cx="1233647" cy="137270"/>
          </a:xfrm>
          <a:prstGeom prst="rect">
            <a:avLst/>
          </a:prstGeom>
        </p:spPr>
        <p:txBody>
          <a:bodyPr vert="horz" lIns="0" tIns="0" rIns="0" bIns="0" rtlCol="0" anchor="b">
            <a:noAutofit/>
          </a:bodyPr>
          <a:lstStyle>
            <a:lvl1pPr algn="r">
              <a:defRPr sz="850">
                <a:solidFill>
                  <a:schemeClr val="accent1"/>
                </a:solidFill>
              </a:defRPr>
            </a:lvl1pPr>
          </a:lstStyle>
          <a:p>
            <a:r>
              <a:rPr lang="en-US"/>
              <a:t>05/03/2026</a:t>
            </a:r>
            <a:endParaRPr lang="en-GB"/>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965261" y="6393702"/>
            <a:ext cx="3423452" cy="137272"/>
          </a:xfrm>
          <a:prstGeom prst="rect">
            <a:avLst/>
          </a:prstGeom>
        </p:spPr>
        <p:txBody>
          <a:bodyPr vert="horz" lIns="0" tIns="0" rIns="0" bIns="0" rtlCol="0" anchor="b">
            <a:noAutofit/>
          </a:bodyPr>
          <a:lstStyle>
            <a:lvl1pPr algn="l">
              <a:defRPr sz="850">
                <a:solidFill>
                  <a:schemeClr val="accent1"/>
                </a:solidFill>
              </a:defRPr>
            </a:lvl1pPr>
          </a:lstStyle>
          <a:p>
            <a:endParaRPr lang="en-GB"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5936755" y="6393702"/>
            <a:ext cx="318491" cy="137272"/>
          </a:xfrm>
          <a:prstGeom prst="rect">
            <a:avLst/>
          </a:prstGeom>
        </p:spPr>
        <p:txBody>
          <a:bodyPr vert="horz" lIns="0" tIns="0" rIns="0" bIns="0" rtlCol="0" anchor="b">
            <a:noAutofit/>
          </a:bodyPr>
          <a:lstStyle>
            <a:lvl1pPr algn="ctr">
              <a:defRPr sz="850" b="1">
                <a:solidFill>
                  <a:schemeClr val="accent1"/>
                </a:solidFill>
              </a:defRPr>
            </a:lvl1pPr>
          </a:lstStyle>
          <a:p>
            <a:fld id="{CBA53E11-492D-48B3-9F9B-09541CA2A39A}" type="slidenum">
              <a:rPr lang="en-GB" smtClean="0"/>
              <a:pPr/>
              <a:t>‹#›</a:t>
            </a:fld>
            <a:endParaRPr lang="en-GB"/>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326232" y="6393702"/>
            <a:ext cx="1417500" cy="137272"/>
          </a:xfrm>
          <a:prstGeom prst="rect">
            <a:avLst/>
          </a:prstGeom>
          <a:noFill/>
        </p:spPr>
        <p:txBody>
          <a:bodyPr wrap="square" lIns="0" tIns="0" rIns="0" bIns="0" rtlCol="0" anchor="b">
            <a:noAutofit/>
          </a:bodyPr>
          <a:lstStyle/>
          <a:p>
            <a:pPr algn="l"/>
            <a:r>
              <a:rPr lang="en-US" sz="850" b="0" dirty="0">
                <a:solidFill>
                  <a:schemeClr val="accent1"/>
                </a:solidFill>
                <a:latin typeface="+mj-lt"/>
              </a:rPr>
              <a:t>Imperial College London</a:t>
            </a:r>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6" r:id="rId1"/>
    <p:sldLayoutId id="2147483679" r:id="rId2"/>
    <p:sldLayoutId id="2147483680" r:id="rId3"/>
    <p:sldLayoutId id="2147483649" r:id="rId4"/>
    <p:sldLayoutId id="2147483657" r:id="rId5"/>
    <p:sldLayoutId id="2147483658" r:id="rId6"/>
    <p:sldLayoutId id="2147483681" r:id="rId7"/>
    <p:sldLayoutId id="2147483682" r:id="rId8"/>
    <p:sldLayoutId id="2147483675" r:id="rId9"/>
    <p:sldLayoutId id="2147483650" r:id="rId10"/>
    <p:sldLayoutId id="2147483683" r:id="rId11"/>
    <p:sldLayoutId id="2147483684" r:id="rId12"/>
    <p:sldLayoutId id="2147483652" r:id="rId13"/>
    <p:sldLayoutId id="2147483685" r:id="rId14"/>
    <p:sldLayoutId id="2147483686" r:id="rId15"/>
    <p:sldLayoutId id="2147483659" r:id="rId16"/>
    <p:sldLayoutId id="2147483687" r:id="rId17"/>
    <p:sldLayoutId id="2147483688" r:id="rId18"/>
    <p:sldLayoutId id="2147483660" r:id="rId19"/>
    <p:sldLayoutId id="2147483689" r:id="rId20"/>
    <p:sldLayoutId id="2147483690" r:id="rId21"/>
    <p:sldLayoutId id="2147483677" r:id="rId22"/>
    <p:sldLayoutId id="2147483691" r:id="rId23"/>
    <p:sldLayoutId id="2147483692" r:id="rId24"/>
    <p:sldLayoutId id="2147483676" r:id="rId25"/>
    <p:sldLayoutId id="2147483667" r:id="rId26"/>
    <p:sldLayoutId id="2147483693" r:id="rId27"/>
    <p:sldLayoutId id="2147483694" r:id="rId28"/>
    <p:sldLayoutId id="2147483666" r:id="rId29"/>
    <p:sldLayoutId id="2147483661" r:id="rId30"/>
    <p:sldLayoutId id="2147483695" r:id="rId31"/>
    <p:sldLayoutId id="2147483696" r:id="rId32"/>
    <p:sldLayoutId id="2147483669" r:id="rId33"/>
    <p:sldLayoutId id="2147483697" r:id="rId34"/>
    <p:sldLayoutId id="2147483698" r:id="rId35"/>
    <p:sldLayoutId id="2147483678" r:id="rId36"/>
    <p:sldLayoutId id="2147483699" r:id="rId37"/>
    <p:sldLayoutId id="2147483700" r:id="rId38"/>
    <p:sldLayoutId id="2147483662" r:id="rId39"/>
    <p:sldLayoutId id="2147483701" r:id="rId40"/>
    <p:sldLayoutId id="2147483702" r:id="rId41"/>
    <p:sldLayoutId id="2147483663" r:id="rId42"/>
    <p:sldLayoutId id="2147483703" r:id="rId43"/>
    <p:sldLayoutId id="2147483704" r:id="rId44"/>
    <p:sldLayoutId id="2147483664" r:id="rId45"/>
    <p:sldLayoutId id="2147483705" r:id="rId46"/>
    <p:sldLayoutId id="2147483706" r:id="rId47"/>
    <p:sldLayoutId id="2147483665" r:id="rId48"/>
    <p:sldLayoutId id="2147483671" r:id="rId49"/>
    <p:sldLayoutId id="2147483707" r:id="rId50"/>
    <p:sldLayoutId id="2147483708" r:id="rId51"/>
    <p:sldLayoutId id="2147483670" r:id="rId52"/>
    <p:sldLayoutId id="2147483672" r:id="rId53"/>
    <p:sldLayoutId id="2147483674" r:id="rId54"/>
    <p:sldLayoutId id="2147483709" r:id="rId55"/>
    <p:sldLayoutId id="2147483710" r:id="rId56"/>
    <p:sldLayoutId id="2147483673" r:id="rId57"/>
    <p:sldLayoutId id="2147483654" r:id="rId58"/>
    <p:sldLayoutId id="2147483711" r:id="rId59"/>
    <p:sldLayoutId id="2147483712" r:id="rId60"/>
    <p:sldLayoutId id="2147483655" r:id="rId61"/>
    <p:sldLayoutId id="2147483713" r:id="rId62"/>
    <p:sldLayoutId id="2147483714" r:id="rId63"/>
  </p:sldLayoutIdLst>
  <p:transition>
    <p:fade/>
  </p:transition>
  <p:hf hdr="0"/>
  <p:txStyles>
    <p:titleStyle>
      <a:lvl1pPr algn="l" defTabSz="685765" rtl="0" eaLnBrk="1" latinLnBrk="0" hangingPunct="1">
        <a:lnSpc>
          <a:spcPct val="90000"/>
        </a:lnSpc>
        <a:spcBef>
          <a:spcPct val="0"/>
        </a:spcBef>
        <a:buNone/>
        <a:defRPr sz="2600" b="1" kern="1200">
          <a:solidFill>
            <a:schemeClr val="accent1"/>
          </a:solidFill>
          <a:latin typeface="+mj-lt"/>
          <a:ea typeface="+mj-ea"/>
          <a:cs typeface="+mj-cs"/>
        </a:defRPr>
      </a:lvl1pPr>
    </p:titleStyle>
    <p:bodyStyle>
      <a:lvl1pPr marL="0" indent="0" algn="l" defTabSz="685765" rtl="0" eaLnBrk="1" latinLnBrk="0" hangingPunct="1">
        <a:lnSpc>
          <a:spcPct val="105000"/>
        </a:lnSpc>
        <a:spcBef>
          <a:spcPts val="0"/>
        </a:spcBef>
        <a:buFont typeface="Arial" panose="020B0604020202020204" pitchFamily="34" charset="0"/>
        <a:buNone/>
        <a:defRPr sz="2000" kern="1200">
          <a:solidFill>
            <a:schemeClr val="tx1"/>
          </a:solidFill>
          <a:latin typeface="+mn-lt"/>
          <a:ea typeface="+mn-ea"/>
          <a:cs typeface="+mn-cs"/>
        </a:defRPr>
      </a:lvl1pPr>
      <a:lvl2pPr marL="0" indent="0" algn="l" defTabSz="685765" rtl="0" eaLnBrk="1" latinLnBrk="0" hangingPunct="1">
        <a:lnSpc>
          <a:spcPct val="105000"/>
        </a:lnSpc>
        <a:spcBef>
          <a:spcPts val="0"/>
        </a:spcBef>
        <a:buFont typeface="Arial" panose="020B0604020202020204" pitchFamily="34" charset="0"/>
        <a:buNone/>
        <a:defRPr sz="2000" b="0" kern="1200">
          <a:solidFill>
            <a:schemeClr val="tx1"/>
          </a:solidFill>
          <a:latin typeface="+mj-lt"/>
          <a:ea typeface="+mn-ea"/>
          <a:cs typeface="+mn-cs"/>
        </a:defRPr>
      </a:lvl2pPr>
      <a:lvl3pPr marL="161991"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3pPr>
      <a:lvl4pPr marL="323984"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4pPr>
      <a:lvl5pPr marL="485975" indent="-161991" algn="l" defTabSz="685765" rtl="0" eaLnBrk="1" latinLnBrk="0" hangingPunct="1">
        <a:lnSpc>
          <a:spcPct val="105000"/>
        </a:lnSpc>
        <a:spcBef>
          <a:spcPts val="0"/>
        </a:spcBef>
        <a:buClr>
          <a:schemeClr val="accent1"/>
        </a:buClr>
        <a:buFont typeface="Arial" panose="020B0604020202020204" pitchFamily="34" charset="0"/>
        <a:buChar char="•"/>
        <a:defRPr sz="2000" kern="1200">
          <a:solidFill>
            <a:schemeClr val="tx1"/>
          </a:solidFill>
          <a:latin typeface="+mn-lt"/>
          <a:ea typeface="+mn-ea"/>
          <a:cs typeface="+mn-cs"/>
        </a:defRPr>
      </a:lvl5pPr>
      <a:lvl6pPr marL="1885853"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2228736"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2571618"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2914501" indent="-171441" algn="l" defTabSz="685765"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685765" rtl="0" eaLnBrk="1" latinLnBrk="0" hangingPunct="1">
        <a:defRPr sz="1600" kern="1200">
          <a:solidFill>
            <a:schemeClr val="tx1"/>
          </a:solidFill>
          <a:latin typeface="+mn-lt"/>
          <a:ea typeface="+mn-ea"/>
          <a:cs typeface="+mn-cs"/>
        </a:defRPr>
      </a:lvl1pPr>
      <a:lvl2pPr marL="342882" algn="l" defTabSz="685765" rtl="0" eaLnBrk="1" latinLnBrk="0" hangingPunct="1">
        <a:defRPr sz="1600" kern="1200">
          <a:solidFill>
            <a:schemeClr val="tx1"/>
          </a:solidFill>
          <a:latin typeface="+mn-lt"/>
          <a:ea typeface="+mn-ea"/>
          <a:cs typeface="+mn-cs"/>
        </a:defRPr>
      </a:lvl2pPr>
      <a:lvl3pPr marL="685765" algn="l" defTabSz="685765" rtl="0" eaLnBrk="1" latinLnBrk="0" hangingPunct="1">
        <a:defRPr sz="1600" kern="1200">
          <a:solidFill>
            <a:schemeClr val="tx1"/>
          </a:solidFill>
          <a:latin typeface="+mn-lt"/>
          <a:ea typeface="+mn-ea"/>
          <a:cs typeface="+mn-cs"/>
        </a:defRPr>
      </a:lvl3pPr>
      <a:lvl4pPr marL="1028647" algn="l" defTabSz="685765" rtl="0" eaLnBrk="1" latinLnBrk="0" hangingPunct="1">
        <a:defRPr sz="1600" kern="1200">
          <a:solidFill>
            <a:schemeClr val="tx1"/>
          </a:solidFill>
          <a:latin typeface="+mn-lt"/>
          <a:ea typeface="+mn-ea"/>
          <a:cs typeface="+mn-cs"/>
        </a:defRPr>
      </a:lvl4pPr>
      <a:lvl5pPr marL="1371530" algn="l" defTabSz="685765" rtl="0" eaLnBrk="1" latinLnBrk="0" hangingPunct="1">
        <a:defRPr sz="1600" kern="1200">
          <a:solidFill>
            <a:schemeClr val="tx1"/>
          </a:solidFill>
          <a:latin typeface="+mn-lt"/>
          <a:ea typeface="+mn-ea"/>
          <a:cs typeface="+mn-cs"/>
        </a:defRPr>
      </a:lvl5pPr>
      <a:lvl6pPr marL="1714412" algn="l" defTabSz="685765" rtl="0" eaLnBrk="1" latinLnBrk="0" hangingPunct="1">
        <a:defRPr sz="1600" kern="1200">
          <a:solidFill>
            <a:schemeClr val="tx1"/>
          </a:solidFill>
          <a:latin typeface="+mn-lt"/>
          <a:ea typeface="+mn-ea"/>
          <a:cs typeface="+mn-cs"/>
        </a:defRPr>
      </a:lvl6pPr>
      <a:lvl7pPr marL="2057295" algn="l" defTabSz="685765" rtl="0" eaLnBrk="1" latinLnBrk="0" hangingPunct="1">
        <a:defRPr sz="1600" kern="1200">
          <a:solidFill>
            <a:schemeClr val="tx1"/>
          </a:solidFill>
          <a:latin typeface="+mn-lt"/>
          <a:ea typeface="+mn-ea"/>
          <a:cs typeface="+mn-cs"/>
        </a:defRPr>
      </a:lvl7pPr>
      <a:lvl8pPr marL="2400177" algn="l" defTabSz="685765" rtl="0" eaLnBrk="1" latinLnBrk="0" hangingPunct="1">
        <a:defRPr sz="1600" kern="1200">
          <a:solidFill>
            <a:schemeClr val="tx1"/>
          </a:solidFill>
          <a:latin typeface="+mn-lt"/>
          <a:ea typeface="+mn-ea"/>
          <a:cs typeface="+mn-cs"/>
        </a:defRPr>
      </a:lvl8pPr>
      <a:lvl9pPr marL="2743060" algn="l" defTabSz="685765"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206" userDrawn="1">
          <p15:clr>
            <a:srgbClr val="F26B43"/>
          </p15:clr>
        </p15:guide>
        <p15:guide id="4" pos="7475" userDrawn="1">
          <p15:clr>
            <a:srgbClr val="F26B43"/>
          </p15:clr>
        </p15:guide>
        <p15:guide id="5" orient="horz" pos="207" userDrawn="1">
          <p15:clr>
            <a:srgbClr val="F26B43"/>
          </p15:clr>
        </p15:guide>
        <p15:guide id="6" orient="horz" pos="4114" userDrawn="1">
          <p15:clr>
            <a:srgbClr val="F26B43"/>
          </p15:clr>
        </p15:guide>
        <p15:guide id="7" orient="horz" pos="3944" userDrawn="1">
          <p15:clr>
            <a:srgbClr val="F26B43"/>
          </p15:clr>
        </p15:guide>
        <p15:guide id="8" orient="horz" pos="879" userDrawn="1">
          <p15:clr>
            <a:srgbClr val="F26B43"/>
          </p15:clr>
        </p15:guide>
        <p15:guide id="9" pos="3723" userDrawn="1">
          <p15:clr>
            <a:srgbClr val="F26B43"/>
          </p15:clr>
        </p15:guide>
        <p15:guide id="10" pos="395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2.3"/><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9.xml.rels><?xml version="1.0" encoding="UTF-8" standalone="yes"?>
<Relationships xmlns="http://schemas.openxmlformats.org/package/2006/relationships"><Relationship Id="rId2" Type="http://schemas.openxmlformats.org/officeDocument/2006/relationships/image" Target="../media/image13.2"/><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4.4"/><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2" Type="http://schemas.openxmlformats.org/officeDocument/2006/relationships/image" Target="../media/image15.4"/><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4.xml.rels><?xml version="1.0" encoding="UTF-8" standalone="yes"?>
<Relationships xmlns="http://schemas.openxmlformats.org/package/2006/relationships"><Relationship Id="rId2" Type="http://schemas.openxmlformats.org/officeDocument/2006/relationships/image" Target="../media/image16.1"/><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7.4"/><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4.4"/><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0.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7CC57-32B4-5651-C726-27956387C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80337-D626-AC7B-5E8D-3144BB486543}"/>
              </a:ext>
            </a:extLst>
          </p:cNvPr>
          <p:cNvSpPr>
            <a:spLocks noGrp="1"/>
          </p:cNvSpPr>
          <p:nvPr>
            <p:ph type="ctrTitle"/>
          </p:nvPr>
        </p:nvSpPr>
        <p:spPr/>
        <p:txBody>
          <a:bodyPr/>
          <a:lstStyle/>
          <a:p>
            <a:r>
              <a:rPr lang="en-GB" dirty="0"/>
              <a:t>Airbnb Price Prediction in London</a:t>
            </a:r>
          </a:p>
        </p:txBody>
      </p:sp>
      <p:sp>
        <p:nvSpPr>
          <p:cNvPr id="3" name="Subtitle 2">
            <a:extLst>
              <a:ext uri="{FF2B5EF4-FFF2-40B4-BE49-F238E27FC236}">
                <a16:creationId xmlns:a16="http://schemas.microsoft.com/office/drawing/2014/main" id="{8B7FCD95-DD6E-BAAA-DD32-3D1E187DA719}"/>
              </a:ext>
            </a:extLst>
          </p:cNvPr>
          <p:cNvSpPr>
            <a:spLocks noGrp="1"/>
          </p:cNvSpPr>
          <p:nvPr>
            <p:ph type="subTitle" idx="1"/>
          </p:nvPr>
        </p:nvSpPr>
        <p:spPr/>
        <p:txBody>
          <a:bodyPr/>
          <a:lstStyle/>
          <a:p>
            <a:r>
              <a:rPr lang="en-GB" sz="4000" dirty="0"/>
              <a:t>Text Mining for Economics &amp; Finance</a:t>
            </a:r>
          </a:p>
        </p:txBody>
      </p:sp>
      <p:sp>
        <p:nvSpPr>
          <p:cNvPr id="6" name="Text Placeholder 5">
            <a:extLst>
              <a:ext uri="{FF2B5EF4-FFF2-40B4-BE49-F238E27FC236}">
                <a16:creationId xmlns:a16="http://schemas.microsoft.com/office/drawing/2014/main" id="{17ADEF3F-453F-A867-067C-B77BAD46761F}"/>
              </a:ext>
            </a:extLst>
          </p:cNvPr>
          <p:cNvSpPr>
            <a:spLocks noGrp="1"/>
          </p:cNvSpPr>
          <p:nvPr>
            <p:ph type="body" sz="quarter" idx="10"/>
          </p:nvPr>
        </p:nvSpPr>
        <p:spPr/>
        <p:txBody>
          <a:bodyPr/>
          <a:lstStyle/>
          <a:p>
            <a:endParaRPr lang="en-US" dirty="0">
              <a:cs typeface="Arial"/>
            </a:endParaRPr>
          </a:p>
          <a:p>
            <a:r>
              <a:rPr lang="en-US" dirty="0"/>
              <a:t>4 March 2026</a:t>
            </a:r>
            <a:endParaRPr lang="en-US" dirty="0">
              <a:cs typeface="Arial"/>
            </a:endParaRPr>
          </a:p>
        </p:txBody>
      </p:sp>
    </p:spTree>
    <p:extLst>
      <p:ext uri="{BB962C8B-B14F-4D97-AF65-F5344CB8AC3E}">
        <p14:creationId xmlns:p14="http://schemas.microsoft.com/office/powerpoint/2010/main" val="30351159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F674-D976-C379-F19E-3EC33B4ABD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FF3C8-C3FC-196A-75CB-ADC1B0CC5D8E}"/>
              </a:ext>
            </a:extLst>
          </p:cNvPr>
          <p:cNvSpPr>
            <a:spLocks noGrp="1"/>
          </p:cNvSpPr>
          <p:nvPr>
            <p:ph type="title"/>
          </p:nvPr>
        </p:nvSpPr>
        <p:spPr>
          <a:xfrm>
            <a:off x="325800" y="252000"/>
            <a:ext cx="11540763" cy="378044"/>
          </a:xfrm>
        </p:spPr>
        <p:txBody>
          <a:bodyPr anchor="t">
            <a:normAutofit/>
          </a:bodyPr>
          <a:lstStyle/>
          <a:p>
            <a:r>
              <a:rPr lang="en-US"/>
              <a:t>Motivation</a:t>
            </a:r>
          </a:p>
        </p:txBody>
      </p:sp>
      <p:sp>
        <p:nvSpPr>
          <p:cNvPr id="5" name="Date Placeholder 4">
            <a:extLst>
              <a:ext uri="{FF2B5EF4-FFF2-40B4-BE49-F238E27FC236}">
                <a16:creationId xmlns:a16="http://schemas.microsoft.com/office/drawing/2014/main" id="{7EC9FC07-B294-3147-4F1C-F21AA38B1AB9}"/>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3" name="Footer Placeholder 4">
            <a:extLst>
              <a:ext uri="{FF2B5EF4-FFF2-40B4-BE49-F238E27FC236}">
                <a16:creationId xmlns:a16="http://schemas.microsoft.com/office/drawing/2014/main" id="{1791E1A6-6514-CC7F-C140-8AB81920DB3C}"/>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8C724862-9620-D458-936F-38DE1784F840}"/>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2</a:t>
            </a:fld>
            <a:endParaRPr lang="en-GB"/>
          </a:p>
        </p:txBody>
      </p:sp>
      <p:sp>
        <p:nvSpPr>
          <p:cNvPr id="4" name="Subtitle 3">
            <a:extLst>
              <a:ext uri="{FF2B5EF4-FFF2-40B4-BE49-F238E27FC236}">
                <a16:creationId xmlns:a16="http://schemas.microsoft.com/office/drawing/2014/main" id="{6EC9C2EB-875B-E20A-3C9B-C3DBC698FFF2}"/>
              </a:ext>
            </a:extLst>
          </p:cNvPr>
          <p:cNvSpPr>
            <a:spLocks noGrp="1"/>
          </p:cNvSpPr>
          <p:nvPr>
            <p:ph type="subTitle" idx="13"/>
          </p:nvPr>
        </p:nvSpPr>
        <p:spPr>
          <a:xfrm>
            <a:off x="325800" y="620196"/>
            <a:ext cx="11540763" cy="371567"/>
          </a:xfrm>
        </p:spPr>
        <p:txBody>
          <a:bodyPr>
            <a:normAutofit/>
          </a:bodyPr>
          <a:lstStyle/>
          <a:p>
            <a:pPr>
              <a:spcAft>
                <a:spcPts val="600"/>
              </a:spcAft>
            </a:pPr>
            <a:r>
              <a:rPr lang="en-US"/>
              <a:t>Airbnb Pricing</a:t>
            </a:r>
          </a:p>
        </p:txBody>
      </p:sp>
      <p:graphicFrame>
        <p:nvGraphicFramePr>
          <p:cNvPr id="9" name="Content Placeholder 2">
            <a:extLst>
              <a:ext uri="{FF2B5EF4-FFF2-40B4-BE49-F238E27FC236}">
                <a16:creationId xmlns:a16="http://schemas.microsoft.com/office/drawing/2014/main" id="{B461C289-5E6E-677F-E749-B759DB0B25B2}"/>
              </a:ext>
            </a:extLst>
          </p:cNvPr>
          <p:cNvGraphicFramePr>
            <a:graphicFrameLocks noGrp="1"/>
          </p:cNvGraphicFramePr>
          <p:nvPr>
            <p:ph idx="1"/>
            <p:extLst>
              <p:ext uri="{D42A27DB-BD31-4B8C-83A1-F6EECF244321}">
                <p14:modId xmlns:p14="http://schemas.microsoft.com/office/powerpoint/2010/main" val="1179694030"/>
              </p:ext>
            </p:extLst>
          </p:nvPr>
        </p:nvGraphicFramePr>
        <p:xfrm>
          <a:off x="2527133" y="1356989"/>
          <a:ext cx="7467356" cy="3144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0" name="TextBox 99">
            <a:extLst>
              <a:ext uri="{FF2B5EF4-FFF2-40B4-BE49-F238E27FC236}">
                <a16:creationId xmlns:a16="http://schemas.microsoft.com/office/drawing/2014/main" id="{923E5691-E050-3BEE-1951-81902C1EB64B}"/>
              </a:ext>
            </a:extLst>
          </p:cNvPr>
          <p:cNvSpPr txBox="1"/>
          <p:nvPr/>
        </p:nvSpPr>
        <p:spPr>
          <a:xfrm>
            <a:off x="103482" y="5018851"/>
            <a:ext cx="12163774" cy="54835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GB" sz="2000" b="1" baseline="0">
                <a:latin typeface="Arial"/>
              </a:rPr>
              <a:t>Research Question: </a:t>
            </a:r>
            <a:r>
              <a:rPr lang="en-GB" sz="2000" b="1" baseline="0">
                <a:solidFill>
                  <a:schemeClr val="accent1"/>
                </a:solidFill>
                <a:latin typeface="Arial"/>
              </a:rPr>
              <a:t>Does listing text improve price prediction beyond structured hosing features?</a:t>
            </a:r>
            <a:endParaRPr lang="en-US" b="1">
              <a:solidFill>
                <a:schemeClr val="accent1"/>
              </a:solidFill>
            </a:endParaRPr>
          </a:p>
          <a:p>
            <a:pPr algn="l">
              <a:lnSpc>
                <a:spcPct val="105000"/>
              </a:lnSpc>
            </a:pPr>
            <a:endParaRPr lang="en-US" sz="1600">
              <a:solidFill>
                <a:schemeClr val="tx1"/>
              </a:solidFill>
            </a:endParaRPr>
          </a:p>
        </p:txBody>
      </p:sp>
    </p:spTree>
    <p:extLst>
      <p:ext uri="{BB962C8B-B14F-4D97-AF65-F5344CB8AC3E}">
        <p14:creationId xmlns:p14="http://schemas.microsoft.com/office/powerpoint/2010/main" val="6246332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A988-CEDF-637B-575F-46192269F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E5FDC-4090-0157-BD95-FA3B91F55E70}"/>
              </a:ext>
            </a:extLst>
          </p:cNvPr>
          <p:cNvSpPr>
            <a:spLocks noGrp="1"/>
          </p:cNvSpPr>
          <p:nvPr>
            <p:ph type="title"/>
          </p:nvPr>
        </p:nvSpPr>
        <p:spPr>
          <a:xfrm>
            <a:off x="326232" y="252000"/>
            <a:ext cx="11541025" cy="378044"/>
          </a:xfrm>
        </p:spPr>
        <p:txBody>
          <a:bodyPr anchor="t">
            <a:normAutofit/>
          </a:bodyPr>
          <a:lstStyle/>
          <a:p>
            <a:r>
              <a:rPr lang="en-US" dirty="0"/>
              <a:t>Population &amp; Quantity of Interest</a:t>
            </a:r>
          </a:p>
        </p:txBody>
      </p:sp>
      <p:sp>
        <p:nvSpPr>
          <p:cNvPr id="3" name="Content Placeholder 2">
            <a:extLst>
              <a:ext uri="{FF2B5EF4-FFF2-40B4-BE49-F238E27FC236}">
                <a16:creationId xmlns:a16="http://schemas.microsoft.com/office/drawing/2014/main" id="{B4614FCF-C8D0-81F3-C6C3-0B8CB5486C70}"/>
              </a:ext>
            </a:extLst>
          </p:cNvPr>
          <p:cNvSpPr>
            <a:spLocks noGrp="1"/>
          </p:cNvSpPr>
          <p:nvPr>
            <p:ph sz="half" idx="1"/>
          </p:nvPr>
        </p:nvSpPr>
        <p:spPr>
          <a:xfrm>
            <a:off x="326232" y="1394619"/>
            <a:ext cx="5583238" cy="4866481"/>
          </a:xfrm>
        </p:spPr>
        <p:txBody>
          <a:bodyPr vert="horz" lIns="0" tIns="0" rIns="0" bIns="0" rtlCol="0">
            <a:normAutofit/>
          </a:bodyPr>
          <a:lstStyle/>
          <a:p>
            <a:pPr>
              <a:lnSpc>
                <a:spcPct val="95000"/>
              </a:lnSpc>
              <a:spcAft>
                <a:spcPts val="600"/>
              </a:spcAft>
            </a:pPr>
            <a:r>
              <a:rPr lang="en-GB" sz="1600"/>
              <a:t>Population of Interest:</a:t>
            </a:r>
          </a:p>
          <a:p>
            <a:pPr marL="342900" indent="-342900">
              <a:lnSpc>
                <a:spcPct val="95000"/>
              </a:lnSpc>
              <a:spcAft>
                <a:spcPts val="600"/>
              </a:spcAft>
              <a:buFont typeface="Arial" panose="020B0604020202020204" pitchFamily="34" charset="0"/>
              <a:buChar char="•"/>
            </a:pPr>
            <a:r>
              <a:rPr lang="en-GB" sz="1600"/>
              <a:t>London Airbnb Listings priced below </a:t>
            </a:r>
            <a:r>
              <a:rPr lang="en-TH" sz="1600"/>
              <a:t>£</a:t>
            </a:r>
            <a:r>
              <a:rPr lang="en-GB" sz="1600"/>
              <a:t>1000 per night </a:t>
            </a:r>
          </a:p>
          <a:p>
            <a:pPr marL="342900" indent="-342900">
              <a:lnSpc>
                <a:spcPct val="95000"/>
              </a:lnSpc>
              <a:spcAft>
                <a:spcPts val="600"/>
              </a:spcAft>
              <a:buFont typeface="Arial" panose="020B0604020202020204" pitchFamily="34" charset="0"/>
              <a:buChar char="•"/>
            </a:pPr>
            <a:r>
              <a:rPr lang="en-US" sz="1600"/>
              <a:t>We restrict ultra-luxury outliers to avoid a separate pricing regime.</a:t>
            </a:r>
          </a:p>
          <a:p>
            <a:pPr marL="342900" indent="-342900">
              <a:lnSpc>
                <a:spcPct val="95000"/>
              </a:lnSpc>
              <a:spcAft>
                <a:spcPts val="600"/>
              </a:spcAft>
              <a:buFont typeface="Arial" panose="020B0604020202020204" pitchFamily="34" charset="0"/>
              <a:buChar char="•"/>
            </a:pPr>
            <a:endParaRPr lang="en-GB" sz="1600"/>
          </a:p>
          <a:p>
            <a:pPr>
              <a:lnSpc>
                <a:spcPct val="95000"/>
              </a:lnSpc>
              <a:spcAft>
                <a:spcPts val="600"/>
              </a:spcAft>
            </a:pPr>
            <a:r>
              <a:rPr lang="en-GB" sz="1600"/>
              <a:t>Quantity of Interest</a:t>
            </a:r>
          </a:p>
          <a:p>
            <a:pPr marL="342900" indent="-342900">
              <a:lnSpc>
                <a:spcPct val="95000"/>
              </a:lnSpc>
              <a:spcAft>
                <a:spcPts val="600"/>
              </a:spcAft>
              <a:buFont typeface="Arial" panose="020B0604020202020204" pitchFamily="34" charset="0"/>
              <a:buChar char="•"/>
            </a:pPr>
            <a:r>
              <a:rPr lang="en-GB" sz="1600"/>
              <a:t>Primary:</a:t>
            </a:r>
          </a:p>
          <a:p>
            <a:pPr marL="504825" lvl="2" indent="-342900">
              <a:lnSpc>
                <a:spcPct val="95000"/>
              </a:lnSpc>
              <a:spcAft>
                <a:spcPts val="600"/>
              </a:spcAft>
            </a:pPr>
            <a:r>
              <a:rPr lang="en-GB" sz="1600"/>
              <a:t>Log(price)</a:t>
            </a:r>
          </a:p>
          <a:p>
            <a:pPr marL="504825" lvl="2" indent="-342900">
              <a:lnSpc>
                <a:spcPct val="95000"/>
              </a:lnSpc>
              <a:spcAft>
                <a:spcPts val="600"/>
              </a:spcAft>
              <a:buClr>
                <a:srgbClr val="0000CD"/>
              </a:buClr>
            </a:pPr>
            <a:r>
              <a:rPr lang="en-GB" sz="1600"/>
              <a:t>Log transformation stabilizes variance and improves model fit + interpretability</a:t>
            </a:r>
          </a:p>
          <a:p>
            <a:pPr marL="342900" lvl="1" indent="-342900">
              <a:lnSpc>
                <a:spcPct val="95000"/>
              </a:lnSpc>
              <a:spcAft>
                <a:spcPts val="600"/>
              </a:spcAft>
              <a:buFont typeface="Arial" panose="020B0604020202020204" pitchFamily="34" charset="0"/>
              <a:buChar char="•"/>
            </a:pPr>
            <a:r>
              <a:rPr lang="en-GB" sz="1600"/>
              <a:t>Secondary:</a:t>
            </a:r>
          </a:p>
          <a:p>
            <a:pPr marL="504825" lvl="2" indent="-342900">
              <a:lnSpc>
                <a:spcPct val="95000"/>
              </a:lnSpc>
              <a:spcAft>
                <a:spcPts val="600"/>
              </a:spcAft>
            </a:pPr>
            <a:r>
              <a:rPr lang="en-GB" sz="1600"/>
              <a:t>Incremental reduction in prediction error when text is added</a:t>
            </a:r>
          </a:p>
          <a:p>
            <a:pPr marL="504891" lvl="2" indent="-342900">
              <a:lnSpc>
                <a:spcPct val="95000"/>
              </a:lnSpc>
              <a:spcAft>
                <a:spcPts val="600"/>
              </a:spcAft>
            </a:pPr>
            <a:endParaRPr lang="en-GB" sz="1600"/>
          </a:p>
          <a:p>
            <a:pPr marL="504891" lvl="2" indent="-342900">
              <a:lnSpc>
                <a:spcPct val="95000"/>
              </a:lnSpc>
              <a:spcAft>
                <a:spcPts val="600"/>
              </a:spcAft>
            </a:pPr>
            <a:endParaRPr lang="en-GB" sz="1600"/>
          </a:p>
          <a:p>
            <a:pPr marL="161925" lvl="2" indent="0">
              <a:lnSpc>
                <a:spcPct val="95000"/>
              </a:lnSpc>
              <a:spcAft>
                <a:spcPts val="600"/>
              </a:spcAft>
              <a:buNone/>
            </a:pPr>
            <a:r>
              <a:rPr lang="en-GB" sz="1600"/>
              <a:t>We study: How much additional price variation is explained by text? </a:t>
            </a:r>
          </a:p>
        </p:txBody>
      </p:sp>
      <p:pic>
        <p:nvPicPr>
          <p:cNvPr id="11" name="Picture 10" descr="A graph of a graph showing a graph&#10;&#10;AI-generated content may be incorrect.">
            <a:extLst>
              <a:ext uri="{FF2B5EF4-FFF2-40B4-BE49-F238E27FC236}">
                <a16:creationId xmlns:a16="http://schemas.microsoft.com/office/drawing/2014/main" id="{AF154A8B-A081-4D3D-DE3B-FD0016D9C843}"/>
              </a:ext>
            </a:extLst>
          </p:cNvPr>
          <p:cNvPicPr>
            <a:picLocks noChangeAspect="1"/>
          </p:cNvPicPr>
          <p:nvPr/>
        </p:nvPicPr>
        <p:blipFill>
          <a:blip r:embed="rId2">
            <a:extLst>
              <a:ext uri="{28A0092B-C50C-407E-A947-70E740481C1C}">
                <a14:useLocalDpi xmlns:a14="http://schemas.microsoft.com/office/drawing/2010/main" val="0"/>
              </a:ext>
            </a:extLst>
          </a:blip>
          <a:srcRect l="-232" r="-928" b="-194"/>
          <a:stretch>
            <a:fillRect/>
          </a:stretch>
        </p:blipFill>
        <p:spPr>
          <a:xfrm>
            <a:off x="6283325" y="2168883"/>
            <a:ext cx="5583238" cy="3317953"/>
          </a:xfrm>
          <a:prstGeom prst="rect">
            <a:avLst/>
          </a:prstGeom>
          <a:noFill/>
        </p:spPr>
      </p:pic>
      <p:sp>
        <p:nvSpPr>
          <p:cNvPr id="5" name="Date Placeholder 4">
            <a:extLst>
              <a:ext uri="{FF2B5EF4-FFF2-40B4-BE49-F238E27FC236}">
                <a16:creationId xmlns:a16="http://schemas.microsoft.com/office/drawing/2014/main" id="{CE3FC3AF-B645-B891-CA88-4CDA09D21709}"/>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23" name="Footer Placeholder 5">
            <a:extLst>
              <a:ext uri="{FF2B5EF4-FFF2-40B4-BE49-F238E27FC236}">
                <a16:creationId xmlns:a16="http://schemas.microsoft.com/office/drawing/2014/main" id="{D20B94C7-1463-5DA3-B13F-296DB33CF435}"/>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BABA6346-ACD9-9F4B-AC9A-06C3167D7845}"/>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3</a:t>
            </a:fld>
            <a:endParaRPr lang="en-GB"/>
          </a:p>
        </p:txBody>
      </p:sp>
      <p:sp>
        <p:nvSpPr>
          <p:cNvPr id="4" name="Subtitle 3">
            <a:extLst>
              <a:ext uri="{FF2B5EF4-FFF2-40B4-BE49-F238E27FC236}">
                <a16:creationId xmlns:a16="http://schemas.microsoft.com/office/drawing/2014/main" id="{4300EFD1-6FA6-6C8F-BB61-818C01E28E4A}"/>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sp>
        <p:nvSpPr>
          <p:cNvPr id="8" name="AutoShape 2">
            <a:extLst>
              <a:ext uri="{FF2B5EF4-FFF2-40B4-BE49-F238E27FC236}">
                <a16:creationId xmlns:a16="http://schemas.microsoft.com/office/drawing/2014/main" id="{30164892-F3E2-710B-5789-0F7E6AD08001}"/>
              </a:ext>
            </a:extLst>
          </p:cNvPr>
          <p:cNvSpPr>
            <a:spLocks noChangeAspect="1" noChangeArrowheads="1"/>
          </p:cNvSpPr>
          <p:nvPr/>
        </p:nvSpPr>
        <p:spPr bwMode="auto">
          <a:xfrm>
            <a:off x="5943599" y="708171"/>
            <a:ext cx="2873229" cy="28732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TH" dirty="0"/>
          </a:p>
        </p:txBody>
      </p:sp>
    </p:spTree>
    <p:extLst>
      <p:ext uri="{BB962C8B-B14F-4D97-AF65-F5344CB8AC3E}">
        <p14:creationId xmlns:p14="http://schemas.microsoft.com/office/powerpoint/2010/main" val="372794827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340C-9488-EB64-BC98-784EAAFDADAA}"/>
              </a:ext>
            </a:extLst>
          </p:cNvPr>
          <p:cNvSpPr>
            <a:spLocks noGrp="1"/>
          </p:cNvSpPr>
          <p:nvPr>
            <p:ph type="title"/>
          </p:nvPr>
        </p:nvSpPr>
        <p:spPr/>
        <p:txBody>
          <a:bodyPr/>
          <a:lstStyle/>
          <a:p>
            <a:r>
              <a:rPr lang="en-US" b="0">
                <a:ea typeface="+mj-lt"/>
                <a:cs typeface="+mj-lt"/>
              </a:rPr>
              <a:t>Economics: Hedonic Pricing Framework</a:t>
            </a:r>
            <a:endParaRPr lang="en-US"/>
          </a:p>
        </p:txBody>
      </p:sp>
      <p:sp>
        <p:nvSpPr>
          <p:cNvPr id="3" name="Content Placeholder 2">
            <a:extLst>
              <a:ext uri="{FF2B5EF4-FFF2-40B4-BE49-F238E27FC236}">
                <a16:creationId xmlns:a16="http://schemas.microsoft.com/office/drawing/2014/main" id="{9A6B8C9A-1235-7D62-612C-0674F838AA61}"/>
              </a:ext>
            </a:extLst>
          </p:cNvPr>
          <p:cNvSpPr>
            <a:spLocks noGrp="1"/>
          </p:cNvSpPr>
          <p:nvPr>
            <p:ph sz="half" idx="1"/>
          </p:nvPr>
        </p:nvSpPr>
        <p:spPr/>
        <p:txBody>
          <a:bodyPr vert="horz" lIns="0" tIns="0" rIns="0" bIns="0" rtlCol="0" anchor="t">
            <a:noAutofit/>
          </a:bodyPr>
          <a:lstStyle/>
          <a:p>
            <a:r>
              <a:rPr lang="en-US" b="1">
                <a:ea typeface="+mn-lt"/>
                <a:cs typeface="+mn-lt"/>
              </a:rPr>
              <a:t>Economic intuition:</a:t>
            </a:r>
            <a:endParaRPr lang="en-US"/>
          </a:p>
          <a:p>
            <a:r>
              <a:rPr lang="en-US">
                <a:ea typeface="+mn-lt"/>
                <a:cs typeface="+mn-lt"/>
              </a:rPr>
              <a:t>In a hedonic model, price reflects the bundle of characteristics a listing contains.</a:t>
            </a:r>
            <a:endParaRPr lang="en-US"/>
          </a:p>
          <a:p>
            <a:endParaRPr lang="en-US">
              <a:cs typeface="Arial"/>
            </a:endParaRPr>
          </a:p>
          <a:p>
            <a:endParaRPr lang="en-US">
              <a:ea typeface="+mn-lt"/>
              <a:cs typeface="+mn-lt"/>
            </a:endParaRPr>
          </a:p>
          <a:p>
            <a:endParaRPr lang="en-US">
              <a:ea typeface="+mn-lt"/>
              <a:cs typeface="+mn-lt"/>
            </a:endParaRPr>
          </a:p>
          <a:p>
            <a:r>
              <a:rPr lang="en-US">
                <a:ea typeface="+mn-lt"/>
                <a:cs typeface="+mn-lt"/>
              </a:rPr>
              <a:t>Where:</a:t>
            </a:r>
            <a:endParaRPr lang="en-US"/>
          </a:p>
          <a:p>
            <a:pPr marL="285750" indent="-285750">
              <a:buFont typeface="Arial"/>
              <a:buChar char="•"/>
            </a:pPr>
            <a:endParaRPr lang="en-US" dirty="0">
              <a:cs typeface="Arial"/>
            </a:endParaRPr>
          </a:p>
          <a:p>
            <a:endParaRPr lang="en-US">
              <a:cs typeface="Arial"/>
            </a:endParaRPr>
          </a:p>
        </p:txBody>
      </p:sp>
      <p:pic>
        <p:nvPicPr>
          <p:cNvPr id="9" name="Content Placeholder 8" descr="A black text on a white background&#10;&#10;AI-generated content may be incorrect.">
            <a:extLst>
              <a:ext uri="{FF2B5EF4-FFF2-40B4-BE49-F238E27FC236}">
                <a16:creationId xmlns:a16="http://schemas.microsoft.com/office/drawing/2014/main" id="{5846BB49-14CE-0484-852B-F8CEBB61158E}"/>
              </a:ext>
            </a:extLst>
          </p:cNvPr>
          <p:cNvPicPr>
            <a:picLocks noGrp="1" noChangeAspect="1"/>
          </p:cNvPicPr>
          <p:nvPr>
            <p:ph sz="half" idx="2"/>
          </p:nvPr>
        </p:nvPicPr>
        <p:blipFill>
          <a:blip r:embed="rId3"/>
          <a:srcRect t="10526" r="-235" b="22368"/>
          <a:stretch>
            <a:fillRect/>
          </a:stretch>
        </p:blipFill>
        <p:spPr>
          <a:xfrm>
            <a:off x="323617" y="2506322"/>
            <a:ext cx="5298499" cy="641895"/>
          </a:xfrm>
          <a:prstGeom prst="rect">
            <a:avLst/>
          </a:prstGeom>
        </p:spPr>
      </p:pic>
      <p:sp>
        <p:nvSpPr>
          <p:cNvPr id="5" name="Date Placeholder 4">
            <a:extLst>
              <a:ext uri="{FF2B5EF4-FFF2-40B4-BE49-F238E27FC236}">
                <a16:creationId xmlns:a16="http://schemas.microsoft.com/office/drawing/2014/main" id="{9DE79668-3BFB-C5C7-35E9-8A203EE26CB2}"/>
              </a:ext>
            </a:extLst>
          </p:cNvPr>
          <p:cNvSpPr>
            <a:spLocks noGrp="1"/>
          </p:cNvSpPr>
          <p:nvPr>
            <p:ph type="dt" sz="half" idx="10"/>
          </p:nvPr>
        </p:nvSpPr>
        <p:spPr/>
        <p:txBody>
          <a:bodyPr/>
          <a:lstStyle/>
          <a:p>
            <a:r>
              <a:rPr lang="en-US"/>
              <a:t>05/03/2026</a:t>
            </a:r>
            <a:endParaRPr lang="en-GB"/>
          </a:p>
        </p:txBody>
      </p:sp>
      <p:sp>
        <p:nvSpPr>
          <p:cNvPr id="6" name="Footer Placeholder 5">
            <a:extLst>
              <a:ext uri="{FF2B5EF4-FFF2-40B4-BE49-F238E27FC236}">
                <a16:creationId xmlns:a16="http://schemas.microsoft.com/office/drawing/2014/main" id="{B1F4CA10-C829-3ED7-7EDA-93B7C00E3D4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93B4F11-2400-1B2C-89A2-8885624FEF99}"/>
              </a:ext>
            </a:extLst>
          </p:cNvPr>
          <p:cNvSpPr>
            <a:spLocks noGrp="1"/>
          </p:cNvSpPr>
          <p:nvPr>
            <p:ph type="sldNum" sz="quarter" idx="12"/>
          </p:nvPr>
        </p:nvSpPr>
        <p:spPr/>
        <p:txBody>
          <a:bodyPr/>
          <a:lstStyle/>
          <a:p>
            <a:fld id="{CBA53E11-492D-48B3-9F9B-09541CA2A39A}" type="slidenum">
              <a:rPr lang="en-GB" smtClean="0"/>
              <a:t>4</a:t>
            </a:fld>
            <a:endParaRPr lang="en-GB"/>
          </a:p>
        </p:txBody>
      </p:sp>
      <p:sp>
        <p:nvSpPr>
          <p:cNvPr id="8" name="Subtitle 7">
            <a:extLst>
              <a:ext uri="{FF2B5EF4-FFF2-40B4-BE49-F238E27FC236}">
                <a16:creationId xmlns:a16="http://schemas.microsoft.com/office/drawing/2014/main" id="{55EEE59B-4844-EFEB-5781-E7418EF39B67}"/>
              </a:ext>
            </a:extLst>
          </p:cNvPr>
          <p:cNvSpPr>
            <a:spLocks noGrp="1"/>
          </p:cNvSpPr>
          <p:nvPr>
            <p:ph type="subTitle" idx="13"/>
          </p:nvPr>
        </p:nvSpPr>
        <p:spPr/>
        <p:txBody>
          <a:bodyPr vert="horz" lIns="0" tIns="0" rIns="0" bIns="0" rtlCol="0" anchor="t">
            <a:noAutofit/>
          </a:bodyPr>
          <a:lstStyle/>
          <a:p>
            <a:r>
              <a:rPr lang="en-US">
                <a:cs typeface="Arial"/>
              </a:rPr>
              <a:t>Airbnb Pricing</a:t>
            </a:r>
          </a:p>
        </p:txBody>
      </p:sp>
      <p:pic>
        <p:nvPicPr>
          <p:cNvPr id="4" name="Picture 3" descr="A white background with black text">
            <a:extLst>
              <a:ext uri="{FF2B5EF4-FFF2-40B4-BE49-F238E27FC236}">
                <a16:creationId xmlns:a16="http://schemas.microsoft.com/office/drawing/2014/main" id="{86083364-65E2-5EA6-14CB-B9CBD458A006}"/>
              </a:ext>
            </a:extLst>
          </p:cNvPr>
          <p:cNvPicPr>
            <a:picLocks noChangeAspect="1"/>
          </p:cNvPicPr>
          <p:nvPr/>
        </p:nvPicPr>
        <p:blipFill>
          <a:blip r:embed="rId4"/>
          <a:stretch>
            <a:fillRect/>
          </a:stretch>
        </p:blipFill>
        <p:spPr>
          <a:xfrm>
            <a:off x="158392" y="3684747"/>
            <a:ext cx="5359871" cy="1464381"/>
          </a:xfrm>
          <a:prstGeom prst="rect">
            <a:avLst/>
          </a:prstGeom>
        </p:spPr>
      </p:pic>
      <p:pic>
        <p:nvPicPr>
          <p:cNvPr id="10" name="Graphic 9" descr="Mortgage outline">
            <a:extLst>
              <a:ext uri="{FF2B5EF4-FFF2-40B4-BE49-F238E27FC236}">
                <a16:creationId xmlns:a16="http://schemas.microsoft.com/office/drawing/2014/main" id="{5F8AFD99-3ECB-FA34-12B6-6F918B1CA7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92431" y="648173"/>
            <a:ext cx="4301065" cy="4366916"/>
          </a:xfrm>
          <a:prstGeom prst="rect">
            <a:avLst/>
          </a:prstGeom>
        </p:spPr>
      </p:pic>
    </p:spTree>
    <p:extLst>
      <p:ext uri="{BB962C8B-B14F-4D97-AF65-F5344CB8AC3E}">
        <p14:creationId xmlns:p14="http://schemas.microsoft.com/office/powerpoint/2010/main" val="196032655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C719-7428-0839-EF83-9A68BE0D4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287E6-8352-967F-5D90-C06E90D5AA0A}"/>
              </a:ext>
            </a:extLst>
          </p:cNvPr>
          <p:cNvSpPr>
            <a:spLocks noGrp="1"/>
          </p:cNvSpPr>
          <p:nvPr>
            <p:ph type="title"/>
          </p:nvPr>
        </p:nvSpPr>
        <p:spPr>
          <a:xfrm>
            <a:off x="326232" y="252000"/>
            <a:ext cx="11541025" cy="378044"/>
          </a:xfrm>
        </p:spPr>
        <p:txBody>
          <a:bodyPr anchor="t">
            <a:normAutofit/>
          </a:bodyPr>
          <a:lstStyle/>
          <a:p>
            <a:r>
              <a:rPr lang="en-US" dirty="0"/>
              <a:t>Data Overview</a:t>
            </a:r>
          </a:p>
        </p:txBody>
      </p:sp>
      <p:sp>
        <p:nvSpPr>
          <p:cNvPr id="3" name="Content Placeholder 2">
            <a:extLst>
              <a:ext uri="{FF2B5EF4-FFF2-40B4-BE49-F238E27FC236}">
                <a16:creationId xmlns:a16="http://schemas.microsoft.com/office/drawing/2014/main" id="{C8FA5CD8-7936-1F02-E1AB-2C5524B5C0EA}"/>
              </a:ext>
            </a:extLst>
          </p:cNvPr>
          <p:cNvSpPr>
            <a:spLocks noGrp="1"/>
          </p:cNvSpPr>
          <p:nvPr>
            <p:ph sz="half" idx="1"/>
          </p:nvPr>
        </p:nvSpPr>
        <p:spPr>
          <a:xfrm>
            <a:off x="326232" y="1394619"/>
            <a:ext cx="5583238" cy="4866481"/>
          </a:xfrm>
        </p:spPr>
        <p:txBody>
          <a:bodyPr>
            <a:normAutofit/>
          </a:bodyPr>
          <a:lstStyle/>
          <a:p>
            <a:pPr marL="342900" indent="-342900">
              <a:spcAft>
                <a:spcPts val="600"/>
              </a:spcAft>
              <a:buFont typeface="Arial" panose="020B0604020202020204" pitchFamily="34" charset="0"/>
              <a:buChar char="•"/>
            </a:pPr>
            <a:r>
              <a:rPr lang="en-US" dirty="0"/>
              <a:t>~60k listings</a:t>
            </a:r>
            <a:endParaRPr lang="en-US"/>
          </a:p>
          <a:p>
            <a:pPr marL="342900" indent="-342900">
              <a:spcAft>
                <a:spcPts val="600"/>
              </a:spcAft>
              <a:buFont typeface="Arial" panose="020B0604020202020204" pitchFamily="34" charset="0"/>
              <a:buChar char="•"/>
            </a:pPr>
            <a:r>
              <a:rPr lang="en-US" dirty="0"/>
              <a:t>Avg title length: 6 words</a:t>
            </a:r>
            <a:endParaRPr lang="en-US"/>
          </a:p>
          <a:p>
            <a:pPr marL="342900" indent="-342900">
              <a:spcAft>
                <a:spcPts val="600"/>
              </a:spcAft>
              <a:buFont typeface="Arial" panose="020B0604020202020204" pitchFamily="34" charset="0"/>
              <a:buChar char="•"/>
            </a:pPr>
            <a:r>
              <a:rPr lang="en-US" dirty="0"/>
              <a:t>Avg description length: 64 words</a:t>
            </a:r>
            <a:endParaRPr lang="en-US"/>
          </a:p>
          <a:p>
            <a:pPr marL="342900" indent="-342900">
              <a:spcAft>
                <a:spcPts val="600"/>
              </a:spcAft>
              <a:buFont typeface="Arial" panose="020B0604020202020204" pitchFamily="34" charset="0"/>
              <a:buChar char="•"/>
            </a:pPr>
            <a:r>
              <a:rPr lang="en-US" dirty="0"/>
              <a:t>Structured features:</a:t>
            </a:r>
            <a:endParaRPr lang="en-US"/>
          </a:p>
          <a:p>
            <a:pPr marL="504891" lvl="2" indent="-342900">
              <a:spcAft>
                <a:spcPts val="600"/>
              </a:spcAft>
            </a:pPr>
            <a:r>
              <a:rPr lang="en-US" dirty="0"/>
              <a:t>latitude</a:t>
            </a:r>
            <a:endParaRPr lang="en-US"/>
          </a:p>
          <a:p>
            <a:pPr marL="504891" lvl="2" indent="-342900">
              <a:spcAft>
                <a:spcPts val="600"/>
              </a:spcAft>
            </a:pPr>
            <a:r>
              <a:rPr lang="en-US" dirty="0"/>
              <a:t>longitude</a:t>
            </a:r>
            <a:endParaRPr lang="en-US"/>
          </a:p>
          <a:p>
            <a:pPr marL="504891" lvl="2" indent="-342900">
              <a:spcAft>
                <a:spcPts val="600"/>
              </a:spcAft>
            </a:pPr>
            <a:r>
              <a:rPr lang="en-US" dirty="0"/>
              <a:t>bedrooms</a:t>
            </a:r>
            <a:endParaRPr lang="en-US"/>
          </a:p>
          <a:p>
            <a:pPr marL="504891" lvl="2" indent="-342900">
              <a:spcAft>
                <a:spcPts val="600"/>
              </a:spcAft>
            </a:pPr>
            <a:r>
              <a:rPr lang="en-US" dirty="0"/>
              <a:t>bathrooms</a:t>
            </a:r>
            <a:endParaRPr lang="en-US"/>
          </a:p>
          <a:p>
            <a:pPr marL="504891" lvl="2" indent="-342900">
              <a:spcAft>
                <a:spcPts val="600"/>
              </a:spcAft>
            </a:pPr>
            <a:r>
              <a:rPr lang="en-US" dirty="0"/>
              <a:t>beds</a:t>
            </a:r>
            <a:endParaRPr lang="en-US"/>
          </a:p>
          <a:p>
            <a:pPr marL="504891" lvl="2" indent="-342900">
              <a:spcAft>
                <a:spcPts val="600"/>
              </a:spcAft>
            </a:pPr>
            <a:r>
              <a:rPr lang="en-US" dirty="0"/>
              <a:t>accommodates</a:t>
            </a:r>
            <a:endParaRPr lang="en-US"/>
          </a:p>
          <a:p>
            <a:pPr marL="342900" indent="-342900">
              <a:spcAft>
                <a:spcPts val="600"/>
              </a:spcAft>
              <a:buFont typeface="Arial" panose="020B0604020202020204" pitchFamily="34" charset="0"/>
              <a:buChar char="•"/>
            </a:pPr>
            <a:r>
              <a:rPr lang="en-US" dirty="0"/>
              <a:t>Train/Test split: 80/20 (stratified on log price)</a:t>
            </a:r>
            <a:endParaRPr lang="en-US"/>
          </a:p>
          <a:p>
            <a:pPr marL="342900" indent="-342900">
              <a:spcAft>
                <a:spcPts val="600"/>
              </a:spcAft>
              <a:buFont typeface="Arial" panose="020B0604020202020204" pitchFamily="34" charset="0"/>
              <a:buChar char="•"/>
            </a:pPr>
            <a:r>
              <a:rPr lang="en-US"/>
              <a:t>(Insert price distribution graph)</a:t>
            </a:r>
          </a:p>
        </p:txBody>
      </p:sp>
      <p:pic>
        <p:nvPicPr>
          <p:cNvPr id="9" name="Picture 8" descr="A graph with red and blue lines&#10;&#10;AI-generated content may be incorrect.">
            <a:extLst>
              <a:ext uri="{FF2B5EF4-FFF2-40B4-BE49-F238E27FC236}">
                <a16:creationId xmlns:a16="http://schemas.microsoft.com/office/drawing/2014/main" id="{EC66F057-FE76-77D8-C1C8-30014E8EB270}"/>
              </a:ext>
            </a:extLst>
          </p:cNvPr>
          <p:cNvPicPr>
            <a:picLocks noChangeAspect="1"/>
          </p:cNvPicPr>
          <p:nvPr/>
        </p:nvPicPr>
        <p:blipFill>
          <a:blip r:embed="rId2">
            <a:extLst>
              <a:ext uri="{28A0092B-C50C-407E-A947-70E740481C1C}">
                <a14:useLocalDpi xmlns:a14="http://schemas.microsoft.com/office/drawing/2010/main" val="0"/>
              </a:ext>
            </a:extLst>
          </a:blip>
          <a:srcRect l="-1276" r="116" b="-193"/>
          <a:stretch>
            <a:fillRect/>
          </a:stretch>
        </p:blipFill>
        <p:spPr>
          <a:xfrm>
            <a:off x="4533546" y="820766"/>
            <a:ext cx="7584023" cy="4527824"/>
          </a:xfrm>
          <a:prstGeom prst="rect">
            <a:avLst/>
          </a:prstGeom>
          <a:noFill/>
        </p:spPr>
      </p:pic>
      <p:sp>
        <p:nvSpPr>
          <p:cNvPr id="5" name="Date Placeholder 4">
            <a:extLst>
              <a:ext uri="{FF2B5EF4-FFF2-40B4-BE49-F238E27FC236}">
                <a16:creationId xmlns:a16="http://schemas.microsoft.com/office/drawing/2014/main" id="{222CE9DC-EA69-5B47-53E4-13379DD4954B}"/>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8" name="Footer Placeholder 5">
            <a:extLst>
              <a:ext uri="{FF2B5EF4-FFF2-40B4-BE49-F238E27FC236}">
                <a16:creationId xmlns:a16="http://schemas.microsoft.com/office/drawing/2014/main" id="{34CF6200-B8C4-5AB3-EAB2-3CAA1596C399}"/>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C6A00DFF-13FC-89E0-C050-61C40F22E72D}"/>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5</a:t>
            </a:fld>
            <a:endParaRPr lang="en-GB"/>
          </a:p>
        </p:txBody>
      </p:sp>
      <p:sp>
        <p:nvSpPr>
          <p:cNvPr id="4" name="Subtitle 3">
            <a:extLst>
              <a:ext uri="{FF2B5EF4-FFF2-40B4-BE49-F238E27FC236}">
                <a16:creationId xmlns:a16="http://schemas.microsoft.com/office/drawing/2014/main" id="{4B91A7E6-60B3-77E8-504A-58B721C5E716}"/>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spTree>
    <p:extLst>
      <p:ext uri="{BB962C8B-B14F-4D97-AF65-F5344CB8AC3E}">
        <p14:creationId xmlns:p14="http://schemas.microsoft.com/office/powerpoint/2010/main" val="405240468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3D41-6DA9-B084-7A16-DF3FB4920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CF41A-E10C-F1A1-67A6-72F5BF43E523}"/>
              </a:ext>
            </a:extLst>
          </p:cNvPr>
          <p:cNvSpPr>
            <a:spLocks noGrp="1"/>
          </p:cNvSpPr>
          <p:nvPr>
            <p:ph type="title"/>
          </p:nvPr>
        </p:nvSpPr>
        <p:spPr>
          <a:xfrm>
            <a:off x="325800" y="252000"/>
            <a:ext cx="11540763" cy="378044"/>
          </a:xfrm>
        </p:spPr>
        <p:txBody>
          <a:bodyPr anchor="t">
            <a:normAutofit/>
          </a:bodyPr>
          <a:lstStyle/>
          <a:p>
            <a:r>
              <a:rPr lang="en-US" dirty="0"/>
              <a:t>Methods</a:t>
            </a:r>
          </a:p>
        </p:txBody>
      </p:sp>
      <p:sp>
        <p:nvSpPr>
          <p:cNvPr id="5" name="Date Placeholder 4">
            <a:extLst>
              <a:ext uri="{FF2B5EF4-FFF2-40B4-BE49-F238E27FC236}">
                <a16:creationId xmlns:a16="http://schemas.microsoft.com/office/drawing/2014/main" id="{FF998EEE-4D62-32D2-114D-01CD633C8963}"/>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3" name="Footer Placeholder 4">
            <a:extLst>
              <a:ext uri="{FF2B5EF4-FFF2-40B4-BE49-F238E27FC236}">
                <a16:creationId xmlns:a16="http://schemas.microsoft.com/office/drawing/2014/main" id="{60FEEC3A-B7E1-FB5C-5AA3-A743F79F457D}"/>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0E039DC3-823C-4105-8681-12FB65F7CAD2}"/>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6</a:t>
            </a:fld>
            <a:endParaRPr lang="en-GB"/>
          </a:p>
        </p:txBody>
      </p:sp>
      <p:sp>
        <p:nvSpPr>
          <p:cNvPr id="4" name="Subtitle 3">
            <a:extLst>
              <a:ext uri="{FF2B5EF4-FFF2-40B4-BE49-F238E27FC236}">
                <a16:creationId xmlns:a16="http://schemas.microsoft.com/office/drawing/2014/main" id="{6530895F-83DD-6006-BB73-8FE6B8241549}"/>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graphicFrame>
        <p:nvGraphicFramePr>
          <p:cNvPr id="9" name="Content Placeholder 2">
            <a:extLst>
              <a:ext uri="{FF2B5EF4-FFF2-40B4-BE49-F238E27FC236}">
                <a16:creationId xmlns:a16="http://schemas.microsoft.com/office/drawing/2014/main" id="{FCBC2B09-EFFD-BE48-47B2-DFFF82808368}"/>
              </a:ext>
            </a:extLst>
          </p:cNvPr>
          <p:cNvGraphicFramePr>
            <a:graphicFrameLocks noGrp="1"/>
          </p:cNvGraphicFramePr>
          <p:nvPr>
            <p:ph idx="1"/>
            <p:extLst>
              <p:ext uri="{D42A27DB-BD31-4B8C-83A1-F6EECF244321}">
                <p14:modId xmlns:p14="http://schemas.microsoft.com/office/powerpoint/2010/main" val="2226458745"/>
              </p:ext>
            </p:extLst>
          </p:nvPr>
        </p:nvGraphicFramePr>
        <p:xfrm>
          <a:off x="325800" y="1394619"/>
          <a:ext cx="11540763" cy="4866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87322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F77A2-FFA9-3362-19CC-8765E6983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CEA8E-D4BC-BA48-FE32-77334444BBE4}"/>
              </a:ext>
            </a:extLst>
          </p:cNvPr>
          <p:cNvSpPr>
            <a:spLocks noGrp="1"/>
          </p:cNvSpPr>
          <p:nvPr>
            <p:ph type="title"/>
          </p:nvPr>
        </p:nvSpPr>
        <p:spPr>
          <a:xfrm>
            <a:off x="326232" y="252000"/>
            <a:ext cx="11541025" cy="378044"/>
          </a:xfrm>
        </p:spPr>
        <p:txBody>
          <a:bodyPr anchor="t">
            <a:normAutofit/>
          </a:bodyPr>
          <a:lstStyle/>
          <a:p>
            <a:r>
              <a:rPr lang="en-US" dirty="0"/>
              <a:t>Benchmark Models</a:t>
            </a:r>
          </a:p>
        </p:txBody>
      </p:sp>
      <p:sp>
        <p:nvSpPr>
          <p:cNvPr id="5" name="Date Placeholder 4">
            <a:extLst>
              <a:ext uri="{FF2B5EF4-FFF2-40B4-BE49-F238E27FC236}">
                <a16:creationId xmlns:a16="http://schemas.microsoft.com/office/drawing/2014/main" id="{C7BC2FF4-4976-444E-8B7B-2BE2170FDB85}"/>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27" name="Footer Placeholder 5">
            <a:extLst>
              <a:ext uri="{FF2B5EF4-FFF2-40B4-BE49-F238E27FC236}">
                <a16:creationId xmlns:a16="http://schemas.microsoft.com/office/drawing/2014/main" id="{6420E84B-22AC-FB7C-53FA-A9DCD44EA4AF}"/>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FB756195-E291-5789-2865-4C02726294B2}"/>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7</a:t>
            </a:fld>
            <a:endParaRPr lang="en-GB"/>
          </a:p>
        </p:txBody>
      </p:sp>
      <p:sp>
        <p:nvSpPr>
          <p:cNvPr id="4" name="Subtitle 3">
            <a:extLst>
              <a:ext uri="{FF2B5EF4-FFF2-40B4-BE49-F238E27FC236}">
                <a16:creationId xmlns:a16="http://schemas.microsoft.com/office/drawing/2014/main" id="{2E2A6CB3-C0DF-7A4C-4699-8ACB361FB934}"/>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graphicFrame>
        <p:nvGraphicFramePr>
          <p:cNvPr id="28" name="Content Placeholder 2">
            <a:extLst>
              <a:ext uri="{FF2B5EF4-FFF2-40B4-BE49-F238E27FC236}">
                <a16:creationId xmlns:a16="http://schemas.microsoft.com/office/drawing/2014/main" id="{2FBDFE85-94FB-7C0A-399A-9E7B7C8B0997}"/>
              </a:ext>
            </a:extLst>
          </p:cNvPr>
          <p:cNvGraphicFramePr/>
          <p:nvPr>
            <p:extLst>
              <p:ext uri="{D42A27DB-BD31-4B8C-83A1-F6EECF244321}">
                <p14:modId xmlns:p14="http://schemas.microsoft.com/office/powerpoint/2010/main" val="1423789786"/>
              </p:ext>
            </p:extLst>
          </p:nvPr>
        </p:nvGraphicFramePr>
        <p:xfrm>
          <a:off x="2056876" y="-228"/>
          <a:ext cx="8372932" cy="72945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882657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169F1-EB7D-ECA8-624D-09F9F2099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50422-6657-65CB-BB3D-19F77C78DAD0}"/>
              </a:ext>
            </a:extLst>
          </p:cNvPr>
          <p:cNvSpPr>
            <a:spLocks noGrp="1"/>
          </p:cNvSpPr>
          <p:nvPr>
            <p:ph type="ctrTitle"/>
          </p:nvPr>
        </p:nvSpPr>
        <p:spPr>
          <a:xfrm>
            <a:off x="327145" y="1708411"/>
            <a:ext cx="10079620" cy="2947686"/>
          </a:xfrm>
        </p:spPr>
        <p:txBody>
          <a:bodyPr/>
          <a:lstStyle/>
          <a:p>
            <a:pPr>
              <a:lnSpc>
                <a:spcPct val="105000"/>
              </a:lnSpc>
              <a:spcBef>
                <a:spcPts val="0"/>
              </a:spcBef>
            </a:pPr>
            <a:r>
              <a:rPr lang="en-US" sz="4400"/>
              <a:t>Section I: Title vs. Description</a:t>
            </a:r>
            <a:endParaRPr lang="en-US" sz="4400" b="0">
              <a:cs typeface="Arial"/>
            </a:endParaRPr>
          </a:p>
          <a:p>
            <a:pPr>
              <a:lnSpc>
                <a:spcPct val="105000"/>
              </a:lnSpc>
              <a:spcBef>
                <a:spcPts val="0"/>
              </a:spcBef>
            </a:pPr>
            <a:endParaRPr lang="en-US" sz="2000" b="0">
              <a:cs typeface="Arial"/>
            </a:endParaRPr>
          </a:p>
          <a:p>
            <a:pPr>
              <a:lnSpc>
                <a:spcPct val="105000"/>
              </a:lnSpc>
              <a:spcBef>
                <a:spcPts val="0"/>
              </a:spcBef>
            </a:pPr>
            <a:br>
              <a:rPr lang="en-US" sz="2000" b="0"/>
            </a:br>
            <a:br>
              <a:rPr lang="en-US" sz="2000" b="0"/>
            </a:br>
            <a:r>
              <a:rPr lang="en-US" sz="2800" b="0"/>
              <a:t>Which linguistic object better captures latent characteristics?</a:t>
            </a:r>
            <a:endParaRPr lang="en-US" sz="2800"/>
          </a:p>
        </p:txBody>
      </p:sp>
      <p:sp>
        <p:nvSpPr>
          <p:cNvPr id="5" name="Text Placeholder 4">
            <a:extLst>
              <a:ext uri="{FF2B5EF4-FFF2-40B4-BE49-F238E27FC236}">
                <a16:creationId xmlns:a16="http://schemas.microsoft.com/office/drawing/2014/main" id="{4ED326CA-5765-226F-09DD-5C5FE8A8F52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2603736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0730D-1E6A-0048-433F-E75009C63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1738A-CA25-20AC-1BBA-941B578E71B2}"/>
              </a:ext>
            </a:extLst>
          </p:cNvPr>
          <p:cNvSpPr>
            <a:spLocks noGrp="1"/>
          </p:cNvSpPr>
          <p:nvPr>
            <p:ph type="title"/>
          </p:nvPr>
        </p:nvSpPr>
        <p:spPr>
          <a:xfrm>
            <a:off x="326232" y="252000"/>
            <a:ext cx="11541025" cy="378044"/>
          </a:xfrm>
        </p:spPr>
        <p:txBody>
          <a:bodyPr anchor="t">
            <a:normAutofit/>
          </a:bodyPr>
          <a:lstStyle/>
          <a:p>
            <a:r>
              <a:rPr lang="en-US" dirty="0"/>
              <a:t>Title Models</a:t>
            </a:r>
          </a:p>
        </p:txBody>
      </p:sp>
      <p:sp>
        <p:nvSpPr>
          <p:cNvPr id="3" name="Content Placeholder 2">
            <a:extLst>
              <a:ext uri="{FF2B5EF4-FFF2-40B4-BE49-F238E27FC236}">
                <a16:creationId xmlns:a16="http://schemas.microsoft.com/office/drawing/2014/main" id="{5318367F-5D3E-389E-0C02-10430A57B4BD}"/>
              </a:ext>
            </a:extLst>
          </p:cNvPr>
          <p:cNvSpPr>
            <a:spLocks noGrp="1"/>
          </p:cNvSpPr>
          <p:nvPr>
            <p:ph sz="half" idx="1"/>
          </p:nvPr>
        </p:nvSpPr>
        <p:spPr>
          <a:xfrm>
            <a:off x="147491" y="1366397"/>
            <a:ext cx="5583238" cy="4866481"/>
          </a:xfrm>
        </p:spPr>
        <p:txBody>
          <a:bodyPr vert="horz" lIns="0" tIns="0" rIns="0" bIns="0" rtlCol="0" anchor="t">
            <a:normAutofit lnSpcReduction="10000"/>
          </a:bodyPr>
          <a:lstStyle/>
          <a:p>
            <a:pPr>
              <a:spcAft>
                <a:spcPts val="600"/>
              </a:spcAft>
            </a:pPr>
            <a:r>
              <a:rPr lang="en-US" i="1">
                <a:solidFill>
                  <a:schemeClr val="accent1"/>
                </a:solidFill>
              </a:rPr>
              <a:t>1:2 n-grams</a:t>
            </a:r>
            <a:endParaRPr lang="en-US" i="1">
              <a:solidFill>
                <a:schemeClr val="accent1"/>
              </a:solidFill>
              <a:cs typeface="Arial"/>
            </a:endParaRPr>
          </a:p>
          <a:p>
            <a:pPr>
              <a:spcAft>
                <a:spcPts val="600"/>
              </a:spcAft>
            </a:pPr>
            <a:endParaRPr lang="en-US" i="1">
              <a:solidFill>
                <a:schemeClr val="accent1"/>
              </a:solidFill>
              <a:cs typeface="Arial"/>
            </a:endParaRPr>
          </a:p>
          <a:p>
            <a:pPr>
              <a:spcAft>
                <a:spcPts val="600"/>
              </a:spcAft>
            </a:pPr>
            <a:r>
              <a:rPr lang="en-US" i="1" err="1">
                <a:solidFill>
                  <a:schemeClr val="accent1"/>
                </a:solidFill>
              </a:rPr>
              <a:t>RMSE_log</a:t>
            </a:r>
            <a:r>
              <a:rPr lang="en-US" i="1">
                <a:solidFill>
                  <a:schemeClr val="accent1"/>
                </a:solidFill>
              </a:rPr>
              <a:t> = 0.591</a:t>
            </a:r>
            <a:endParaRPr lang="en-US" i="1">
              <a:solidFill>
                <a:schemeClr val="accent1"/>
              </a:solidFill>
              <a:cs typeface="Arial"/>
            </a:endParaRPr>
          </a:p>
          <a:p>
            <a:pPr>
              <a:spcAft>
                <a:spcPts val="600"/>
              </a:spcAft>
            </a:pPr>
            <a:endParaRPr lang="en-US"/>
          </a:p>
          <a:p>
            <a:pPr>
              <a:spcAft>
                <a:spcPts val="600"/>
              </a:spcAft>
            </a:pPr>
            <a:r>
              <a:rPr lang="en-US" b="1"/>
              <a:t>Interpretation:</a:t>
            </a:r>
          </a:p>
          <a:p>
            <a:pPr>
              <a:spcAft>
                <a:spcPts val="600"/>
              </a:spcAft>
            </a:pPr>
            <a:r>
              <a:rPr lang="en-US"/>
              <a:t>Titles encode location &amp; property type</a:t>
            </a:r>
          </a:p>
          <a:p>
            <a:pPr>
              <a:spcAft>
                <a:spcPts val="600"/>
              </a:spcAft>
            </a:pPr>
            <a:r>
              <a:rPr lang="en-US"/>
              <a:t>But short documents → limited richness</a:t>
            </a:r>
          </a:p>
          <a:p>
            <a:pPr>
              <a:spcAft>
                <a:spcPts val="600"/>
              </a:spcAft>
            </a:pPr>
            <a:endParaRPr lang="en-US"/>
          </a:p>
          <a:p>
            <a:pPr>
              <a:spcAft>
                <a:spcPts val="600"/>
              </a:spcAft>
            </a:pPr>
            <a:endParaRPr lang="en-US" b="1">
              <a:cs typeface="Arial"/>
            </a:endParaRPr>
          </a:p>
          <a:p>
            <a:pPr>
              <a:spcAft>
                <a:spcPts val="600"/>
              </a:spcAft>
            </a:pPr>
            <a:r>
              <a:rPr lang="en-US" b="1"/>
              <a:t>Lesson:</a:t>
            </a:r>
            <a:br>
              <a:rPr lang="en-US"/>
            </a:br>
            <a:r>
              <a:rPr lang="en-US"/>
              <a:t>Document length affects predictive power</a:t>
            </a:r>
          </a:p>
          <a:p>
            <a:pPr>
              <a:spcAft>
                <a:spcPts val="600"/>
              </a:spcAft>
            </a:pPr>
            <a:br>
              <a:rPr lang="en-US"/>
            </a:br>
            <a:endParaRPr lang="en-US"/>
          </a:p>
          <a:p>
            <a:pPr>
              <a:spcAft>
                <a:spcPts val="600"/>
              </a:spcAft>
            </a:pPr>
            <a:endParaRPr lang="en-US"/>
          </a:p>
        </p:txBody>
      </p:sp>
      <p:pic>
        <p:nvPicPr>
          <p:cNvPr id="9" name="Picture 8" descr="A diagram of a diagram&#10;&#10;AI-generated content may be incorrect.">
            <a:extLst>
              <a:ext uri="{FF2B5EF4-FFF2-40B4-BE49-F238E27FC236}">
                <a16:creationId xmlns:a16="http://schemas.microsoft.com/office/drawing/2014/main" id="{28B2B6C6-D235-AB12-6FE8-6F45A7044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8509" y="1191365"/>
            <a:ext cx="7013313" cy="4160948"/>
          </a:xfrm>
          <a:prstGeom prst="rect">
            <a:avLst/>
          </a:prstGeom>
          <a:noFill/>
        </p:spPr>
      </p:pic>
      <p:sp>
        <p:nvSpPr>
          <p:cNvPr id="5" name="Date Placeholder 4">
            <a:extLst>
              <a:ext uri="{FF2B5EF4-FFF2-40B4-BE49-F238E27FC236}">
                <a16:creationId xmlns:a16="http://schemas.microsoft.com/office/drawing/2014/main" id="{2B060750-DAD8-711D-F55B-BA60A0D1E7BB}"/>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1" name="Footer Placeholder 5">
            <a:extLst>
              <a:ext uri="{FF2B5EF4-FFF2-40B4-BE49-F238E27FC236}">
                <a16:creationId xmlns:a16="http://schemas.microsoft.com/office/drawing/2014/main" id="{591152F1-4349-F114-FD51-90C5762014C6}"/>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F1188EB0-F1BE-38D8-DFB2-8C86C0186E7C}"/>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9</a:t>
            </a:fld>
            <a:endParaRPr lang="en-GB"/>
          </a:p>
        </p:txBody>
      </p:sp>
      <p:sp>
        <p:nvSpPr>
          <p:cNvPr id="4" name="Subtitle 3">
            <a:extLst>
              <a:ext uri="{FF2B5EF4-FFF2-40B4-BE49-F238E27FC236}">
                <a16:creationId xmlns:a16="http://schemas.microsoft.com/office/drawing/2014/main" id="{5723D69D-13F1-A947-9513-9A8634F6A775}"/>
              </a:ext>
            </a:extLst>
          </p:cNvPr>
          <p:cNvSpPr>
            <a:spLocks noGrp="1"/>
          </p:cNvSpPr>
          <p:nvPr>
            <p:ph type="subTitle" idx="13"/>
          </p:nvPr>
        </p:nvSpPr>
        <p:spPr>
          <a:xfrm>
            <a:off x="325800" y="620196"/>
            <a:ext cx="11540763" cy="371567"/>
          </a:xfrm>
        </p:spPr>
        <p:txBody>
          <a:bodyPr>
            <a:normAutofit/>
          </a:bodyPr>
          <a:lstStyle/>
          <a:p>
            <a:pPr>
              <a:spcAft>
                <a:spcPts val="600"/>
              </a:spcAft>
            </a:pPr>
            <a:r>
              <a:rPr lang="en-US"/>
              <a:t>Airbnb Pricing</a:t>
            </a:r>
          </a:p>
        </p:txBody>
      </p:sp>
    </p:spTree>
    <p:extLst>
      <p:ext uri="{BB962C8B-B14F-4D97-AF65-F5344CB8AC3E}">
        <p14:creationId xmlns:p14="http://schemas.microsoft.com/office/powerpoint/2010/main" val="224776732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FA126-CBE8-CDF4-7A8A-B1C8AC144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A2CB9-EC05-4849-8741-DBD532CD2A21}"/>
              </a:ext>
            </a:extLst>
          </p:cNvPr>
          <p:cNvSpPr>
            <a:spLocks noGrp="1"/>
          </p:cNvSpPr>
          <p:nvPr>
            <p:ph type="title"/>
          </p:nvPr>
        </p:nvSpPr>
        <p:spPr>
          <a:xfrm>
            <a:off x="326232" y="252000"/>
            <a:ext cx="11541025" cy="378044"/>
          </a:xfrm>
        </p:spPr>
        <p:txBody>
          <a:bodyPr anchor="t">
            <a:normAutofit/>
          </a:bodyPr>
          <a:lstStyle/>
          <a:p>
            <a:r>
              <a:rPr lang="en-US" dirty="0"/>
              <a:t>Description n-Grams</a:t>
            </a:r>
          </a:p>
        </p:txBody>
      </p:sp>
      <p:sp>
        <p:nvSpPr>
          <p:cNvPr id="3" name="Content Placeholder 2">
            <a:extLst>
              <a:ext uri="{FF2B5EF4-FFF2-40B4-BE49-F238E27FC236}">
                <a16:creationId xmlns:a16="http://schemas.microsoft.com/office/drawing/2014/main" id="{4492DD56-F969-CB64-95A6-07B13E91FE35}"/>
              </a:ext>
            </a:extLst>
          </p:cNvPr>
          <p:cNvSpPr>
            <a:spLocks noGrp="1"/>
          </p:cNvSpPr>
          <p:nvPr>
            <p:ph sz="half" idx="1"/>
          </p:nvPr>
        </p:nvSpPr>
        <p:spPr>
          <a:xfrm>
            <a:off x="326232" y="1394619"/>
            <a:ext cx="5583238" cy="4866481"/>
          </a:xfrm>
        </p:spPr>
        <p:txBody>
          <a:bodyPr vert="horz" lIns="0" tIns="0" rIns="0" bIns="0" rtlCol="0" anchor="t">
            <a:normAutofit lnSpcReduction="10000"/>
          </a:bodyPr>
          <a:lstStyle/>
          <a:p>
            <a:pPr>
              <a:lnSpc>
                <a:spcPct val="95000"/>
              </a:lnSpc>
              <a:spcAft>
                <a:spcPts val="600"/>
              </a:spcAft>
            </a:pPr>
            <a:r>
              <a:rPr lang="en-US" b="1"/>
              <a:t>Tested:</a:t>
            </a:r>
          </a:p>
          <a:p>
            <a:pPr marL="342900" indent="-342900">
              <a:lnSpc>
                <a:spcPct val="95000"/>
              </a:lnSpc>
              <a:spcAft>
                <a:spcPts val="600"/>
              </a:spcAft>
              <a:buFont typeface="Arial" panose="020B0604020202020204" pitchFamily="34" charset="0"/>
              <a:buChar char="•"/>
            </a:pPr>
            <a:r>
              <a:rPr lang="en-US" dirty="0"/>
              <a:t>Unigrams</a:t>
            </a:r>
            <a:endParaRPr lang="en-US"/>
          </a:p>
          <a:p>
            <a:pPr marL="342900" indent="-342900">
              <a:lnSpc>
                <a:spcPct val="95000"/>
              </a:lnSpc>
              <a:spcAft>
                <a:spcPts val="600"/>
              </a:spcAft>
              <a:buFont typeface="Arial" panose="020B0604020202020204" pitchFamily="34" charset="0"/>
              <a:buChar char="•"/>
            </a:pPr>
            <a:r>
              <a:rPr lang="en-US" dirty="0"/>
              <a:t>1:2</a:t>
            </a:r>
            <a:endParaRPr lang="en-US"/>
          </a:p>
          <a:p>
            <a:pPr marL="342900" indent="-342900">
              <a:lnSpc>
                <a:spcPct val="95000"/>
              </a:lnSpc>
              <a:spcAft>
                <a:spcPts val="600"/>
              </a:spcAft>
              <a:buFont typeface="Arial" panose="020B0604020202020204" pitchFamily="34" charset="0"/>
              <a:buChar char="•"/>
            </a:pPr>
            <a:r>
              <a:rPr lang="en-US" dirty="0"/>
              <a:t>1:2:3</a:t>
            </a:r>
            <a:endParaRPr lang="en-US"/>
          </a:p>
          <a:p>
            <a:pPr marL="342900" indent="-342900">
              <a:lnSpc>
                <a:spcPct val="95000"/>
              </a:lnSpc>
              <a:spcAft>
                <a:spcPts val="600"/>
              </a:spcAft>
              <a:buChar char="•"/>
            </a:pPr>
            <a:endParaRPr lang="en-US"/>
          </a:p>
          <a:p>
            <a:pPr>
              <a:lnSpc>
                <a:spcPct val="95000"/>
              </a:lnSpc>
              <a:spcAft>
                <a:spcPts val="600"/>
              </a:spcAft>
            </a:pPr>
            <a:r>
              <a:rPr lang="en-US" b="1">
                <a:solidFill>
                  <a:schemeClr val="accent1"/>
                </a:solidFill>
              </a:rPr>
              <a:t>Best: 1:2:3</a:t>
            </a:r>
          </a:p>
          <a:p>
            <a:pPr>
              <a:lnSpc>
                <a:spcPct val="95000"/>
              </a:lnSpc>
              <a:spcAft>
                <a:spcPts val="600"/>
              </a:spcAft>
            </a:pPr>
            <a:endParaRPr lang="en-US"/>
          </a:p>
          <a:p>
            <a:pPr>
              <a:lnSpc>
                <a:spcPct val="95000"/>
              </a:lnSpc>
              <a:spcAft>
                <a:spcPts val="600"/>
              </a:spcAft>
            </a:pPr>
            <a:r>
              <a:rPr lang="en-US" b="1" err="1">
                <a:solidFill>
                  <a:schemeClr val="accent1"/>
                </a:solidFill>
              </a:rPr>
              <a:t>RMSE_log</a:t>
            </a:r>
            <a:r>
              <a:rPr lang="en-US" b="1">
                <a:solidFill>
                  <a:schemeClr val="accent1"/>
                </a:solidFill>
              </a:rPr>
              <a:t> = 0.557</a:t>
            </a:r>
          </a:p>
          <a:p>
            <a:pPr>
              <a:lnSpc>
                <a:spcPct val="95000"/>
              </a:lnSpc>
              <a:spcAft>
                <a:spcPts val="600"/>
              </a:spcAft>
            </a:pPr>
            <a:endParaRPr lang="en-US"/>
          </a:p>
          <a:p>
            <a:pPr>
              <a:lnSpc>
                <a:spcPct val="95000"/>
              </a:lnSpc>
              <a:spcAft>
                <a:spcPts val="600"/>
              </a:spcAft>
            </a:pPr>
            <a:r>
              <a:rPr lang="en-US" b="1" dirty="0"/>
              <a:t>Interpretation</a:t>
            </a:r>
            <a:r>
              <a:rPr lang="en-US" b="1"/>
              <a:t>:</a:t>
            </a:r>
          </a:p>
          <a:p>
            <a:pPr>
              <a:lnSpc>
                <a:spcPct val="95000"/>
              </a:lnSpc>
              <a:spcAft>
                <a:spcPts val="600"/>
              </a:spcAft>
            </a:pPr>
            <a:r>
              <a:rPr lang="en-US" sz="1100"/>
              <a:t>Descriptions contain structured economic signals</a:t>
            </a:r>
            <a:endParaRPr lang="en-US" sz="1100">
              <a:cs typeface="Arial"/>
            </a:endParaRPr>
          </a:p>
          <a:p>
            <a:pPr marL="342900" indent="-342900">
              <a:lnSpc>
                <a:spcPct val="95000"/>
              </a:lnSpc>
              <a:spcAft>
                <a:spcPts val="600"/>
              </a:spcAft>
              <a:buFont typeface="Arial" panose="020B0604020202020204" pitchFamily="34" charset="0"/>
              <a:buChar char="•"/>
            </a:pPr>
            <a:r>
              <a:rPr lang="en-US" dirty="0"/>
              <a:t>Location prestige</a:t>
            </a:r>
            <a:endParaRPr lang="en-US"/>
          </a:p>
          <a:p>
            <a:pPr marL="342900" indent="-342900">
              <a:lnSpc>
                <a:spcPct val="95000"/>
              </a:lnSpc>
              <a:spcAft>
                <a:spcPts val="600"/>
              </a:spcAft>
              <a:buFont typeface="Arial" panose="020B0604020202020204" pitchFamily="34" charset="0"/>
              <a:buChar char="•"/>
            </a:pPr>
            <a:r>
              <a:rPr lang="en-US" dirty="0"/>
              <a:t>Accommodation type</a:t>
            </a:r>
            <a:endParaRPr lang="en-US"/>
          </a:p>
          <a:p>
            <a:pPr marL="342900" indent="-342900">
              <a:lnSpc>
                <a:spcPct val="95000"/>
              </a:lnSpc>
              <a:spcAft>
                <a:spcPts val="600"/>
              </a:spcAft>
              <a:buFont typeface="Arial" panose="020B0604020202020204" pitchFamily="34" charset="0"/>
              <a:buChar char="•"/>
            </a:pPr>
            <a:r>
              <a:rPr lang="en-US" dirty="0"/>
              <a:t>Amenities</a:t>
            </a:r>
            <a:endParaRPr lang="en-US"/>
          </a:p>
          <a:p>
            <a:pPr>
              <a:lnSpc>
                <a:spcPct val="95000"/>
              </a:lnSpc>
              <a:spcAft>
                <a:spcPts val="600"/>
              </a:spcAft>
            </a:pPr>
            <a:endParaRPr lang="en-US"/>
          </a:p>
        </p:txBody>
      </p:sp>
      <p:pic>
        <p:nvPicPr>
          <p:cNvPr id="9" name="Picture 8" descr="A graph showing different colored dots&#10;&#10;AI-generated content may be incorrect.">
            <a:extLst>
              <a:ext uri="{FF2B5EF4-FFF2-40B4-BE49-F238E27FC236}">
                <a16:creationId xmlns:a16="http://schemas.microsoft.com/office/drawing/2014/main" id="{64377EA5-E8FE-2A83-5109-40FD6C034852}"/>
              </a:ext>
            </a:extLst>
          </p:cNvPr>
          <p:cNvPicPr>
            <a:picLocks noChangeAspect="1"/>
          </p:cNvPicPr>
          <p:nvPr/>
        </p:nvPicPr>
        <p:blipFill>
          <a:blip r:embed="rId2">
            <a:extLst>
              <a:ext uri="{28A0092B-C50C-407E-A947-70E740481C1C}">
                <a14:useLocalDpi xmlns:a14="http://schemas.microsoft.com/office/drawing/2010/main" val="0"/>
              </a:ext>
            </a:extLst>
          </a:blip>
          <a:srcRect l="144" t="386" r="-1017" b="-386"/>
          <a:stretch>
            <a:fillRect/>
          </a:stretch>
        </p:blipFill>
        <p:spPr>
          <a:xfrm>
            <a:off x="3610408" y="783138"/>
            <a:ext cx="8294495" cy="4894711"/>
          </a:xfrm>
          <a:prstGeom prst="rect">
            <a:avLst/>
          </a:prstGeom>
          <a:noFill/>
        </p:spPr>
      </p:pic>
      <p:sp>
        <p:nvSpPr>
          <p:cNvPr id="5" name="Date Placeholder 4">
            <a:extLst>
              <a:ext uri="{FF2B5EF4-FFF2-40B4-BE49-F238E27FC236}">
                <a16:creationId xmlns:a16="http://schemas.microsoft.com/office/drawing/2014/main" id="{799C1419-72A5-51EF-2B94-98696153314B}"/>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20" name="Footer Placeholder 5">
            <a:extLst>
              <a:ext uri="{FF2B5EF4-FFF2-40B4-BE49-F238E27FC236}">
                <a16:creationId xmlns:a16="http://schemas.microsoft.com/office/drawing/2014/main" id="{27F9FB1B-4DF0-A1E5-A3E1-71C9471E92EC}"/>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0248C9A2-4C84-31B6-D61D-1ECB97572905}"/>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10</a:t>
            </a:fld>
            <a:endParaRPr lang="en-GB"/>
          </a:p>
        </p:txBody>
      </p:sp>
      <p:sp>
        <p:nvSpPr>
          <p:cNvPr id="4" name="Subtitle 3">
            <a:extLst>
              <a:ext uri="{FF2B5EF4-FFF2-40B4-BE49-F238E27FC236}">
                <a16:creationId xmlns:a16="http://schemas.microsoft.com/office/drawing/2014/main" id="{F04435CA-8A82-C588-329E-0E3423AE84D7}"/>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spTree>
    <p:extLst>
      <p:ext uri="{BB962C8B-B14F-4D97-AF65-F5344CB8AC3E}">
        <p14:creationId xmlns:p14="http://schemas.microsoft.com/office/powerpoint/2010/main" val="4426092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6FD7F-A050-7B8A-A262-E94BFB6F6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CB158-F364-D24C-E707-0D2D79AAE47B}"/>
              </a:ext>
            </a:extLst>
          </p:cNvPr>
          <p:cNvSpPr>
            <a:spLocks noGrp="1"/>
          </p:cNvSpPr>
          <p:nvPr>
            <p:ph type="ctrTitle"/>
          </p:nvPr>
        </p:nvSpPr>
        <p:spPr>
          <a:xfrm>
            <a:off x="327145" y="1708411"/>
            <a:ext cx="10079620" cy="2947686"/>
          </a:xfrm>
        </p:spPr>
        <p:txBody>
          <a:bodyPr/>
          <a:lstStyle/>
          <a:p>
            <a:pPr>
              <a:lnSpc>
                <a:spcPct val="105000"/>
              </a:lnSpc>
              <a:spcBef>
                <a:spcPts val="0"/>
              </a:spcBef>
            </a:pPr>
            <a:r>
              <a:rPr lang="en-US" sz="4400"/>
              <a:t>Section II: Embeddings</a:t>
            </a:r>
            <a:endParaRPr lang="en-US" sz="4400" b="0">
              <a:cs typeface="Arial"/>
            </a:endParaRPr>
          </a:p>
          <a:p>
            <a:pPr>
              <a:lnSpc>
                <a:spcPct val="105000"/>
              </a:lnSpc>
              <a:spcBef>
                <a:spcPts val="0"/>
              </a:spcBef>
            </a:pPr>
            <a:endParaRPr lang="en-US" sz="2000" b="0">
              <a:cs typeface="Arial"/>
            </a:endParaRPr>
          </a:p>
          <a:p>
            <a:pPr>
              <a:lnSpc>
                <a:spcPct val="105000"/>
              </a:lnSpc>
              <a:spcBef>
                <a:spcPts val="0"/>
              </a:spcBef>
            </a:pPr>
            <a:br>
              <a:rPr lang="en-US" sz="2000" b="0"/>
            </a:br>
            <a:br>
              <a:rPr lang="en-US" sz="2000" b="0"/>
            </a:br>
            <a:r>
              <a:rPr lang="en-US" sz="2800" b="0"/>
              <a:t>Are economically meaningful signals </a:t>
            </a:r>
            <a:r>
              <a:rPr lang="en-US" sz="2800" b="0" err="1"/>
              <a:t>embeddeding</a:t>
            </a:r>
            <a:r>
              <a:rPr lang="en-US" sz="2800" b="0"/>
              <a:t> semantic structure, not just word presence?</a:t>
            </a:r>
            <a:endParaRPr lang="en-US" sz="2800" b="0">
              <a:cs typeface="Arial"/>
            </a:endParaRPr>
          </a:p>
        </p:txBody>
      </p:sp>
      <p:sp>
        <p:nvSpPr>
          <p:cNvPr id="5" name="Text Placeholder 4">
            <a:extLst>
              <a:ext uri="{FF2B5EF4-FFF2-40B4-BE49-F238E27FC236}">
                <a16:creationId xmlns:a16="http://schemas.microsoft.com/office/drawing/2014/main" id="{3257F812-A4A3-B3C9-715B-FB70B76A06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05366781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5960E-188D-140F-C373-69BACCB467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D6BC6-AE9D-E67D-570A-49DCFD53988E}"/>
              </a:ext>
            </a:extLst>
          </p:cNvPr>
          <p:cNvSpPr>
            <a:spLocks noGrp="1"/>
          </p:cNvSpPr>
          <p:nvPr>
            <p:ph type="title"/>
          </p:nvPr>
        </p:nvSpPr>
        <p:spPr>
          <a:xfrm>
            <a:off x="326232" y="252000"/>
            <a:ext cx="11541025" cy="378044"/>
          </a:xfrm>
        </p:spPr>
        <p:txBody>
          <a:bodyPr anchor="t">
            <a:normAutofit/>
          </a:bodyPr>
          <a:lstStyle/>
          <a:p>
            <a:r>
              <a:rPr lang="en-US" dirty="0"/>
              <a:t>Transfer Learning (Embeddings)</a:t>
            </a:r>
          </a:p>
        </p:txBody>
      </p:sp>
      <p:sp>
        <p:nvSpPr>
          <p:cNvPr id="3" name="Content Placeholder 2">
            <a:extLst>
              <a:ext uri="{FF2B5EF4-FFF2-40B4-BE49-F238E27FC236}">
                <a16:creationId xmlns:a16="http://schemas.microsoft.com/office/drawing/2014/main" id="{947C87F0-747A-ACB4-B10F-B98EB361F832}"/>
              </a:ext>
            </a:extLst>
          </p:cNvPr>
          <p:cNvSpPr>
            <a:spLocks noGrp="1"/>
          </p:cNvSpPr>
          <p:nvPr>
            <p:ph sz="half" idx="1"/>
          </p:nvPr>
        </p:nvSpPr>
        <p:spPr>
          <a:xfrm>
            <a:off x="326232" y="1394619"/>
            <a:ext cx="5583238" cy="4866481"/>
          </a:xfrm>
        </p:spPr>
        <p:txBody>
          <a:bodyPr>
            <a:normAutofit/>
          </a:bodyPr>
          <a:lstStyle/>
          <a:p>
            <a:pPr>
              <a:lnSpc>
                <a:spcPct val="95000"/>
              </a:lnSpc>
              <a:spcAft>
                <a:spcPts val="600"/>
              </a:spcAft>
            </a:pPr>
            <a:r>
              <a:rPr lang="en-US" sz="1700"/>
              <a:t>Instead of estimating word meaning from scratch:</a:t>
            </a:r>
          </a:p>
          <a:p>
            <a:pPr>
              <a:lnSpc>
                <a:spcPct val="95000"/>
              </a:lnSpc>
              <a:spcAft>
                <a:spcPts val="600"/>
              </a:spcAft>
            </a:pPr>
            <a:r>
              <a:rPr lang="en-US" sz="1700"/>
              <a:t>We use </a:t>
            </a:r>
            <a:r>
              <a:rPr lang="en-US" sz="1700" b="1"/>
              <a:t>pre-trained word embeddings</a:t>
            </a:r>
            <a:r>
              <a:rPr lang="en-US" sz="1700"/>
              <a:t>.</a:t>
            </a:r>
          </a:p>
          <a:p>
            <a:pPr>
              <a:lnSpc>
                <a:spcPct val="95000"/>
              </a:lnSpc>
              <a:spcAft>
                <a:spcPts val="600"/>
              </a:spcAft>
            </a:pPr>
            <a:endParaRPr lang="en-US" sz="1700"/>
          </a:p>
          <a:p>
            <a:pPr>
              <a:lnSpc>
                <a:spcPct val="95000"/>
              </a:lnSpc>
              <a:spcAft>
                <a:spcPts val="600"/>
              </a:spcAft>
            </a:pPr>
            <a:r>
              <a:rPr lang="en-US" sz="1700" b="1"/>
              <a:t>What is Transfer Learning?</a:t>
            </a:r>
          </a:p>
          <a:p>
            <a:pPr marL="342900" indent="-342900">
              <a:lnSpc>
                <a:spcPct val="95000"/>
              </a:lnSpc>
              <a:spcAft>
                <a:spcPts val="600"/>
              </a:spcAft>
              <a:buFont typeface="Arial" panose="020B0604020202020204" pitchFamily="34" charset="0"/>
              <a:buChar char="•"/>
            </a:pPr>
            <a:r>
              <a:rPr lang="en-US" sz="1700"/>
              <a:t>Vectors trained on large external corpora</a:t>
            </a:r>
          </a:p>
          <a:p>
            <a:pPr marL="342900" indent="-342900">
              <a:lnSpc>
                <a:spcPct val="95000"/>
              </a:lnSpc>
              <a:spcAft>
                <a:spcPts val="600"/>
              </a:spcAft>
              <a:buFont typeface="Arial" panose="020B0604020202020204" pitchFamily="34" charset="0"/>
              <a:buChar char="•"/>
            </a:pPr>
            <a:r>
              <a:rPr lang="en-US" sz="1700"/>
              <a:t>Capture semantic similarity</a:t>
            </a:r>
          </a:p>
          <a:p>
            <a:pPr marL="342900" indent="-342900">
              <a:lnSpc>
                <a:spcPct val="95000"/>
              </a:lnSpc>
              <a:spcAft>
                <a:spcPts val="600"/>
              </a:spcAft>
              <a:buFont typeface="Arial" panose="020B0604020202020204" pitchFamily="34" charset="0"/>
              <a:buChar char="•"/>
            </a:pPr>
            <a:r>
              <a:rPr lang="en-US" sz="1700"/>
              <a:t>Project Airbnb descriptions into 300-dim space</a:t>
            </a:r>
          </a:p>
          <a:p>
            <a:pPr>
              <a:lnSpc>
                <a:spcPct val="95000"/>
              </a:lnSpc>
              <a:spcAft>
                <a:spcPts val="600"/>
              </a:spcAft>
            </a:pPr>
            <a:endParaRPr lang="en-US" sz="1700"/>
          </a:p>
          <a:p>
            <a:pPr>
              <a:lnSpc>
                <a:spcPct val="95000"/>
              </a:lnSpc>
              <a:spcAft>
                <a:spcPts val="600"/>
              </a:spcAft>
            </a:pPr>
            <a:r>
              <a:rPr lang="en-US" sz="1700"/>
              <a:t>Embeddings only: </a:t>
            </a:r>
            <a:r>
              <a:rPr lang="en-US" sz="1700" err="1"/>
              <a:t>RMSE_log</a:t>
            </a:r>
            <a:r>
              <a:rPr lang="en-US" sz="1700"/>
              <a:t> = 0.593</a:t>
            </a:r>
          </a:p>
          <a:p>
            <a:pPr>
              <a:lnSpc>
                <a:spcPct val="95000"/>
              </a:lnSpc>
              <a:spcAft>
                <a:spcPts val="600"/>
              </a:spcAft>
            </a:pPr>
            <a:endParaRPr lang="en-US" sz="1700"/>
          </a:p>
          <a:p>
            <a:pPr>
              <a:lnSpc>
                <a:spcPct val="95000"/>
              </a:lnSpc>
              <a:spcAft>
                <a:spcPts val="600"/>
              </a:spcAft>
            </a:pPr>
            <a:r>
              <a:rPr lang="en-US" sz="1700"/>
              <a:t>Embeddings + n-grams: </a:t>
            </a:r>
            <a:r>
              <a:rPr lang="en-US" sz="1700" err="1"/>
              <a:t>RMSE_log</a:t>
            </a:r>
            <a:r>
              <a:rPr lang="en-US" sz="1700"/>
              <a:t> = 0.543</a:t>
            </a:r>
          </a:p>
          <a:p>
            <a:pPr>
              <a:lnSpc>
                <a:spcPct val="95000"/>
              </a:lnSpc>
              <a:spcAft>
                <a:spcPts val="600"/>
              </a:spcAft>
            </a:pPr>
            <a:endParaRPr lang="en-US" sz="1700"/>
          </a:p>
          <a:p>
            <a:pPr>
              <a:lnSpc>
                <a:spcPct val="95000"/>
              </a:lnSpc>
              <a:spcAft>
                <a:spcPts val="600"/>
              </a:spcAft>
            </a:pPr>
            <a:r>
              <a:rPr lang="en-US" sz="1700" b="1"/>
              <a:t>Insight:</a:t>
            </a:r>
          </a:p>
          <a:p>
            <a:pPr>
              <a:lnSpc>
                <a:spcPct val="95000"/>
              </a:lnSpc>
              <a:spcAft>
                <a:spcPts val="600"/>
              </a:spcAft>
            </a:pPr>
            <a:r>
              <a:rPr lang="en-US" sz="1700"/>
              <a:t>Transfer learning improves semantic richness,</a:t>
            </a:r>
            <a:br>
              <a:rPr lang="en-US" sz="1700"/>
            </a:br>
            <a:r>
              <a:rPr lang="en-US" sz="1700"/>
              <a:t>but embeddings alone underperform sparse n-grams.</a:t>
            </a:r>
          </a:p>
          <a:p>
            <a:pPr>
              <a:lnSpc>
                <a:spcPct val="95000"/>
              </a:lnSpc>
              <a:spcAft>
                <a:spcPts val="600"/>
              </a:spcAft>
            </a:pPr>
            <a:endParaRPr lang="en-US" sz="1700"/>
          </a:p>
        </p:txBody>
      </p:sp>
      <p:pic>
        <p:nvPicPr>
          <p:cNvPr id="9" name="Picture 8" descr="A graph showing different types of numbers&#10;&#10;AI-generated content may be incorrect.">
            <a:extLst>
              <a:ext uri="{FF2B5EF4-FFF2-40B4-BE49-F238E27FC236}">
                <a16:creationId xmlns:a16="http://schemas.microsoft.com/office/drawing/2014/main" id="{D05A8615-5D0B-B620-7B4D-9E906EC21D41}"/>
              </a:ext>
            </a:extLst>
          </p:cNvPr>
          <p:cNvPicPr>
            <a:picLocks noChangeAspect="1"/>
          </p:cNvPicPr>
          <p:nvPr/>
        </p:nvPicPr>
        <p:blipFill>
          <a:blip r:embed="rId2">
            <a:extLst>
              <a:ext uri="{28A0092B-C50C-407E-A947-70E740481C1C}">
                <a14:useLocalDpi xmlns:a14="http://schemas.microsoft.com/office/drawing/2010/main" val="0"/>
              </a:ext>
            </a:extLst>
          </a:blip>
          <a:srcRect l="1738" r="-695" b="3747"/>
          <a:stretch>
            <a:fillRect/>
          </a:stretch>
        </p:blipFill>
        <p:spPr>
          <a:xfrm>
            <a:off x="5257915" y="1516914"/>
            <a:ext cx="6605682" cy="3818676"/>
          </a:xfrm>
          <a:prstGeom prst="rect">
            <a:avLst/>
          </a:prstGeom>
          <a:noFill/>
        </p:spPr>
      </p:pic>
      <p:sp>
        <p:nvSpPr>
          <p:cNvPr id="5" name="Date Placeholder 4">
            <a:extLst>
              <a:ext uri="{FF2B5EF4-FFF2-40B4-BE49-F238E27FC236}">
                <a16:creationId xmlns:a16="http://schemas.microsoft.com/office/drawing/2014/main" id="{8CC8F3DB-2432-B8CF-4C6F-1A121E63446A}"/>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22" name="Footer Placeholder 5">
            <a:extLst>
              <a:ext uri="{FF2B5EF4-FFF2-40B4-BE49-F238E27FC236}">
                <a16:creationId xmlns:a16="http://schemas.microsoft.com/office/drawing/2014/main" id="{B09FF990-A8EE-5AEE-6056-82AFF65293CD}"/>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8F33B31B-DCE0-5443-CC05-1C3E5E49B2EB}"/>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12</a:t>
            </a:fld>
            <a:endParaRPr lang="en-GB"/>
          </a:p>
        </p:txBody>
      </p:sp>
      <p:sp>
        <p:nvSpPr>
          <p:cNvPr id="4" name="Subtitle 3">
            <a:extLst>
              <a:ext uri="{FF2B5EF4-FFF2-40B4-BE49-F238E27FC236}">
                <a16:creationId xmlns:a16="http://schemas.microsoft.com/office/drawing/2014/main" id="{39FB71FB-A513-5E45-D795-3B069DF762C9}"/>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spTree>
    <p:extLst>
      <p:ext uri="{BB962C8B-B14F-4D97-AF65-F5344CB8AC3E}">
        <p14:creationId xmlns:p14="http://schemas.microsoft.com/office/powerpoint/2010/main" val="188344677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2EB4-3057-3CC5-C758-1E6E47CE6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69E12-1D97-2A6A-BB53-61CDD5B766B8}"/>
              </a:ext>
            </a:extLst>
          </p:cNvPr>
          <p:cNvSpPr>
            <a:spLocks noGrp="1"/>
          </p:cNvSpPr>
          <p:nvPr>
            <p:ph type="ctrTitle"/>
          </p:nvPr>
        </p:nvSpPr>
        <p:spPr>
          <a:xfrm>
            <a:off x="327145" y="1708411"/>
            <a:ext cx="11237088" cy="2947686"/>
          </a:xfrm>
        </p:spPr>
        <p:txBody>
          <a:bodyPr/>
          <a:lstStyle/>
          <a:p>
            <a:pPr>
              <a:lnSpc>
                <a:spcPct val="105000"/>
              </a:lnSpc>
              <a:spcBef>
                <a:spcPts val="0"/>
              </a:spcBef>
            </a:pPr>
            <a:r>
              <a:rPr lang="en-US" sz="4400"/>
              <a:t>Section III: Structures vs Structured + Text</a:t>
            </a:r>
            <a:endParaRPr lang="en-US" sz="4400" b="0" err="1">
              <a:cs typeface="Arial"/>
            </a:endParaRPr>
          </a:p>
          <a:p>
            <a:pPr>
              <a:lnSpc>
                <a:spcPct val="105000"/>
              </a:lnSpc>
              <a:spcBef>
                <a:spcPts val="0"/>
              </a:spcBef>
            </a:pPr>
            <a:endParaRPr lang="en-US" sz="2000" b="0">
              <a:cs typeface="Arial"/>
            </a:endParaRPr>
          </a:p>
          <a:p>
            <a:pPr>
              <a:lnSpc>
                <a:spcPct val="105000"/>
              </a:lnSpc>
              <a:spcBef>
                <a:spcPts val="0"/>
              </a:spcBef>
            </a:pPr>
            <a:br>
              <a:rPr lang="en-US" sz="2000" b="0"/>
            </a:br>
            <a:br>
              <a:rPr lang="en-US" sz="2000" b="0"/>
            </a:br>
            <a:r>
              <a:rPr lang="en-US" sz="2800" b="0"/>
              <a:t>Does description text provide incremental explanatory power beyond structured housing fundamentals in the hedonic pricing function?</a:t>
            </a:r>
            <a:endParaRPr lang="en-US" sz="2800" b="0">
              <a:cs typeface="Arial"/>
            </a:endParaRPr>
          </a:p>
        </p:txBody>
      </p:sp>
      <p:sp>
        <p:nvSpPr>
          <p:cNvPr id="5" name="Text Placeholder 4">
            <a:extLst>
              <a:ext uri="{FF2B5EF4-FFF2-40B4-BE49-F238E27FC236}">
                <a16:creationId xmlns:a16="http://schemas.microsoft.com/office/drawing/2014/main" id="{CB6A44FF-286C-9868-E4EB-6DF4BF1335C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0286750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00523-E70B-351F-878D-995B5DB56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F3F1B-8A7B-4495-8BC9-7A4534F11DEA}"/>
              </a:ext>
            </a:extLst>
          </p:cNvPr>
          <p:cNvSpPr>
            <a:spLocks noGrp="1"/>
          </p:cNvSpPr>
          <p:nvPr>
            <p:ph type="title"/>
          </p:nvPr>
        </p:nvSpPr>
        <p:spPr>
          <a:xfrm>
            <a:off x="326232" y="252000"/>
            <a:ext cx="11541025" cy="378044"/>
          </a:xfrm>
        </p:spPr>
        <p:txBody>
          <a:bodyPr anchor="t">
            <a:normAutofit/>
          </a:bodyPr>
          <a:lstStyle/>
          <a:p>
            <a:r>
              <a:rPr lang="en-US" dirty="0"/>
              <a:t>Structured Model</a:t>
            </a:r>
          </a:p>
        </p:txBody>
      </p:sp>
      <p:sp>
        <p:nvSpPr>
          <p:cNvPr id="3" name="Content Placeholder 2">
            <a:extLst>
              <a:ext uri="{FF2B5EF4-FFF2-40B4-BE49-F238E27FC236}">
                <a16:creationId xmlns:a16="http://schemas.microsoft.com/office/drawing/2014/main" id="{A4504DBB-2EED-2C34-6727-28348F551429}"/>
              </a:ext>
            </a:extLst>
          </p:cNvPr>
          <p:cNvSpPr>
            <a:spLocks noGrp="1"/>
          </p:cNvSpPr>
          <p:nvPr>
            <p:ph sz="half" idx="1"/>
          </p:nvPr>
        </p:nvSpPr>
        <p:spPr>
          <a:xfrm>
            <a:off x="326232" y="1394619"/>
            <a:ext cx="5583238" cy="4866481"/>
          </a:xfrm>
        </p:spPr>
        <p:txBody>
          <a:bodyPr vert="horz" lIns="0" tIns="0" rIns="0" bIns="0" rtlCol="0" anchor="t">
            <a:normAutofit/>
          </a:bodyPr>
          <a:lstStyle/>
          <a:p>
            <a:pPr>
              <a:spcAft>
                <a:spcPts val="600"/>
              </a:spcAft>
            </a:pPr>
            <a:r>
              <a:rPr lang="en-US" b="1">
                <a:solidFill>
                  <a:schemeClr val="accent1"/>
                </a:solidFill>
              </a:rPr>
              <a:t>Features (Structured Fundamentals):</a:t>
            </a:r>
            <a:endParaRPr lang="en-US" b="1">
              <a:solidFill>
                <a:schemeClr val="accent1"/>
              </a:solidFill>
              <a:cs typeface="Arial"/>
            </a:endParaRPr>
          </a:p>
          <a:p>
            <a:pPr marL="342900" indent="-342900">
              <a:spcAft>
                <a:spcPts val="600"/>
              </a:spcAft>
              <a:buFont typeface="Arial" panose="020B0604020202020204" pitchFamily="34" charset="0"/>
              <a:buChar char="•"/>
            </a:pPr>
            <a:r>
              <a:rPr lang="en-US" dirty="0"/>
              <a:t>Bedrooms</a:t>
            </a:r>
          </a:p>
          <a:p>
            <a:pPr marL="342900" indent="-342900">
              <a:spcAft>
                <a:spcPts val="600"/>
              </a:spcAft>
              <a:buFont typeface="Arial" panose="020B0604020202020204" pitchFamily="34" charset="0"/>
              <a:buChar char="•"/>
            </a:pPr>
            <a:r>
              <a:rPr lang="en-US" dirty="0"/>
              <a:t>Bathrooms</a:t>
            </a:r>
          </a:p>
          <a:p>
            <a:pPr marL="342900" indent="-342900">
              <a:spcAft>
                <a:spcPts val="600"/>
              </a:spcAft>
              <a:buFont typeface="Arial" panose="020B0604020202020204" pitchFamily="34" charset="0"/>
              <a:buChar char="•"/>
            </a:pPr>
            <a:r>
              <a:rPr lang="en-US" dirty="0"/>
              <a:t>Capacity</a:t>
            </a:r>
          </a:p>
          <a:p>
            <a:pPr marL="342900" indent="-342900">
              <a:spcAft>
                <a:spcPts val="600"/>
              </a:spcAft>
              <a:buFont typeface="Arial" panose="020B0604020202020204" pitchFamily="34" charset="0"/>
              <a:buChar char="•"/>
            </a:pPr>
            <a:r>
              <a:rPr lang="en-US" dirty="0"/>
              <a:t>Geographic coordinates</a:t>
            </a:r>
          </a:p>
          <a:p>
            <a:pPr>
              <a:spcAft>
                <a:spcPts val="600"/>
              </a:spcAft>
            </a:pPr>
            <a:endParaRPr lang="en-US" dirty="0"/>
          </a:p>
          <a:p>
            <a:pPr>
              <a:spcAft>
                <a:spcPts val="600"/>
              </a:spcAft>
            </a:pPr>
            <a:r>
              <a:rPr lang="en-US" dirty="0" err="1"/>
              <a:t>RMSE_log</a:t>
            </a:r>
            <a:r>
              <a:rPr lang="en-US" dirty="0"/>
              <a:t> = 0.570</a:t>
            </a:r>
            <a:endParaRPr lang="en-US">
              <a:cs typeface="Arial"/>
            </a:endParaRPr>
          </a:p>
          <a:p>
            <a:pPr>
              <a:spcAft>
                <a:spcPts val="600"/>
              </a:spcAft>
            </a:pPr>
            <a:endParaRPr lang="en-US" dirty="0"/>
          </a:p>
          <a:p>
            <a:pPr>
              <a:spcAft>
                <a:spcPts val="600"/>
              </a:spcAft>
            </a:pPr>
            <a:r>
              <a:rPr lang="en-US" b="1">
                <a:solidFill>
                  <a:schemeClr val="accent1"/>
                </a:solidFill>
              </a:rPr>
              <a:t>Interpretation:</a:t>
            </a:r>
            <a:endParaRPr lang="en-US" b="1">
              <a:solidFill>
                <a:schemeClr val="accent1"/>
              </a:solidFill>
              <a:cs typeface="Arial"/>
            </a:endParaRPr>
          </a:p>
          <a:p>
            <a:pPr>
              <a:spcAft>
                <a:spcPts val="600"/>
              </a:spcAft>
            </a:pPr>
            <a:r>
              <a:rPr lang="en-US" dirty="0"/>
              <a:t>Housing fundamentals explain most variation</a:t>
            </a:r>
            <a:r>
              <a:rPr lang="en-US"/>
              <a:t>.</a:t>
            </a:r>
          </a:p>
          <a:p>
            <a:pPr>
              <a:spcAft>
                <a:spcPts val="600"/>
              </a:spcAft>
            </a:pPr>
            <a:r>
              <a:rPr lang="en-US">
                <a:cs typeface="Arial"/>
              </a:rPr>
              <a:t>Text alone predicts price about as well as structured fundamentals.</a:t>
            </a:r>
          </a:p>
          <a:p>
            <a:pPr>
              <a:spcAft>
                <a:spcPts val="600"/>
              </a:spcAft>
            </a:pPr>
            <a:endParaRPr lang="en-US">
              <a:cs typeface="Arial"/>
            </a:endParaRPr>
          </a:p>
        </p:txBody>
      </p:sp>
      <p:pic>
        <p:nvPicPr>
          <p:cNvPr id="9" name="Picture 8" descr="A graph with a red line&#10;&#10;AI-generated content may be incorrect.">
            <a:extLst>
              <a:ext uri="{FF2B5EF4-FFF2-40B4-BE49-F238E27FC236}">
                <a16:creationId xmlns:a16="http://schemas.microsoft.com/office/drawing/2014/main" id="{AC7C7E2A-CF78-AC66-AC5C-DBA25CEB1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8319" y="1482702"/>
            <a:ext cx="6308244" cy="3784944"/>
          </a:xfrm>
          <a:prstGeom prst="rect">
            <a:avLst/>
          </a:prstGeom>
          <a:noFill/>
        </p:spPr>
      </p:pic>
      <p:sp>
        <p:nvSpPr>
          <p:cNvPr id="5" name="Date Placeholder 4">
            <a:extLst>
              <a:ext uri="{FF2B5EF4-FFF2-40B4-BE49-F238E27FC236}">
                <a16:creationId xmlns:a16="http://schemas.microsoft.com/office/drawing/2014/main" id="{3323149E-98DB-B86F-B845-481A3BF56A51}"/>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4" name="Footer Placeholder 5">
            <a:extLst>
              <a:ext uri="{FF2B5EF4-FFF2-40B4-BE49-F238E27FC236}">
                <a16:creationId xmlns:a16="http://schemas.microsoft.com/office/drawing/2014/main" id="{D4D94935-BFB2-62B4-70F0-BBE2B7AB9ACE}"/>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FA92AFCF-BF66-5876-8F3D-46CD37F86ECC}"/>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14</a:t>
            </a:fld>
            <a:endParaRPr lang="en-GB"/>
          </a:p>
        </p:txBody>
      </p:sp>
      <p:sp>
        <p:nvSpPr>
          <p:cNvPr id="4" name="Subtitle 3">
            <a:extLst>
              <a:ext uri="{FF2B5EF4-FFF2-40B4-BE49-F238E27FC236}">
                <a16:creationId xmlns:a16="http://schemas.microsoft.com/office/drawing/2014/main" id="{586347AE-9FDE-1997-67EF-C80FBC49EF5A}"/>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spTree>
    <p:extLst>
      <p:ext uri="{BB962C8B-B14F-4D97-AF65-F5344CB8AC3E}">
        <p14:creationId xmlns:p14="http://schemas.microsoft.com/office/powerpoint/2010/main" val="231971151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1239-980C-3939-FF2C-42ECD734D40E}"/>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177A1051-0928-B3A4-6A0A-4498D9FA0862}"/>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9" name="Footer Placeholder 2">
            <a:extLst>
              <a:ext uri="{FF2B5EF4-FFF2-40B4-BE49-F238E27FC236}">
                <a16:creationId xmlns:a16="http://schemas.microsoft.com/office/drawing/2014/main" id="{0ECC30B6-87ED-261D-4936-2C0710EA04BA}"/>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298CBD67-6DAE-2E9E-DEB4-08F7E5BD31F0}"/>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15</a:t>
            </a:fld>
            <a:endParaRPr lang="en-GB"/>
          </a:p>
        </p:txBody>
      </p:sp>
      <p:sp>
        <p:nvSpPr>
          <p:cNvPr id="2" name="Title 1">
            <a:extLst>
              <a:ext uri="{FF2B5EF4-FFF2-40B4-BE49-F238E27FC236}">
                <a16:creationId xmlns:a16="http://schemas.microsoft.com/office/drawing/2014/main" id="{30966F66-C68B-370F-9C32-F6E2F911098B}"/>
              </a:ext>
            </a:extLst>
          </p:cNvPr>
          <p:cNvSpPr>
            <a:spLocks noGrp="1"/>
          </p:cNvSpPr>
          <p:nvPr>
            <p:ph type="title"/>
          </p:nvPr>
        </p:nvSpPr>
        <p:spPr>
          <a:xfrm>
            <a:off x="325800" y="252000"/>
            <a:ext cx="5583670" cy="378044"/>
          </a:xfrm>
        </p:spPr>
        <p:txBody>
          <a:bodyPr anchor="t">
            <a:normAutofit/>
          </a:bodyPr>
          <a:lstStyle/>
          <a:p>
            <a:r>
              <a:rPr lang="en-US" dirty="0"/>
              <a:t>Structured + Text (Best Model)</a:t>
            </a:r>
          </a:p>
        </p:txBody>
      </p:sp>
      <p:sp>
        <p:nvSpPr>
          <p:cNvPr id="4" name="Subtitle 3">
            <a:extLst>
              <a:ext uri="{FF2B5EF4-FFF2-40B4-BE49-F238E27FC236}">
                <a16:creationId xmlns:a16="http://schemas.microsoft.com/office/drawing/2014/main" id="{BED34A70-1596-00CF-41D4-02AE92C8EBC6}"/>
              </a:ext>
            </a:extLst>
          </p:cNvPr>
          <p:cNvSpPr>
            <a:spLocks noGrp="1"/>
          </p:cNvSpPr>
          <p:nvPr>
            <p:ph type="subTitle" idx="13"/>
          </p:nvPr>
        </p:nvSpPr>
        <p:spPr>
          <a:xfrm>
            <a:off x="325800" y="620196"/>
            <a:ext cx="5583670" cy="371567"/>
          </a:xfrm>
        </p:spPr>
        <p:txBody>
          <a:bodyPr>
            <a:normAutofit/>
          </a:bodyPr>
          <a:lstStyle/>
          <a:p>
            <a:pPr>
              <a:spcAft>
                <a:spcPts val="600"/>
              </a:spcAft>
            </a:pPr>
            <a:r>
              <a:rPr lang="en-US" dirty="0"/>
              <a:t>Airbnb Pricing</a:t>
            </a:r>
            <a:endParaRPr lang="en-US"/>
          </a:p>
        </p:txBody>
      </p:sp>
      <p:sp>
        <p:nvSpPr>
          <p:cNvPr id="3" name="Content Placeholder 2">
            <a:extLst>
              <a:ext uri="{FF2B5EF4-FFF2-40B4-BE49-F238E27FC236}">
                <a16:creationId xmlns:a16="http://schemas.microsoft.com/office/drawing/2014/main" id="{0565810E-7AAA-BB0B-E388-0EC7764B190F}"/>
              </a:ext>
            </a:extLst>
          </p:cNvPr>
          <p:cNvSpPr>
            <a:spLocks noGrp="1"/>
          </p:cNvSpPr>
          <p:nvPr>
            <p:ph type="body" sz="quarter" idx="16"/>
          </p:nvPr>
        </p:nvSpPr>
        <p:spPr>
          <a:xfrm>
            <a:off x="325800" y="1394619"/>
            <a:ext cx="5583670" cy="4866481"/>
          </a:xfrm>
        </p:spPr>
        <p:txBody>
          <a:bodyPr vert="horz" lIns="0" tIns="0" rIns="0" bIns="0" rtlCol="0" anchor="t">
            <a:normAutofit/>
          </a:bodyPr>
          <a:lstStyle/>
          <a:p>
            <a:pPr>
              <a:spcAft>
                <a:spcPts val="600"/>
              </a:spcAft>
            </a:pPr>
            <a:r>
              <a:rPr lang="en-US" dirty="0"/>
              <a:t>Combined:</a:t>
            </a:r>
            <a:endParaRPr lang="en-US"/>
          </a:p>
          <a:p>
            <a:pPr marL="342900" indent="-342900">
              <a:spcAft>
                <a:spcPts val="600"/>
              </a:spcAft>
              <a:buFont typeface="Arial" panose="020B0604020202020204" pitchFamily="34" charset="0"/>
              <a:buChar char="•"/>
            </a:pPr>
            <a:r>
              <a:rPr lang="en-US" dirty="0"/>
              <a:t>Structured</a:t>
            </a:r>
            <a:endParaRPr lang="en-US"/>
          </a:p>
          <a:p>
            <a:pPr marL="342900" indent="-342900">
              <a:spcAft>
                <a:spcPts val="600"/>
              </a:spcAft>
              <a:buFont typeface="Arial" panose="020B0604020202020204" pitchFamily="34" charset="0"/>
              <a:buChar char="•"/>
            </a:pPr>
            <a:r>
              <a:rPr lang="en-US" dirty="0"/>
              <a:t>Embeddings (transfer learning)</a:t>
            </a:r>
            <a:endParaRPr lang="en-US"/>
          </a:p>
          <a:p>
            <a:pPr marL="342900" indent="-342900">
              <a:spcAft>
                <a:spcPts val="600"/>
              </a:spcAft>
              <a:buFont typeface="Arial" panose="020B0604020202020204" pitchFamily="34" charset="0"/>
              <a:buChar char="•"/>
            </a:pPr>
            <a:r>
              <a:rPr lang="en-US" dirty="0"/>
              <a:t>1:2:3 n-grams</a:t>
            </a:r>
            <a:endParaRPr lang="en-US"/>
          </a:p>
          <a:p>
            <a:pPr marL="342900" indent="-342900">
              <a:spcAft>
                <a:spcPts val="600"/>
              </a:spcAft>
              <a:buFont typeface="Arial" panose="020B0604020202020204" pitchFamily="34" charset="0"/>
              <a:buChar char="•"/>
            </a:pPr>
            <a:endParaRPr lang="en-US"/>
          </a:p>
          <a:p>
            <a:pPr>
              <a:spcAft>
                <a:spcPts val="600"/>
              </a:spcAft>
            </a:pPr>
            <a:r>
              <a:rPr lang="en-US" dirty="0" err="1"/>
              <a:t>RMSE_log</a:t>
            </a:r>
            <a:r>
              <a:rPr lang="en-US" dirty="0"/>
              <a:t> = 0.464</a:t>
            </a:r>
            <a:endParaRPr lang="en-US">
              <a:cs typeface="Arial"/>
            </a:endParaRPr>
          </a:p>
          <a:p>
            <a:pPr>
              <a:spcAft>
                <a:spcPts val="600"/>
              </a:spcAft>
            </a:pPr>
            <a:endParaRPr lang="en-US"/>
          </a:p>
          <a:p>
            <a:pPr>
              <a:spcAft>
                <a:spcPts val="600"/>
              </a:spcAft>
            </a:pPr>
            <a:r>
              <a:rPr lang="en-US" dirty="0"/>
              <a:t>This is the best performing model.</a:t>
            </a:r>
            <a:endParaRPr lang="en-US"/>
          </a:p>
          <a:p>
            <a:pPr>
              <a:spcAft>
                <a:spcPts val="600"/>
              </a:spcAft>
            </a:pPr>
            <a:endParaRPr lang="en-US">
              <a:cs typeface="Arial"/>
            </a:endParaRPr>
          </a:p>
          <a:p>
            <a:pPr>
              <a:spcAft>
                <a:spcPts val="600"/>
              </a:spcAft>
            </a:pPr>
            <a:r>
              <a:rPr lang="en-US" sz="2000" b="1">
                <a:solidFill>
                  <a:schemeClr val="accent1"/>
                </a:solidFill>
                <a:cs typeface="Arial"/>
              </a:rPr>
              <a:t>Interpretation:</a:t>
            </a:r>
            <a:endParaRPr lang="en-US"/>
          </a:p>
          <a:p>
            <a:pPr>
              <a:spcAft>
                <a:spcPts val="600"/>
              </a:spcAft>
            </a:pPr>
            <a:r>
              <a:rPr lang="en-US">
                <a:solidFill>
                  <a:srgbClr val="000000"/>
                </a:solidFill>
                <a:cs typeface="Arial"/>
              </a:rPr>
              <a:t>Both capture different aspects of listing</a:t>
            </a:r>
          </a:p>
          <a:p>
            <a:pPr marL="285750" indent="-285750">
              <a:spcAft>
                <a:spcPts val="600"/>
              </a:spcAft>
              <a:buChar char="•"/>
            </a:pPr>
            <a:r>
              <a:rPr lang="en-US">
                <a:solidFill>
                  <a:srgbClr val="000000"/>
                </a:solidFill>
                <a:cs typeface="Arial"/>
              </a:rPr>
              <a:t>Structured: housing fundamentals</a:t>
            </a:r>
          </a:p>
          <a:p>
            <a:pPr marL="285750" indent="-285750">
              <a:spcAft>
                <a:spcPts val="600"/>
              </a:spcAft>
              <a:buChar char="•"/>
            </a:pPr>
            <a:r>
              <a:rPr lang="en-US">
                <a:solidFill>
                  <a:srgbClr val="000000"/>
                </a:solidFill>
                <a:cs typeface="Arial"/>
              </a:rPr>
              <a:t>Description: additional signals (amenities, prestige)</a:t>
            </a:r>
          </a:p>
        </p:txBody>
      </p:sp>
      <p:pic>
        <p:nvPicPr>
          <p:cNvPr id="9" name="Picture 8" descr="A graph with a dotted line&#10;&#10;AI-generated content may be incorrect.">
            <a:extLst>
              <a:ext uri="{FF2B5EF4-FFF2-40B4-BE49-F238E27FC236}">
                <a16:creationId xmlns:a16="http://schemas.microsoft.com/office/drawing/2014/main" id="{011697CF-F322-719E-71E6-F08EBF43D6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798" y="1220022"/>
            <a:ext cx="7423695" cy="4418021"/>
          </a:xfrm>
          <a:prstGeom prst="rect">
            <a:avLst/>
          </a:prstGeom>
          <a:noFill/>
        </p:spPr>
      </p:pic>
    </p:spTree>
    <p:extLst>
      <p:ext uri="{BB962C8B-B14F-4D97-AF65-F5344CB8AC3E}">
        <p14:creationId xmlns:p14="http://schemas.microsoft.com/office/powerpoint/2010/main" val="230885158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820B8-4386-BAE4-4DDF-93E96C0B6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0C415-1D76-BABC-0CC8-B2F9EF6C6E7C}"/>
              </a:ext>
            </a:extLst>
          </p:cNvPr>
          <p:cNvSpPr>
            <a:spLocks noGrp="1"/>
          </p:cNvSpPr>
          <p:nvPr>
            <p:ph type="title"/>
          </p:nvPr>
        </p:nvSpPr>
        <p:spPr/>
        <p:txBody>
          <a:bodyPr/>
          <a:lstStyle/>
          <a:p>
            <a:r>
              <a:rPr lang="en-US" dirty="0"/>
              <a:t>Model Comparison</a:t>
            </a:r>
          </a:p>
        </p:txBody>
      </p:sp>
      <p:graphicFrame>
        <p:nvGraphicFramePr>
          <p:cNvPr id="10" name="Content Placeholder 9">
            <a:extLst>
              <a:ext uri="{FF2B5EF4-FFF2-40B4-BE49-F238E27FC236}">
                <a16:creationId xmlns:a16="http://schemas.microsoft.com/office/drawing/2014/main" id="{4F197120-9C4F-953E-173E-E56A367C788E}"/>
              </a:ext>
            </a:extLst>
          </p:cNvPr>
          <p:cNvGraphicFramePr>
            <a:graphicFrameLocks noGrp="1"/>
          </p:cNvGraphicFramePr>
          <p:nvPr>
            <p:ph idx="1"/>
            <p:extLst>
              <p:ext uri="{D42A27DB-BD31-4B8C-83A1-F6EECF244321}">
                <p14:modId xmlns:p14="http://schemas.microsoft.com/office/powerpoint/2010/main" val="3395272055"/>
              </p:ext>
            </p:extLst>
          </p:nvPr>
        </p:nvGraphicFramePr>
        <p:xfrm>
          <a:off x="485477" y="1676400"/>
          <a:ext cx="11539538" cy="1676400"/>
        </p:xfrm>
        <a:graphic>
          <a:graphicData uri="http://schemas.openxmlformats.org/drawingml/2006/table">
            <a:tbl>
              <a:tblPr/>
              <a:tblGrid>
                <a:gridCol w="5769769">
                  <a:extLst>
                    <a:ext uri="{9D8B030D-6E8A-4147-A177-3AD203B41FA5}">
                      <a16:colId xmlns:a16="http://schemas.microsoft.com/office/drawing/2014/main" val="840784008"/>
                    </a:ext>
                  </a:extLst>
                </a:gridCol>
                <a:gridCol w="5769769">
                  <a:extLst>
                    <a:ext uri="{9D8B030D-6E8A-4147-A177-3AD203B41FA5}">
                      <a16:colId xmlns:a16="http://schemas.microsoft.com/office/drawing/2014/main" val="1721019889"/>
                    </a:ext>
                  </a:extLst>
                </a:gridCol>
              </a:tblGrid>
              <a:tr h="0">
                <a:tc>
                  <a:txBody>
                    <a:bodyPr/>
                    <a:lstStyle/>
                    <a:p>
                      <a:pPr>
                        <a:buNone/>
                      </a:pPr>
                      <a:r>
                        <a:rPr lang="en-US" dirty="0"/>
                        <a:t>Model</a:t>
                      </a:r>
                    </a:p>
                  </a:txBody>
                  <a:tcPr anchor="ctr">
                    <a:lnL>
                      <a:noFill/>
                    </a:lnL>
                    <a:lnR>
                      <a:noFill/>
                    </a:lnR>
                    <a:lnT>
                      <a:noFill/>
                    </a:lnT>
                    <a:lnB>
                      <a:noFill/>
                    </a:lnB>
                    <a:noFill/>
                  </a:tcPr>
                </a:tc>
                <a:tc>
                  <a:txBody>
                    <a:bodyPr/>
                    <a:lstStyle/>
                    <a:p>
                      <a:pPr>
                        <a:buNone/>
                      </a:pPr>
                      <a:r>
                        <a:rPr lang="en-US"/>
                        <a:t>RMSE_log</a:t>
                      </a:r>
                    </a:p>
                  </a:txBody>
                  <a:tcPr anchor="ctr">
                    <a:lnL>
                      <a:noFill/>
                    </a:lnL>
                    <a:lnR>
                      <a:noFill/>
                    </a:lnR>
                    <a:lnT>
                      <a:noFill/>
                    </a:lnT>
                    <a:lnB>
                      <a:noFill/>
                    </a:lnB>
                    <a:noFill/>
                  </a:tcPr>
                </a:tc>
                <a:extLst>
                  <a:ext uri="{0D108BD9-81ED-4DB2-BD59-A6C34878D82A}">
                    <a16:rowId xmlns:a16="http://schemas.microsoft.com/office/drawing/2014/main" val="3319609666"/>
                  </a:ext>
                </a:extLst>
              </a:tr>
              <a:tr h="0">
                <a:tc>
                  <a:txBody>
                    <a:bodyPr/>
                    <a:lstStyle/>
                    <a:p>
                      <a:pPr>
                        <a:buNone/>
                      </a:pPr>
                      <a:r>
                        <a:rPr lang="en-US"/>
                        <a:t>Structured Only</a:t>
                      </a:r>
                    </a:p>
                  </a:txBody>
                  <a:tcPr anchor="ctr">
                    <a:lnL>
                      <a:noFill/>
                    </a:lnL>
                    <a:lnR>
                      <a:noFill/>
                    </a:lnR>
                    <a:lnT>
                      <a:noFill/>
                    </a:lnT>
                    <a:lnB>
                      <a:noFill/>
                    </a:lnB>
                    <a:noFill/>
                  </a:tcPr>
                </a:tc>
                <a:tc>
                  <a:txBody>
                    <a:bodyPr/>
                    <a:lstStyle/>
                    <a:p>
                      <a:pPr>
                        <a:buNone/>
                      </a:pPr>
                      <a:r>
                        <a:rPr lang="en-TH"/>
                        <a:t>0.570</a:t>
                      </a:r>
                    </a:p>
                  </a:txBody>
                  <a:tcPr anchor="ctr">
                    <a:lnL>
                      <a:noFill/>
                    </a:lnL>
                    <a:lnR>
                      <a:noFill/>
                    </a:lnR>
                    <a:lnT>
                      <a:noFill/>
                    </a:lnT>
                    <a:lnB>
                      <a:noFill/>
                    </a:lnB>
                    <a:noFill/>
                  </a:tcPr>
                </a:tc>
                <a:extLst>
                  <a:ext uri="{0D108BD9-81ED-4DB2-BD59-A6C34878D82A}">
                    <a16:rowId xmlns:a16="http://schemas.microsoft.com/office/drawing/2014/main" val="413346493"/>
                  </a:ext>
                </a:extLst>
              </a:tr>
              <a:tr h="0">
                <a:tc>
                  <a:txBody>
                    <a:bodyPr/>
                    <a:lstStyle/>
                    <a:p>
                      <a:pPr>
                        <a:buNone/>
                      </a:pPr>
                      <a:r>
                        <a:rPr lang="en-US" dirty="0"/>
                        <a:t>Text (1:2:3)</a:t>
                      </a:r>
                    </a:p>
                  </a:txBody>
                  <a:tcPr anchor="ctr">
                    <a:lnL>
                      <a:noFill/>
                    </a:lnL>
                    <a:lnR>
                      <a:noFill/>
                    </a:lnR>
                    <a:lnT>
                      <a:noFill/>
                    </a:lnT>
                    <a:lnB>
                      <a:noFill/>
                    </a:lnB>
                    <a:noFill/>
                  </a:tcPr>
                </a:tc>
                <a:tc>
                  <a:txBody>
                    <a:bodyPr/>
                    <a:lstStyle/>
                    <a:p>
                      <a:pPr>
                        <a:buNone/>
                      </a:pPr>
                      <a:r>
                        <a:rPr lang="en-TH"/>
                        <a:t>0.557</a:t>
                      </a:r>
                    </a:p>
                  </a:txBody>
                  <a:tcPr anchor="ctr">
                    <a:lnL>
                      <a:noFill/>
                    </a:lnL>
                    <a:lnR>
                      <a:noFill/>
                    </a:lnR>
                    <a:lnT>
                      <a:noFill/>
                    </a:lnT>
                    <a:lnB>
                      <a:noFill/>
                    </a:lnB>
                    <a:noFill/>
                  </a:tcPr>
                </a:tc>
                <a:extLst>
                  <a:ext uri="{0D108BD9-81ED-4DB2-BD59-A6C34878D82A}">
                    <a16:rowId xmlns:a16="http://schemas.microsoft.com/office/drawing/2014/main" val="98184910"/>
                  </a:ext>
                </a:extLst>
              </a:tr>
              <a:tr h="0">
                <a:tc>
                  <a:txBody>
                    <a:bodyPr/>
                    <a:lstStyle/>
                    <a:p>
                      <a:pPr>
                        <a:buNone/>
                      </a:pPr>
                      <a:r>
                        <a:rPr lang="en-US"/>
                        <a:t>Embeddings + Text</a:t>
                      </a:r>
                    </a:p>
                  </a:txBody>
                  <a:tcPr anchor="ctr">
                    <a:lnL>
                      <a:noFill/>
                    </a:lnL>
                    <a:lnR>
                      <a:noFill/>
                    </a:lnR>
                    <a:lnT>
                      <a:noFill/>
                    </a:lnT>
                    <a:lnB>
                      <a:noFill/>
                    </a:lnB>
                    <a:noFill/>
                  </a:tcPr>
                </a:tc>
                <a:tc>
                  <a:txBody>
                    <a:bodyPr/>
                    <a:lstStyle/>
                    <a:p>
                      <a:pPr>
                        <a:buNone/>
                      </a:pPr>
                      <a:r>
                        <a:rPr lang="en-TH"/>
                        <a:t>0.543</a:t>
                      </a:r>
                    </a:p>
                  </a:txBody>
                  <a:tcPr anchor="ctr">
                    <a:lnL>
                      <a:noFill/>
                    </a:lnL>
                    <a:lnR>
                      <a:noFill/>
                    </a:lnR>
                    <a:lnT>
                      <a:noFill/>
                    </a:lnT>
                    <a:lnB>
                      <a:noFill/>
                    </a:lnB>
                    <a:noFill/>
                  </a:tcPr>
                </a:tc>
                <a:extLst>
                  <a:ext uri="{0D108BD9-81ED-4DB2-BD59-A6C34878D82A}">
                    <a16:rowId xmlns:a16="http://schemas.microsoft.com/office/drawing/2014/main" val="4265619438"/>
                  </a:ext>
                </a:extLst>
              </a:tr>
              <a:tr h="0">
                <a:tc>
                  <a:txBody>
                    <a:bodyPr/>
                    <a:lstStyle/>
                    <a:p>
                      <a:pPr>
                        <a:buNone/>
                      </a:pPr>
                      <a:r>
                        <a:rPr lang="en-US"/>
                        <a:t>Structured + Text</a:t>
                      </a:r>
                    </a:p>
                  </a:txBody>
                  <a:tcPr anchor="ctr">
                    <a:lnL>
                      <a:noFill/>
                    </a:lnL>
                    <a:lnR>
                      <a:noFill/>
                    </a:lnR>
                    <a:lnT>
                      <a:noFill/>
                    </a:lnT>
                    <a:lnB>
                      <a:noFill/>
                    </a:lnB>
                    <a:noFill/>
                  </a:tcPr>
                </a:tc>
                <a:tc>
                  <a:txBody>
                    <a:bodyPr/>
                    <a:lstStyle/>
                    <a:p>
                      <a:pPr>
                        <a:buNone/>
                      </a:pPr>
                      <a:r>
                        <a:rPr lang="en-TH" b="1" dirty="0"/>
                        <a:t>0.464</a:t>
                      </a:r>
                    </a:p>
                  </a:txBody>
                  <a:tcPr anchor="ctr">
                    <a:lnL>
                      <a:noFill/>
                    </a:lnL>
                    <a:lnR>
                      <a:noFill/>
                    </a:lnR>
                    <a:lnT>
                      <a:noFill/>
                    </a:lnT>
                    <a:lnB>
                      <a:noFill/>
                    </a:lnB>
                    <a:noFill/>
                  </a:tcPr>
                </a:tc>
                <a:extLst>
                  <a:ext uri="{0D108BD9-81ED-4DB2-BD59-A6C34878D82A}">
                    <a16:rowId xmlns:a16="http://schemas.microsoft.com/office/drawing/2014/main" val="2491607752"/>
                  </a:ext>
                </a:extLst>
              </a:tr>
            </a:tbl>
          </a:graphicData>
        </a:graphic>
      </p:graphicFrame>
      <p:sp>
        <p:nvSpPr>
          <p:cNvPr id="5" name="Date Placeholder 4">
            <a:extLst>
              <a:ext uri="{FF2B5EF4-FFF2-40B4-BE49-F238E27FC236}">
                <a16:creationId xmlns:a16="http://schemas.microsoft.com/office/drawing/2014/main" id="{93945EC3-5061-090E-32FF-DBD934A51AAC}"/>
              </a:ext>
            </a:extLst>
          </p:cNvPr>
          <p:cNvSpPr>
            <a:spLocks noGrp="1"/>
          </p:cNvSpPr>
          <p:nvPr>
            <p:ph type="dt" sz="half" idx="10"/>
          </p:nvPr>
        </p:nvSpPr>
        <p:spPr/>
        <p:txBody>
          <a:bodyPr/>
          <a:lstStyle/>
          <a:p>
            <a:r>
              <a:rPr lang="en-US"/>
              <a:t>05/03/2026</a:t>
            </a:r>
            <a:endParaRPr lang="en-GB"/>
          </a:p>
        </p:txBody>
      </p:sp>
      <p:sp>
        <p:nvSpPr>
          <p:cNvPr id="6" name="Footer Placeholder 5">
            <a:extLst>
              <a:ext uri="{FF2B5EF4-FFF2-40B4-BE49-F238E27FC236}">
                <a16:creationId xmlns:a16="http://schemas.microsoft.com/office/drawing/2014/main" id="{9422D005-AD43-74B1-5BF7-6EF4DE451487}"/>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F4CBC15-15D6-4892-B1B1-14CDC3D62B00}"/>
              </a:ext>
            </a:extLst>
          </p:cNvPr>
          <p:cNvSpPr>
            <a:spLocks noGrp="1"/>
          </p:cNvSpPr>
          <p:nvPr>
            <p:ph type="sldNum" sz="quarter" idx="12"/>
          </p:nvPr>
        </p:nvSpPr>
        <p:spPr/>
        <p:txBody>
          <a:bodyPr/>
          <a:lstStyle/>
          <a:p>
            <a:fld id="{CBA53E11-492D-48B3-9F9B-09541CA2A39A}" type="slidenum">
              <a:rPr lang="en-GB" smtClean="0"/>
              <a:pPr/>
              <a:t>16</a:t>
            </a:fld>
            <a:endParaRPr lang="en-GB"/>
          </a:p>
        </p:txBody>
      </p:sp>
      <p:sp>
        <p:nvSpPr>
          <p:cNvPr id="4" name="Subtitle 3">
            <a:extLst>
              <a:ext uri="{FF2B5EF4-FFF2-40B4-BE49-F238E27FC236}">
                <a16:creationId xmlns:a16="http://schemas.microsoft.com/office/drawing/2014/main" id="{7A30FB5A-F73D-2D36-3A2D-31C3BA5636EC}"/>
              </a:ext>
            </a:extLst>
          </p:cNvPr>
          <p:cNvSpPr>
            <a:spLocks noGrp="1"/>
          </p:cNvSpPr>
          <p:nvPr>
            <p:ph type="subTitle" idx="13"/>
          </p:nvPr>
        </p:nvSpPr>
        <p:spPr/>
        <p:txBody>
          <a:bodyPr/>
          <a:lstStyle/>
          <a:p>
            <a:r>
              <a:rPr lang="en-US" dirty="0"/>
              <a:t>Airbnb Pricing</a:t>
            </a:r>
          </a:p>
        </p:txBody>
      </p:sp>
      <p:sp>
        <p:nvSpPr>
          <p:cNvPr id="12" name="TextBox 11">
            <a:extLst>
              <a:ext uri="{FF2B5EF4-FFF2-40B4-BE49-F238E27FC236}">
                <a16:creationId xmlns:a16="http://schemas.microsoft.com/office/drawing/2014/main" id="{DB8F0201-773B-6E70-B3FF-11E9264F3135}"/>
              </a:ext>
            </a:extLst>
          </p:cNvPr>
          <p:cNvSpPr txBox="1"/>
          <p:nvPr/>
        </p:nvSpPr>
        <p:spPr>
          <a:xfrm>
            <a:off x="488493" y="4226516"/>
            <a:ext cx="9798087" cy="1510654"/>
          </a:xfrm>
          <a:prstGeom prst="rect">
            <a:avLst/>
          </a:prstGeom>
          <a:noFill/>
        </p:spPr>
        <p:txBody>
          <a:bodyPr wrap="none" lIns="0" tIns="0" rIns="0" bIns="0" rtlCol="0" anchor="t">
            <a:noAutofit/>
          </a:bodyPr>
          <a:lstStyle/>
          <a:p>
            <a:r>
              <a:rPr lang="en-US" sz="1600" b="1" dirty="0"/>
              <a:t>Key Economic Result</a:t>
            </a:r>
          </a:p>
          <a:p>
            <a:r>
              <a:rPr lang="en-US" sz="1600" dirty="0"/>
              <a:t>Text reduces prediction error substantially when combined with structure.</a:t>
            </a:r>
          </a:p>
          <a:p>
            <a:endParaRPr lang="en-US" sz="1600" b="1">
              <a:cs typeface="Arial"/>
            </a:endParaRPr>
          </a:p>
          <a:p>
            <a:r>
              <a:rPr lang="en-US" sz="1600" b="1"/>
              <a:t>This implies:</a:t>
            </a:r>
            <a:endParaRPr lang="en-US" sz="1600" b="1">
              <a:cs typeface="Arial"/>
            </a:endParaRPr>
          </a:p>
          <a:p>
            <a:r>
              <a:rPr lang="en-US" sz="1600" dirty="0"/>
              <a:t>Descriptions encode incremental economic information.</a:t>
            </a:r>
          </a:p>
          <a:p>
            <a:pPr algn="l">
              <a:lnSpc>
                <a:spcPct val="105000"/>
              </a:lnSpc>
            </a:pPr>
            <a:endParaRPr lang="en-TH" sz="1600" dirty="0">
              <a:solidFill>
                <a:schemeClr val="tx1"/>
              </a:solidFill>
            </a:endParaRPr>
          </a:p>
        </p:txBody>
      </p:sp>
    </p:spTree>
    <p:extLst>
      <p:ext uri="{BB962C8B-B14F-4D97-AF65-F5344CB8AC3E}">
        <p14:creationId xmlns:p14="http://schemas.microsoft.com/office/powerpoint/2010/main" val="1285210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3CD51-BD3E-3F3A-7EB2-5BFED228FF4D}"/>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C78EC43D-6579-D4FD-BC15-B5116514A9AB}"/>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5" name="Footer Placeholder 2">
            <a:extLst>
              <a:ext uri="{FF2B5EF4-FFF2-40B4-BE49-F238E27FC236}">
                <a16:creationId xmlns:a16="http://schemas.microsoft.com/office/drawing/2014/main" id="{4A46838E-6104-746F-2837-CE79C0647509}"/>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BD3F0EDE-E2E1-7133-CF8F-76E5B537E44B}"/>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17</a:t>
            </a:fld>
            <a:endParaRPr lang="en-GB"/>
          </a:p>
        </p:txBody>
      </p:sp>
      <p:sp>
        <p:nvSpPr>
          <p:cNvPr id="2" name="Title 1">
            <a:extLst>
              <a:ext uri="{FF2B5EF4-FFF2-40B4-BE49-F238E27FC236}">
                <a16:creationId xmlns:a16="http://schemas.microsoft.com/office/drawing/2014/main" id="{C2ABB74D-8044-CB01-8F57-062E1DB02015}"/>
              </a:ext>
            </a:extLst>
          </p:cNvPr>
          <p:cNvSpPr>
            <a:spLocks noGrp="1"/>
          </p:cNvSpPr>
          <p:nvPr>
            <p:ph type="title"/>
          </p:nvPr>
        </p:nvSpPr>
        <p:spPr>
          <a:xfrm>
            <a:off x="325800" y="252000"/>
            <a:ext cx="5583670" cy="378044"/>
          </a:xfrm>
        </p:spPr>
        <p:txBody>
          <a:bodyPr anchor="t">
            <a:normAutofit/>
          </a:bodyPr>
          <a:lstStyle/>
          <a:p>
            <a:r>
              <a:rPr lang="en-US" dirty="0"/>
              <a:t>Economic Interpretation</a:t>
            </a:r>
          </a:p>
        </p:txBody>
      </p:sp>
      <p:sp>
        <p:nvSpPr>
          <p:cNvPr id="4" name="Subtitle 3">
            <a:extLst>
              <a:ext uri="{FF2B5EF4-FFF2-40B4-BE49-F238E27FC236}">
                <a16:creationId xmlns:a16="http://schemas.microsoft.com/office/drawing/2014/main" id="{BDF27363-089D-68EB-AC3C-B9ED7BC1234C}"/>
              </a:ext>
            </a:extLst>
          </p:cNvPr>
          <p:cNvSpPr>
            <a:spLocks noGrp="1"/>
          </p:cNvSpPr>
          <p:nvPr>
            <p:ph type="subTitle" idx="13"/>
          </p:nvPr>
        </p:nvSpPr>
        <p:spPr>
          <a:xfrm>
            <a:off x="325800" y="620196"/>
            <a:ext cx="5583670" cy="371567"/>
          </a:xfrm>
        </p:spPr>
        <p:txBody>
          <a:bodyPr>
            <a:normAutofit/>
          </a:bodyPr>
          <a:lstStyle/>
          <a:p>
            <a:pPr>
              <a:spcAft>
                <a:spcPts val="600"/>
              </a:spcAft>
            </a:pPr>
            <a:r>
              <a:rPr lang="en-US" dirty="0"/>
              <a:t>Airbnb Pricing</a:t>
            </a:r>
            <a:endParaRPr lang="en-US"/>
          </a:p>
        </p:txBody>
      </p:sp>
      <p:sp>
        <p:nvSpPr>
          <p:cNvPr id="3" name="Content Placeholder 2">
            <a:extLst>
              <a:ext uri="{FF2B5EF4-FFF2-40B4-BE49-F238E27FC236}">
                <a16:creationId xmlns:a16="http://schemas.microsoft.com/office/drawing/2014/main" id="{22FF9C5C-D0EB-6496-2B15-D5612BCF362F}"/>
              </a:ext>
            </a:extLst>
          </p:cNvPr>
          <p:cNvSpPr>
            <a:spLocks noGrp="1"/>
          </p:cNvSpPr>
          <p:nvPr>
            <p:ph type="body" sz="quarter" idx="16"/>
          </p:nvPr>
        </p:nvSpPr>
        <p:spPr>
          <a:xfrm>
            <a:off x="325800" y="1394619"/>
            <a:ext cx="5583670" cy="4866481"/>
          </a:xfrm>
        </p:spPr>
        <p:txBody>
          <a:bodyPr vert="horz" lIns="0" tIns="0" rIns="0" bIns="0" rtlCol="0" anchor="t">
            <a:normAutofit lnSpcReduction="10000"/>
          </a:bodyPr>
          <a:lstStyle/>
          <a:p>
            <a:pPr>
              <a:lnSpc>
                <a:spcPct val="95000"/>
              </a:lnSpc>
              <a:spcAft>
                <a:spcPts val="600"/>
              </a:spcAft>
            </a:pPr>
            <a:r>
              <a:rPr lang="en-US" sz="1500">
                <a:solidFill>
                  <a:schemeClr val="accent6"/>
                </a:solidFill>
              </a:rPr>
              <a:t>High-price signals:</a:t>
            </a:r>
          </a:p>
          <a:p>
            <a:pPr marL="342900" indent="-342900">
              <a:lnSpc>
                <a:spcPct val="95000"/>
              </a:lnSpc>
              <a:spcAft>
                <a:spcPts val="600"/>
              </a:spcAft>
              <a:buFont typeface="Arial" panose="020B0604020202020204" pitchFamily="34" charset="0"/>
              <a:buChar char="•"/>
            </a:pPr>
            <a:r>
              <a:rPr lang="en-US" sz="1500" dirty="0"/>
              <a:t>luxury</a:t>
            </a:r>
          </a:p>
          <a:p>
            <a:pPr marL="342900" indent="-342900">
              <a:lnSpc>
                <a:spcPct val="95000"/>
              </a:lnSpc>
              <a:spcAft>
                <a:spcPts val="600"/>
              </a:spcAft>
              <a:buFont typeface="Arial" panose="020B0604020202020204" pitchFamily="34" charset="0"/>
              <a:buChar char="•"/>
            </a:pPr>
            <a:r>
              <a:rPr lang="en-US" sz="1500" dirty="0" err="1"/>
              <a:t>harrods</a:t>
            </a:r>
            <a:endParaRPr lang="en-US" sz="1500" dirty="0"/>
          </a:p>
          <a:p>
            <a:pPr marL="342900" indent="-342900">
              <a:lnSpc>
                <a:spcPct val="95000"/>
              </a:lnSpc>
              <a:spcAft>
                <a:spcPts val="600"/>
              </a:spcAft>
              <a:buFont typeface="Arial" panose="020B0604020202020204" pitchFamily="34" charset="0"/>
              <a:buChar char="•"/>
            </a:pPr>
            <a:r>
              <a:rPr lang="en-US" sz="1500" dirty="0"/>
              <a:t>townhouse</a:t>
            </a:r>
          </a:p>
          <a:p>
            <a:pPr marL="342900" indent="-342900">
              <a:lnSpc>
                <a:spcPct val="95000"/>
              </a:lnSpc>
              <a:spcAft>
                <a:spcPts val="600"/>
              </a:spcAft>
              <a:buFont typeface="Arial" panose="020B0604020202020204" pitchFamily="34" charset="0"/>
              <a:buChar char="•"/>
            </a:pPr>
            <a:r>
              <a:rPr lang="en-US" sz="1500" dirty="0"/>
              <a:t>serviced</a:t>
            </a:r>
          </a:p>
          <a:p>
            <a:pPr>
              <a:lnSpc>
                <a:spcPct val="95000"/>
              </a:lnSpc>
              <a:spcAft>
                <a:spcPts val="600"/>
              </a:spcAft>
            </a:pPr>
            <a:r>
              <a:rPr lang="en-US" sz="1500">
                <a:solidFill>
                  <a:srgbClr val="7030A0"/>
                </a:solidFill>
              </a:rPr>
              <a:t>Low-price signals:</a:t>
            </a:r>
            <a:endParaRPr lang="en-US" sz="1500">
              <a:solidFill>
                <a:srgbClr val="7030A0"/>
              </a:solidFill>
              <a:cs typeface="Arial"/>
            </a:endParaRPr>
          </a:p>
          <a:p>
            <a:pPr marL="342900" indent="-342900">
              <a:lnSpc>
                <a:spcPct val="95000"/>
              </a:lnSpc>
              <a:spcAft>
                <a:spcPts val="600"/>
              </a:spcAft>
              <a:buFont typeface="Arial" panose="020B0604020202020204" pitchFamily="34" charset="0"/>
              <a:buChar char="•"/>
            </a:pPr>
            <a:r>
              <a:rPr lang="en-US" sz="1500" dirty="0"/>
              <a:t>shared</a:t>
            </a:r>
          </a:p>
          <a:p>
            <a:pPr marL="342900" indent="-342900">
              <a:lnSpc>
                <a:spcPct val="95000"/>
              </a:lnSpc>
              <a:spcAft>
                <a:spcPts val="600"/>
              </a:spcAft>
              <a:buFont typeface="Arial" panose="020B0604020202020204" pitchFamily="34" charset="0"/>
              <a:buChar char="•"/>
            </a:pPr>
            <a:r>
              <a:rPr lang="en-US" sz="1500" dirty="0" err="1"/>
              <a:t>single_room</a:t>
            </a:r>
            <a:endParaRPr lang="en-US" sz="1500" dirty="0"/>
          </a:p>
          <a:p>
            <a:pPr marL="342900" indent="-342900">
              <a:lnSpc>
                <a:spcPct val="95000"/>
              </a:lnSpc>
              <a:spcAft>
                <a:spcPts val="600"/>
              </a:spcAft>
              <a:buFont typeface="Arial" panose="020B0604020202020204" pitchFamily="34" charset="0"/>
              <a:buChar char="•"/>
            </a:pPr>
            <a:r>
              <a:rPr lang="en-US" sz="1500"/>
              <a:t>Bus</a:t>
            </a:r>
          </a:p>
          <a:p>
            <a:pPr marL="342900" indent="-342900">
              <a:lnSpc>
                <a:spcPct val="95000"/>
              </a:lnSpc>
              <a:spcAft>
                <a:spcPts val="600"/>
              </a:spcAft>
              <a:buFont typeface="Arial" panose="020B0604020202020204" pitchFamily="34" charset="0"/>
              <a:buChar char="•"/>
            </a:pPr>
            <a:endParaRPr lang="en-US" sz="1500">
              <a:cs typeface="Arial"/>
            </a:endParaRPr>
          </a:p>
          <a:p>
            <a:pPr>
              <a:lnSpc>
                <a:spcPct val="95000"/>
              </a:lnSpc>
              <a:spcAft>
                <a:spcPts val="600"/>
              </a:spcAft>
            </a:pPr>
            <a:r>
              <a:rPr lang="en-US" sz="1500" b="1">
                <a:solidFill>
                  <a:schemeClr val="accent1"/>
                </a:solidFill>
              </a:rPr>
              <a:t>Interpretation</a:t>
            </a:r>
            <a:endParaRPr lang="en-US" sz="1500" b="1">
              <a:solidFill>
                <a:schemeClr val="accent1"/>
              </a:solidFill>
              <a:cs typeface="Arial"/>
            </a:endParaRPr>
          </a:p>
          <a:p>
            <a:pPr>
              <a:lnSpc>
                <a:spcPct val="95000"/>
              </a:lnSpc>
              <a:spcAft>
                <a:spcPts val="600"/>
              </a:spcAft>
            </a:pPr>
            <a:r>
              <a:rPr lang="en-US" sz="1000"/>
              <a:t>Text captures:</a:t>
            </a:r>
            <a:endParaRPr lang="en-US" sz="1000">
              <a:cs typeface="Arial"/>
            </a:endParaRPr>
          </a:p>
          <a:p>
            <a:pPr marL="342900" indent="-342900">
              <a:lnSpc>
                <a:spcPct val="95000"/>
              </a:lnSpc>
              <a:spcAft>
                <a:spcPts val="600"/>
              </a:spcAft>
              <a:buFont typeface="Arial" panose="020B0604020202020204" pitchFamily="34" charset="0"/>
              <a:buChar char="•"/>
            </a:pPr>
            <a:r>
              <a:rPr lang="en-US" sz="1500" i="1"/>
              <a:t>Prestige</a:t>
            </a:r>
            <a:endParaRPr lang="en-US" sz="1500" i="1">
              <a:cs typeface="Arial"/>
            </a:endParaRPr>
          </a:p>
          <a:p>
            <a:pPr marL="342900" indent="-342900">
              <a:lnSpc>
                <a:spcPct val="95000"/>
              </a:lnSpc>
              <a:spcAft>
                <a:spcPts val="600"/>
              </a:spcAft>
              <a:buFont typeface="Arial" panose="020B0604020202020204" pitchFamily="34" charset="0"/>
              <a:buChar char="•"/>
            </a:pPr>
            <a:r>
              <a:rPr lang="en-US" sz="1500" i="1"/>
              <a:t>Space</a:t>
            </a:r>
            <a:endParaRPr lang="en-US" sz="1500" i="1">
              <a:cs typeface="Arial"/>
            </a:endParaRPr>
          </a:p>
          <a:p>
            <a:pPr marL="342900" indent="-342900">
              <a:lnSpc>
                <a:spcPct val="95000"/>
              </a:lnSpc>
              <a:spcAft>
                <a:spcPts val="600"/>
              </a:spcAft>
              <a:buFont typeface="Arial" panose="020B0604020202020204" pitchFamily="34" charset="0"/>
              <a:buChar char="•"/>
            </a:pPr>
            <a:r>
              <a:rPr lang="en-US" sz="1500" i="1"/>
              <a:t>Exclusivity</a:t>
            </a:r>
            <a:endParaRPr lang="en-US" sz="1500" i="1">
              <a:cs typeface="Arial"/>
            </a:endParaRPr>
          </a:p>
          <a:p>
            <a:pPr marL="342900" indent="-342900">
              <a:lnSpc>
                <a:spcPct val="95000"/>
              </a:lnSpc>
              <a:spcAft>
                <a:spcPts val="600"/>
              </a:spcAft>
              <a:buFont typeface="Arial" panose="020B0604020202020204" pitchFamily="34" charset="0"/>
              <a:buChar char="•"/>
            </a:pPr>
            <a:r>
              <a:rPr lang="en-US" sz="1500" i="1"/>
              <a:t>Transportation access</a:t>
            </a:r>
            <a:endParaRPr lang="en-US" sz="1500" i="1">
              <a:cs typeface="Arial"/>
            </a:endParaRPr>
          </a:p>
          <a:p>
            <a:pPr marL="342900" indent="-342900">
              <a:lnSpc>
                <a:spcPct val="95000"/>
              </a:lnSpc>
              <a:spcAft>
                <a:spcPts val="600"/>
              </a:spcAft>
              <a:buChar char="•"/>
            </a:pPr>
            <a:endParaRPr lang="en-US" sz="1500" i="1">
              <a:cs typeface="Arial"/>
            </a:endParaRPr>
          </a:p>
          <a:p>
            <a:pPr>
              <a:lnSpc>
                <a:spcPct val="95000"/>
              </a:lnSpc>
              <a:spcAft>
                <a:spcPts val="600"/>
              </a:spcAft>
            </a:pPr>
            <a:r>
              <a:rPr lang="en-US" sz="1500" u="sng"/>
              <a:t>Language reflects economic quality.</a:t>
            </a:r>
            <a:endParaRPr lang="en-US" sz="1500" u="sng">
              <a:cs typeface="Arial"/>
            </a:endParaRPr>
          </a:p>
          <a:p>
            <a:pPr>
              <a:lnSpc>
                <a:spcPct val="95000"/>
              </a:lnSpc>
              <a:spcAft>
                <a:spcPts val="600"/>
              </a:spcAft>
            </a:pPr>
            <a:endParaRPr lang="en-US" sz="1500" dirty="0"/>
          </a:p>
        </p:txBody>
      </p:sp>
      <p:pic>
        <p:nvPicPr>
          <p:cNvPr id="10" name="Picture 9" descr="A graph showing different colored dots&#10;&#10;AI-generated content may be incorrect.">
            <a:extLst>
              <a:ext uri="{FF2B5EF4-FFF2-40B4-BE49-F238E27FC236}">
                <a16:creationId xmlns:a16="http://schemas.microsoft.com/office/drawing/2014/main" id="{734C7269-BFB9-3C93-DDCC-F20E74FA32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9309" y="1207428"/>
            <a:ext cx="7405243" cy="4443143"/>
          </a:xfrm>
          <a:prstGeom prst="rect">
            <a:avLst/>
          </a:prstGeom>
          <a:noFill/>
        </p:spPr>
      </p:pic>
    </p:spTree>
    <p:extLst>
      <p:ext uri="{BB962C8B-B14F-4D97-AF65-F5344CB8AC3E}">
        <p14:creationId xmlns:p14="http://schemas.microsoft.com/office/powerpoint/2010/main" val="25215774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752F-3E4D-5629-88ED-107F7CDD0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61D7A-8DCB-B459-57E4-4CAFE2044C4D}"/>
              </a:ext>
            </a:extLst>
          </p:cNvPr>
          <p:cNvSpPr>
            <a:spLocks noGrp="1"/>
          </p:cNvSpPr>
          <p:nvPr>
            <p:ph type="title"/>
          </p:nvPr>
        </p:nvSpPr>
        <p:spPr>
          <a:xfrm>
            <a:off x="325800" y="252000"/>
            <a:ext cx="11540763" cy="378044"/>
          </a:xfrm>
        </p:spPr>
        <p:txBody>
          <a:bodyPr anchor="t">
            <a:normAutofit/>
          </a:bodyPr>
          <a:lstStyle/>
          <a:p>
            <a:r>
              <a:rPr lang="en-US" dirty="0"/>
              <a:t>Model Evaluation Strategy</a:t>
            </a:r>
          </a:p>
        </p:txBody>
      </p:sp>
      <p:sp>
        <p:nvSpPr>
          <p:cNvPr id="5" name="Date Placeholder 4">
            <a:extLst>
              <a:ext uri="{FF2B5EF4-FFF2-40B4-BE49-F238E27FC236}">
                <a16:creationId xmlns:a16="http://schemas.microsoft.com/office/drawing/2014/main" id="{3CA9A89B-702E-7658-1EF8-44183C257EBC}"/>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47" name="Footer Placeholder 4">
            <a:extLst>
              <a:ext uri="{FF2B5EF4-FFF2-40B4-BE49-F238E27FC236}">
                <a16:creationId xmlns:a16="http://schemas.microsoft.com/office/drawing/2014/main" id="{BA5D37FF-8B4B-3C20-B2AE-9C0D8AD8428C}"/>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576880CB-8F3A-4669-1062-C1884B5A3F2E}"/>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18</a:t>
            </a:fld>
            <a:endParaRPr lang="en-GB"/>
          </a:p>
        </p:txBody>
      </p:sp>
      <p:sp>
        <p:nvSpPr>
          <p:cNvPr id="4" name="Subtitle 3">
            <a:extLst>
              <a:ext uri="{FF2B5EF4-FFF2-40B4-BE49-F238E27FC236}">
                <a16:creationId xmlns:a16="http://schemas.microsoft.com/office/drawing/2014/main" id="{41EAD855-E90B-B82A-8C6C-0383794E75EA}"/>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graphicFrame>
        <p:nvGraphicFramePr>
          <p:cNvPr id="43" name="Content Placeholder 2">
            <a:extLst>
              <a:ext uri="{FF2B5EF4-FFF2-40B4-BE49-F238E27FC236}">
                <a16:creationId xmlns:a16="http://schemas.microsoft.com/office/drawing/2014/main" id="{37D27586-01F0-4F09-3281-B5042981932D}"/>
              </a:ext>
            </a:extLst>
          </p:cNvPr>
          <p:cNvGraphicFramePr>
            <a:graphicFrameLocks noGrp="1"/>
          </p:cNvGraphicFramePr>
          <p:nvPr>
            <p:ph idx="1"/>
            <p:extLst>
              <p:ext uri="{D42A27DB-BD31-4B8C-83A1-F6EECF244321}">
                <p14:modId xmlns:p14="http://schemas.microsoft.com/office/powerpoint/2010/main" val="2401126514"/>
              </p:ext>
            </p:extLst>
          </p:nvPr>
        </p:nvGraphicFramePr>
        <p:xfrm>
          <a:off x="325800" y="1394619"/>
          <a:ext cx="11540763" cy="4866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957621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E6506-FFD9-937C-CB6A-ED96EBD5A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ACF9A-15F7-31E4-714C-E8C7C9ED9F19}"/>
              </a:ext>
            </a:extLst>
          </p:cNvPr>
          <p:cNvSpPr>
            <a:spLocks noGrp="1"/>
          </p:cNvSpPr>
          <p:nvPr>
            <p:ph type="title"/>
          </p:nvPr>
        </p:nvSpPr>
        <p:spPr>
          <a:xfrm>
            <a:off x="326232" y="252000"/>
            <a:ext cx="11541025" cy="378044"/>
          </a:xfrm>
        </p:spPr>
        <p:txBody>
          <a:bodyPr anchor="t">
            <a:normAutofit/>
          </a:bodyPr>
          <a:lstStyle/>
          <a:p>
            <a:r>
              <a:rPr lang="en-US" dirty="0"/>
              <a:t>Boundary Conditions</a:t>
            </a:r>
          </a:p>
        </p:txBody>
      </p:sp>
      <p:sp>
        <p:nvSpPr>
          <p:cNvPr id="5" name="Date Placeholder 4">
            <a:extLst>
              <a:ext uri="{FF2B5EF4-FFF2-40B4-BE49-F238E27FC236}">
                <a16:creationId xmlns:a16="http://schemas.microsoft.com/office/drawing/2014/main" id="{2A5B13A0-CCDE-7F1F-DB62-05D919B330C2}"/>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15" name="Footer Placeholder 5">
            <a:extLst>
              <a:ext uri="{FF2B5EF4-FFF2-40B4-BE49-F238E27FC236}">
                <a16:creationId xmlns:a16="http://schemas.microsoft.com/office/drawing/2014/main" id="{61D748E2-79E2-1C8E-1646-E5DC47F70FDD}"/>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90D88DC3-8677-12E6-8204-A9280C89CD72}"/>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19</a:t>
            </a:fld>
            <a:endParaRPr lang="en-GB"/>
          </a:p>
        </p:txBody>
      </p:sp>
      <p:sp>
        <p:nvSpPr>
          <p:cNvPr id="4" name="Subtitle 3">
            <a:extLst>
              <a:ext uri="{FF2B5EF4-FFF2-40B4-BE49-F238E27FC236}">
                <a16:creationId xmlns:a16="http://schemas.microsoft.com/office/drawing/2014/main" id="{EBB40C32-B24A-5014-6F76-1CF95E0354AA}"/>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graphicFrame>
        <p:nvGraphicFramePr>
          <p:cNvPr id="9" name="Content Placeholder 2">
            <a:extLst>
              <a:ext uri="{FF2B5EF4-FFF2-40B4-BE49-F238E27FC236}">
                <a16:creationId xmlns:a16="http://schemas.microsoft.com/office/drawing/2014/main" id="{6E44504D-4D85-83C7-465B-49BB26E4180B}"/>
              </a:ext>
            </a:extLst>
          </p:cNvPr>
          <p:cNvGraphicFramePr>
            <a:graphicFrameLocks noGrp="1"/>
          </p:cNvGraphicFramePr>
          <p:nvPr>
            <p:ph sz="half" idx="2"/>
            <p:extLst>
              <p:ext uri="{D42A27DB-BD31-4B8C-83A1-F6EECF244321}">
                <p14:modId xmlns:p14="http://schemas.microsoft.com/office/powerpoint/2010/main" val="3864183832"/>
              </p:ext>
            </p:extLst>
          </p:nvPr>
        </p:nvGraphicFramePr>
        <p:xfrm>
          <a:off x="343724" y="1359959"/>
          <a:ext cx="4748394" cy="46541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Slide Number Placeholder 6">
            <a:extLst>
              <a:ext uri="{FF2B5EF4-FFF2-40B4-BE49-F238E27FC236}">
                <a16:creationId xmlns:a16="http://schemas.microsoft.com/office/drawing/2014/main" id="{AF8A6B95-E7F5-9F3F-4BA1-AF3CD976F6EC}"/>
              </a:ext>
            </a:extLst>
          </p:cNvPr>
          <p:cNvSpPr txBox="1">
            <a:spLocks/>
          </p:cNvSpPr>
          <p:nvPr/>
        </p:nvSpPr>
        <p:spPr>
          <a:xfrm>
            <a:off x="8636861" y="6302670"/>
            <a:ext cx="199227" cy="137272"/>
          </a:xfrm>
          <a:prstGeom prst="rect">
            <a:avLst/>
          </a:prstGeom>
        </p:spPr>
        <p:txBody>
          <a:bodyPr vert="horz" lIns="0" tIns="0" rIns="0" bIns="0" rtlCol="0" anchor="b">
            <a:normAutofit/>
          </a:bodyPr>
          <a:lstStyle>
            <a:defPPr>
              <a:defRPr lang="en-US"/>
            </a:defPPr>
            <a:lvl1pPr marL="0" algn="ctr" defTabSz="914353" rtl="0" eaLnBrk="1" latinLnBrk="0" hangingPunct="1">
              <a:defRPr sz="850" b="1" kern="1200">
                <a:solidFill>
                  <a:schemeClr val="accent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a:lstStyle>
          <a:p>
            <a:pPr>
              <a:spcAft>
                <a:spcPts val="600"/>
              </a:spcAft>
            </a:pPr>
            <a:fld id="{CBA53E11-492D-48B3-9F9B-09541CA2A39A}" type="slidenum">
              <a:rPr lang="en-GB" smtClean="0"/>
              <a:pPr>
                <a:spcAft>
                  <a:spcPts val="600"/>
                </a:spcAft>
              </a:pPr>
              <a:t>19</a:t>
            </a:fld>
            <a:endParaRPr lang="en-GB"/>
          </a:p>
        </p:txBody>
      </p:sp>
      <p:graphicFrame>
        <p:nvGraphicFramePr>
          <p:cNvPr id="14" name="Content Placeholder 2">
            <a:extLst>
              <a:ext uri="{FF2B5EF4-FFF2-40B4-BE49-F238E27FC236}">
                <a16:creationId xmlns:a16="http://schemas.microsoft.com/office/drawing/2014/main" id="{B7191155-8D02-0451-6AB3-C4FDBF0DD5C3}"/>
              </a:ext>
            </a:extLst>
          </p:cNvPr>
          <p:cNvGraphicFramePr>
            <a:graphicFrameLocks noGrp="1"/>
          </p:cNvGraphicFramePr>
          <p:nvPr>
            <p:ph sz="half" idx="1"/>
            <p:extLst>
              <p:ext uri="{D42A27DB-BD31-4B8C-83A1-F6EECF244321}">
                <p14:modId xmlns:p14="http://schemas.microsoft.com/office/powerpoint/2010/main" val="3217032075"/>
              </p:ext>
            </p:extLst>
          </p:nvPr>
        </p:nvGraphicFramePr>
        <p:xfrm>
          <a:off x="6255245" y="1303587"/>
          <a:ext cx="5593031" cy="486648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4411830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A3058-28B5-0680-2B94-33E9BE485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8E897-46AD-CA64-E63C-7254BBB8ABA7}"/>
              </a:ext>
            </a:extLst>
          </p:cNvPr>
          <p:cNvSpPr>
            <a:spLocks noGrp="1"/>
          </p:cNvSpPr>
          <p:nvPr>
            <p:ph type="title"/>
          </p:nvPr>
        </p:nvSpPr>
        <p:spPr>
          <a:xfrm>
            <a:off x="325800" y="252000"/>
            <a:ext cx="11540763" cy="378044"/>
          </a:xfrm>
        </p:spPr>
        <p:txBody>
          <a:bodyPr anchor="t">
            <a:normAutofit/>
          </a:bodyPr>
          <a:lstStyle/>
          <a:p>
            <a:r>
              <a:rPr lang="en-US" dirty="0"/>
              <a:t>Conclusion</a:t>
            </a:r>
          </a:p>
        </p:txBody>
      </p:sp>
      <p:sp>
        <p:nvSpPr>
          <p:cNvPr id="5" name="Date Placeholder 4">
            <a:extLst>
              <a:ext uri="{FF2B5EF4-FFF2-40B4-BE49-F238E27FC236}">
                <a16:creationId xmlns:a16="http://schemas.microsoft.com/office/drawing/2014/main" id="{95E4A1E0-74C3-99C7-AA4C-3FB77D21E146}"/>
              </a:ext>
            </a:extLst>
          </p:cNvPr>
          <p:cNvSpPr>
            <a:spLocks noGrp="1"/>
          </p:cNvSpPr>
          <p:nvPr>
            <p:ph type="dt" sz="half" idx="10"/>
          </p:nvPr>
        </p:nvSpPr>
        <p:spPr>
          <a:xfrm>
            <a:off x="10641349" y="6393702"/>
            <a:ext cx="1233647" cy="137270"/>
          </a:xfrm>
        </p:spPr>
        <p:txBody>
          <a:bodyPr anchor="b">
            <a:normAutofit/>
          </a:bodyPr>
          <a:lstStyle/>
          <a:p>
            <a:pPr>
              <a:spcAft>
                <a:spcPts val="600"/>
              </a:spcAft>
            </a:pPr>
            <a:r>
              <a:rPr lang="en-US"/>
              <a:t>05/03/2026</a:t>
            </a:r>
            <a:endParaRPr lang="en-GB"/>
          </a:p>
        </p:txBody>
      </p:sp>
      <p:sp>
        <p:nvSpPr>
          <p:cNvPr id="40" name="Footer Placeholder 4">
            <a:extLst>
              <a:ext uri="{FF2B5EF4-FFF2-40B4-BE49-F238E27FC236}">
                <a16:creationId xmlns:a16="http://schemas.microsoft.com/office/drawing/2014/main" id="{8C400808-F7AB-D012-E9AE-E8E0DE1D5DC8}"/>
              </a:ext>
            </a:extLst>
          </p:cNvPr>
          <p:cNvSpPr>
            <a:spLocks noGrp="1"/>
          </p:cNvSpPr>
          <p:nvPr>
            <p:ph type="ftr" sz="quarter" idx="11"/>
          </p:nvPr>
        </p:nvSpPr>
        <p:spPr>
          <a:xfrm>
            <a:off x="1965261" y="6393702"/>
            <a:ext cx="3423452" cy="137272"/>
          </a:xfrm>
        </p:spPr>
        <p:txBody>
          <a:bodyPr/>
          <a:lstStyle/>
          <a:p>
            <a:endParaRPr lang="en-GB"/>
          </a:p>
        </p:txBody>
      </p:sp>
      <p:sp>
        <p:nvSpPr>
          <p:cNvPr id="7" name="Slide Number Placeholder 6">
            <a:extLst>
              <a:ext uri="{FF2B5EF4-FFF2-40B4-BE49-F238E27FC236}">
                <a16:creationId xmlns:a16="http://schemas.microsoft.com/office/drawing/2014/main" id="{EAAFD2CA-FF3A-E0CC-8C15-7E2FC27797CF}"/>
              </a:ext>
            </a:extLst>
          </p:cNvPr>
          <p:cNvSpPr>
            <a:spLocks noGrp="1"/>
          </p:cNvSpPr>
          <p:nvPr>
            <p:ph type="sldNum" sz="quarter" idx="12"/>
          </p:nvPr>
        </p:nvSpPr>
        <p:spPr>
          <a:xfrm>
            <a:off x="5936755" y="6393702"/>
            <a:ext cx="318491" cy="137272"/>
          </a:xfrm>
        </p:spPr>
        <p:txBody>
          <a:bodyPr anchor="b">
            <a:normAutofit/>
          </a:bodyPr>
          <a:lstStyle/>
          <a:p>
            <a:pPr>
              <a:spcAft>
                <a:spcPts val="600"/>
              </a:spcAft>
            </a:pPr>
            <a:fld id="{CBA53E11-492D-48B3-9F9B-09541CA2A39A}" type="slidenum">
              <a:rPr lang="en-GB" smtClean="0"/>
              <a:pPr>
                <a:spcAft>
                  <a:spcPts val="600"/>
                </a:spcAft>
              </a:pPr>
              <a:t>20</a:t>
            </a:fld>
            <a:endParaRPr lang="en-GB"/>
          </a:p>
        </p:txBody>
      </p:sp>
      <p:sp>
        <p:nvSpPr>
          <p:cNvPr id="4" name="Subtitle 3">
            <a:extLst>
              <a:ext uri="{FF2B5EF4-FFF2-40B4-BE49-F238E27FC236}">
                <a16:creationId xmlns:a16="http://schemas.microsoft.com/office/drawing/2014/main" id="{56FDA3D1-E4DE-805F-CA9A-7F6A70D38196}"/>
              </a:ext>
            </a:extLst>
          </p:cNvPr>
          <p:cNvSpPr>
            <a:spLocks noGrp="1"/>
          </p:cNvSpPr>
          <p:nvPr>
            <p:ph type="subTitle" idx="13"/>
          </p:nvPr>
        </p:nvSpPr>
        <p:spPr>
          <a:xfrm>
            <a:off x="325800" y="620196"/>
            <a:ext cx="11540763" cy="371567"/>
          </a:xfrm>
        </p:spPr>
        <p:txBody>
          <a:bodyPr>
            <a:normAutofit/>
          </a:bodyPr>
          <a:lstStyle/>
          <a:p>
            <a:pPr>
              <a:spcAft>
                <a:spcPts val="600"/>
              </a:spcAft>
            </a:pPr>
            <a:r>
              <a:rPr lang="en-US" dirty="0"/>
              <a:t>Airbnb Pricing</a:t>
            </a:r>
            <a:endParaRPr lang="en-US"/>
          </a:p>
        </p:txBody>
      </p:sp>
      <p:graphicFrame>
        <p:nvGraphicFramePr>
          <p:cNvPr id="29" name="Content Placeholder 2">
            <a:extLst>
              <a:ext uri="{FF2B5EF4-FFF2-40B4-BE49-F238E27FC236}">
                <a16:creationId xmlns:a16="http://schemas.microsoft.com/office/drawing/2014/main" id="{0B04976B-C44B-BDBB-54DF-DAC646CD5678}"/>
              </a:ext>
            </a:extLst>
          </p:cNvPr>
          <p:cNvGraphicFramePr>
            <a:graphicFrameLocks noGrp="1"/>
          </p:cNvGraphicFramePr>
          <p:nvPr>
            <p:ph idx="1"/>
            <p:extLst>
              <p:ext uri="{D42A27DB-BD31-4B8C-83A1-F6EECF244321}">
                <p14:modId xmlns:p14="http://schemas.microsoft.com/office/powerpoint/2010/main" val="2638368331"/>
              </p:ext>
            </p:extLst>
          </p:nvPr>
        </p:nvGraphicFramePr>
        <p:xfrm>
          <a:off x="325800" y="1394619"/>
          <a:ext cx="11540763" cy="4866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210185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92A0-DAFD-2CE4-F5BD-315A0135CDD6}"/>
              </a:ext>
            </a:extLst>
          </p:cNvPr>
          <p:cNvSpPr>
            <a:spLocks noGrp="1"/>
          </p:cNvSpPr>
          <p:nvPr>
            <p:ph type="ctrTitle"/>
          </p:nvPr>
        </p:nvSpPr>
        <p:spPr>
          <a:xfrm>
            <a:off x="317500" y="3338513"/>
            <a:ext cx="9144000" cy="1828800"/>
          </a:xfrm>
        </p:spPr>
        <p:txBody>
          <a:bodyPr/>
          <a:lstStyle/>
          <a:p>
            <a:r>
              <a:rPr lang="en-US" dirty="0"/>
              <a:t>Thank you</a:t>
            </a:r>
          </a:p>
        </p:txBody>
      </p:sp>
      <p:sp>
        <p:nvSpPr>
          <p:cNvPr id="3" name="Text Placeholder 2">
            <a:extLst>
              <a:ext uri="{FF2B5EF4-FFF2-40B4-BE49-F238E27FC236}">
                <a16:creationId xmlns:a16="http://schemas.microsoft.com/office/drawing/2014/main" id="{0B6972F5-B010-8428-D0AA-F619C83E71DE}"/>
              </a:ext>
            </a:extLst>
          </p:cNvPr>
          <p:cNvSpPr>
            <a:spLocks noGrp="1"/>
          </p:cNvSpPr>
          <p:nvPr>
            <p:ph type="body" sz="quarter" idx="10"/>
          </p:nvPr>
        </p:nvSpPr>
        <p:spPr>
          <a:xfrm>
            <a:off x="330200" y="5878513"/>
            <a:ext cx="5606257" cy="652463"/>
          </a:xfrm>
        </p:spPr>
        <p:txBody>
          <a:bodyPr/>
          <a:lstStyle/>
          <a:p>
            <a:r>
              <a:rPr lang="en-US"/>
              <a:t>Air BnB Price Prediction  In London</a:t>
            </a:r>
            <a:endParaRPr lang="en-US" dirty="0"/>
          </a:p>
          <a:p>
            <a:r>
              <a:rPr lang="en-US"/>
              <a:t>04/03/2026</a:t>
            </a:r>
            <a:endParaRPr lang="en-US">
              <a:cs typeface="Arial"/>
            </a:endParaRPr>
          </a:p>
        </p:txBody>
      </p:sp>
    </p:spTree>
    <p:extLst>
      <p:ext uri="{BB962C8B-B14F-4D97-AF65-F5344CB8AC3E}">
        <p14:creationId xmlns:p14="http://schemas.microsoft.com/office/powerpoint/2010/main" val="2287451629"/>
      </p:ext>
    </p:extLst>
  </p:cSld>
  <p:clrMapOvr>
    <a:masterClrMapping/>
  </p:clrMapOvr>
  <p:transition>
    <p:fade/>
  </p:transition>
</p:sld>
</file>

<file path=ppt/theme/theme1.xml><?xml version="1.0" encoding="utf-8"?>
<a:theme xmlns:a="http://schemas.openxmlformats.org/drawingml/2006/main" name="ICL PPT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College Standard Font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Arial_Imperial_PowerPoint_16_9_simplified template_with_instrucs" id="{E2003566-CB3B-AF4B-AC63-3C69992DFC2C}" vid="{F435D263-C53D-E44B-AFB4-0237A8A90C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04BBFDCE9C65C45B257CD4C89E0CC4C" ma:contentTypeVersion="3" ma:contentTypeDescription="Create a new document." ma:contentTypeScope="" ma:versionID="024eea61a99e276f29bb4de829abc010">
  <xsd:schema xmlns:xsd="http://www.w3.org/2001/XMLSchema" xmlns:xs="http://www.w3.org/2001/XMLSchema" xmlns:p="http://schemas.microsoft.com/office/2006/metadata/properties" xmlns:ns2="58ccc919-a085-4c55-a8d0-fc57436857d8" targetNamespace="http://schemas.microsoft.com/office/2006/metadata/properties" ma:root="true" ma:fieldsID="6c52aa458bad14d68220b81cc9789cb2" ns2:_="">
    <xsd:import namespace="58ccc919-a085-4c55-a8d0-fc57436857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cc919-a085-4c55-a8d0-fc5743685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7BB4C6-127E-40DB-83D0-BAD626190316}">
  <ds:schemaRefs>
    <ds:schemaRef ds:uri="http://schemas.microsoft.com/office/2006/metadata/properties"/>
    <ds:schemaRef ds:uri="58ccc919-a085-4c55-a8d0-fc57436857d8"/>
    <ds:schemaRef ds:uri="http://purl.org/dc/elements/1.1/"/>
    <ds:schemaRef ds:uri="http://purl.org/dc/dcmitype/"/>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BCC2720-3352-404F-8526-0437378EE581}">
  <ds:schemaRefs>
    <ds:schemaRef ds:uri="http://schemas.microsoft.com/sharepoint/v3/contenttype/forms"/>
  </ds:schemaRefs>
</ds:datastoreItem>
</file>

<file path=customXml/itemProps3.xml><?xml version="1.0" encoding="utf-8"?>
<ds:datastoreItem xmlns:ds="http://schemas.openxmlformats.org/officeDocument/2006/customXml" ds:itemID="{415F9C85-2A2E-4CCB-A15B-A8CB00AEF0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cc919-a085-4c55-a8d0-fc5743685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ICL PPT Theme</Template>
  <TotalTime>2942</TotalTime>
  <Words>870</Words>
  <Application>Microsoft Macintosh PowerPoint</Application>
  <PresentationFormat>Widescreen</PresentationFormat>
  <Paragraphs>252</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Inter Medium</vt:lpstr>
      <vt:lpstr>Arial</vt:lpstr>
      <vt:lpstr>Calibri</vt:lpstr>
      <vt:lpstr>ICL PPT Theme</vt:lpstr>
      <vt:lpstr>Airbnb Price Prediction in London</vt:lpstr>
      <vt:lpstr>Motivation</vt:lpstr>
      <vt:lpstr>Population &amp; Quantity of Interest</vt:lpstr>
      <vt:lpstr>Economics: Hedonic Pricing Framework</vt:lpstr>
      <vt:lpstr>Data Overview</vt:lpstr>
      <vt:lpstr>Methods</vt:lpstr>
      <vt:lpstr>Benchmark Models</vt:lpstr>
      <vt:lpstr>Section I: Title vs. Description    Which linguistic object better captures latent characteristics?</vt:lpstr>
      <vt:lpstr>Title Models</vt:lpstr>
      <vt:lpstr>Description n-Grams</vt:lpstr>
      <vt:lpstr>Section II: Embeddings    Are economically meaningful signals embeddeding semantic structure, not just word presence?</vt:lpstr>
      <vt:lpstr>Transfer Learning (Embeddings)</vt:lpstr>
      <vt:lpstr>Section III: Structures vs Structured + Text    Does description text provide incremental explanatory power beyond structured housing fundamentals in the hedonic pricing function?</vt:lpstr>
      <vt:lpstr>Structured Model</vt:lpstr>
      <vt:lpstr>Structured + Text (Best Model)</vt:lpstr>
      <vt:lpstr>Model Comparison</vt:lpstr>
      <vt:lpstr>Economic Interpretation</vt:lpstr>
      <vt:lpstr>Model Evaluation Strategy</vt:lpstr>
      <vt:lpstr>Boundary Conditions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Choksitthikasam, Tawin P</dc:creator>
  <cp:lastModifiedBy>Choksitthikasam, Tawin P</cp:lastModifiedBy>
  <cp:revision>2</cp:revision>
  <dcterms:created xsi:type="dcterms:W3CDTF">2026-03-02T12:38:02Z</dcterms:created>
  <dcterms:modified xsi:type="dcterms:W3CDTF">2026-03-04T13:40:46Z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0x010100A04BBFDCE9C65C45B257CD4C89E0CC4C</vt:lpwstr>
  </property>
</Properties>
</file>